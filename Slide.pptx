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8288000" cy="10287000"/>
  <p:notesSz cx="6858000" cy="9144000"/>
  <p:embeddedFontLst>
    <p:embeddedFont>
      <p:font typeface="Anton" pitchFamily="2" charset="0"/>
      <p:regular r:id="rId37"/>
    </p:embeddedFont>
    <p:embeddedFont>
      <p:font typeface="Muli Light" panose="020B0604020202020204" charset="0"/>
      <p:regular r:id="rId38"/>
    </p:embeddedFont>
    <p:embeddedFont>
      <p:font typeface="Poppins" panose="00000500000000000000" pitchFamily="2" charset="0"/>
      <p:regular r:id="rId39"/>
    </p:embeddedFont>
    <p:embeddedFont>
      <p:font typeface="Poppins Bold" panose="00000800000000000000" charset="0"/>
      <p:regular r:id="rId40"/>
    </p:embeddedFont>
    <p:embeddedFont>
      <p:font typeface="Poppins Bold Italics" panose="020B0604020202020204" charset="0"/>
      <p:regular r:id="rId41"/>
    </p:embeddedFont>
    <p:embeddedFont>
      <p:font typeface="Poppins Italics" panose="020B0604020202020204" charset="0"/>
      <p:regular r:id="rId42"/>
    </p:embeddedFont>
    <p:embeddedFont>
      <p:font typeface="Poppins Light" panose="00000400000000000000" pitchFamily="2" charset="0"/>
      <p:regular r:id="rId43"/>
    </p:embeddedFont>
    <p:embeddedFont>
      <p:font typeface="Poppins Ultra-Bold" panose="020B0604020202020204" charset="0"/>
      <p:regular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0" d="100"/>
          <a:sy n="70" d="100"/>
        </p:scale>
        <p:origin x="774"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28.07.2025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Chào thầy/cô và các bạn đã đến với buổi bảo vệ luận văn hôm nay. Em xin được giới thiệu đề tài luận văn của mình với tiêu đề là Đánh giá tác động dữ liệu tin tức vào mô hình dự đoán xu hướng chứng khoán. Sau đây, em xin phép trình bày nội dung chi tiết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Ở phần mở đầu này, chúng ta sẽ cùng tìm hiểu khái quát về thị trường chứng khoán – nơi diễn ra hoạt động mua bán các loại cổ phiếu, trái phiếu và các công cụ tài chính khác. Đây là một thị trường có tính cạnh tranh cao và chịu ảnh hưởng bởi nhiều yếu tố từ nền kinh tế vĩ mô đến tin tức hàng ngày.</a:t>
            </a:r>
          </a:p>
          <a:p>
            <a:endParaRPr lang="en-US"/>
          </a:p>
          <a:p>
            <a:r>
              <a:rPr lang="en-US"/>
              <a:t>Một chiến lược ngày càng phổ biến trong thị trường hiện đại là giao dịch dựa trên tin tức (news-based trading). Các nhà đầu tư và trader thường tận dụng thông tin thời sự – như báo cáo tài chính, tin tức kinh tế, chính trị hay phát ngôn của lãnh đạo doanh nghiệp – để đưa ra quyết định giao dịch nhanh chóng.</a:t>
            </a:r>
          </a:p>
          <a:p>
            <a:endParaRPr lang="en-US"/>
          </a:p>
          <a:p>
            <a:r>
              <a:rPr lang="en-US"/>
              <a:t>Chiến lược này đòi hỏi khả năng phản ứng nhanh và phân tích thông tin chính xác, nhưng cũng mang lại nhiều cơ hội lợi nhuận nếu được áp dụng đúng cách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Thị </a:t>
            </a:r>
            <a:r>
              <a:rPr lang="en-US" dirty="0" err="1"/>
              <a:t>trường</a:t>
            </a:r>
            <a:r>
              <a:rPr lang="en-US" dirty="0"/>
              <a:t> </a:t>
            </a:r>
            <a:r>
              <a:rPr lang="en-US" dirty="0" err="1"/>
              <a:t>tài</a:t>
            </a:r>
            <a:r>
              <a:rPr lang="en-US" dirty="0"/>
              <a:t> </a:t>
            </a:r>
            <a:r>
              <a:rPr lang="en-US" dirty="0" err="1"/>
              <a:t>chính</a:t>
            </a:r>
            <a:r>
              <a:rPr lang="en-US" dirty="0"/>
              <a:t> </a:t>
            </a:r>
            <a:r>
              <a:rPr lang="en-US" dirty="0" err="1"/>
              <a:t>không</a:t>
            </a:r>
            <a:r>
              <a:rPr lang="en-US" dirty="0"/>
              <a:t> </a:t>
            </a:r>
            <a:r>
              <a:rPr lang="en-US" dirty="0" err="1"/>
              <a:t>chỉ</a:t>
            </a:r>
            <a:r>
              <a:rPr lang="en-US" dirty="0"/>
              <a:t> </a:t>
            </a:r>
            <a:r>
              <a:rPr lang="en-US" dirty="0" err="1"/>
              <a:t>bị</a:t>
            </a:r>
            <a:r>
              <a:rPr lang="en-US" dirty="0"/>
              <a:t> chi </a:t>
            </a:r>
            <a:r>
              <a:rPr lang="en-US" dirty="0" err="1"/>
              <a:t>phối</a:t>
            </a:r>
            <a:r>
              <a:rPr lang="en-US" dirty="0"/>
              <a:t> </a:t>
            </a:r>
            <a:r>
              <a:rPr lang="en-US" dirty="0" err="1"/>
              <a:t>bởi</a:t>
            </a:r>
            <a:r>
              <a:rPr lang="en-US" dirty="0"/>
              <a:t> </a:t>
            </a:r>
            <a:r>
              <a:rPr lang="en-US" dirty="0" err="1"/>
              <a:t>các</a:t>
            </a:r>
            <a:r>
              <a:rPr lang="en-US" dirty="0"/>
              <a:t> xu </a:t>
            </a:r>
            <a:r>
              <a:rPr lang="en-US" dirty="0" err="1"/>
              <a:t>hướng</a:t>
            </a:r>
            <a:r>
              <a:rPr lang="en-US" dirty="0"/>
              <a:t> </a:t>
            </a:r>
            <a:r>
              <a:rPr lang="en-US" dirty="0" err="1"/>
              <a:t>số</a:t>
            </a:r>
            <a:r>
              <a:rPr lang="en-US" dirty="0"/>
              <a:t>; </a:t>
            </a:r>
            <a:r>
              <a:rPr lang="en-US" dirty="0" err="1"/>
              <a:t>chúng</a:t>
            </a:r>
            <a:r>
              <a:rPr lang="en-US" dirty="0"/>
              <a:t> </a:t>
            </a:r>
            <a:r>
              <a:rPr lang="en-US" dirty="0" err="1"/>
              <a:t>còn</a:t>
            </a:r>
            <a:r>
              <a:rPr lang="en-US" dirty="0"/>
              <a:t> </a:t>
            </a:r>
            <a:r>
              <a:rPr lang="en-US" dirty="0" err="1"/>
              <a:t>rất</a:t>
            </a:r>
            <a:r>
              <a:rPr lang="en-US" dirty="0"/>
              <a:t> </a:t>
            </a:r>
            <a:r>
              <a:rPr lang="en-US" dirty="0" err="1"/>
              <a:t>nhạy</a:t>
            </a:r>
            <a:r>
              <a:rPr lang="en-US" dirty="0"/>
              <a:t> </a:t>
            </a:r>
            <a:r>
              <a:rPr lang="en-US" dirty="0" err="1"/>
              <a:t>cảm</a:t>
            </a:r>
            <a:r>
              <a:rPr lang="en-US" dirty="0"/>
              <a:t> </a:t>
            </a:r>
            <a:r>
              <a:rPr lang="en-US" dirty="0" err="1"/>
              <a:t>với</a:t>
            </a:r>
            <a:r>
              <a:rPr lang="en-US" dirty="0"/>
              <a:t> </a:t>
            </a:r>
            <a:r>
              <a:rPr lang="en-US" dirty="0" err="1"/>
              <a:t>thông</a:t>
            </a:r>
            <a:r>
              <a:rPr lang="en-US" dirty="0"/>
              <a:t> tin </a:t>
            </a:r>
            <a:r>
              <a:rPr lang="en-US" dirty="0" err="1"/>
              <a:t>và</a:t>
            </a:r>
            <a:r>
              <a:rPr lang="en-US" dirty="0"/>
              <a:t> </a:t>
            </a:r>
            <a:r>
              <a:rPr lang="en-US" dirty="0" err="1"/>
              <a:t>tâm</a:t>
            </a:r>
            <a:r>
              <a:rPr lang="en-US" dirty="0"/>
              <a:t> </a:t>
            </a:r>
            <a:r>
              <a:rPr lang="en-US" dirty="0" err="1"/>
              <a:t>lý</a:t>
            </a:r>
            <a:r>
              <a:rPr lang="en-US" dirty="0"/>
              <a:t> </a:t>
            </a:r>
            <a:r>
              <a:rPr lang="en-US" dirty="0" err="1"/>
              <a:t>thị</a:t>
            </a:r>
            <a:r>
              <a:rPr lang="en-US" dirty="0"/>
              <a:t> </a:t>
            </a:r>
            <a:r>
              <a:rPr lang="en-US" dirty="0" err="1"/>
              <a:t>trường</a:t>
            </a:r>
            <a:r>
              <a:rPr lang="en-US" dirty="0"/>
              <a:t>. Do </a:t>
            </a:r>
            <a:r>
              <a:rPr lang="en-US" dirty="0" err="1"/>
              <a:t>đó</a:t>
            </a:r>
            <a:r>
              <a:rPr lang="en-US" dirty="0"/>
              <a:t> </a:t>
            </a:r>
            <a:r>
              <a:rPr lang="en-US" dirty="0" err="1"/>
              <a:t>việc</a:t>
            </a:r>
            <a:r>
              <a:rPr lang="en-US" dirty="0"/>
              <a:t> </a:t>
            </a:r>
            <a:r>
              <a:rPr lang="en-US" dirty="0" err="1"/>
              <a:t>nghiên</a:t>
            </a:r>
            <a:r>
              <a:rPr lang="en-US" dirty="0"/>
              <a:t> </a:t>
            </a:r>
            <a:r>
              <a:rPr lang="en-US" dirty="0" err="1"/>
              <a:t>cứu</a:t>
            </a:r>
            <a:r>
              <a:rPr lang="en-US" dirty="0"/>
              <a:t> </a:t>
            </a:r>
            <a:r>
              <a:rPr lang="en-US" dirty="0" err="1"/>
              <a:t>được</a:t>
            </a:r>
            <a:r>
              <a:rPr lang="en-US" dirty="0"/>
              <a:t> </a:t>
            </a:r>
            <a:r>
              <a:rPr lang="en-US" dirty="0" err="1"/>
              <a:t>tầm</a:t>
            </a:r>
            <a:r>
              <a:rPr lang="en-US" dirty="0"/>
              <a:t> </a:t>
            </a:r>
            <a:r>
              <a:rPr lang="en-US" dirty="0" err="1"/>
              <a:t>ảnh</a:t>
            </a:r>
            <a:r>
              <a:rPr lang="en-US" dirty="0"/>
              <a:t> </a:t>
            </a:r>
            <a:r>
              <a:rPr lang="en-US" dirty="0" err="1"/>
              <a:t>hưởng</a:t>
            </a:r>
            <a:r>
              <a:rPr lang="en-US" dirty="0"/>
              <a:t> </a:t>
            </a:r>
            <a:r>
              <a:rPr lang="en-US" dirty="0" err="1"/>
              <a:t>của</a:t>
            </a:r>
            <a:r>
              <a:rPr lang="en-US" dirty="0"/>
              <a:t> tin </a:t>
            </a:r>
            <a:r>
              <a:rPr lang="en-US" dirty="0" err="1"/>
              <a:t>tức</a:t>
            </a:r>
            <a:r>
              <a:rPr lang="en-US" dirty="0"/>
              <a:t> </a:t>
            </a:r>
            <a:r>
              <a:rPr lang="en-US" dirty="0" err="1"/>
              <a:t>đến</a:t>
            </a:r>
            <a:r>
              <a:rPr lang="en-US" dirty="0"/>
              <a:t> </a:t>
            </a:r>
            <a:r>
              <a:rPr lang="en-US" dirty="0" err="1"/>
              <a:t>việc</a:t>
            </a:r>
            <a:r>
              <a:rPr lang="en-US" dirty="0"/>
              <a:t> </a:t>
            </a:r>
            <a:r>
              <a:rPr lang="en-US" dirty="0" err="1"/>
              <a:t>dự</a:t>
            </a:r>
            <a:r>
              <a:rPr lang="en-US" dirty="0"/>
              <a:t> </a:t>
            </a:r>
            <a:r>
              <a:rPr lang="en-US" dirty="0" err="1"/>
              <a:t>đoán</a:t>
            </a:r>
            <a:r>
              <a:rPr lang="en-US" dirty="0"/>
              <a:t> </a:t>
            </a:r>
            <a:r>
              <a:rPr lang="en-US" dirty="0" err="1"/>
              <a:t>chứng</a:t>
            </a:r>
            <a:r>
              <a:rPr lang="en-US" dirty="0"/>
              <a:t> </a:t>
            </a:r>
            <a:r>
              <a:rPr lang="en-US" dirty="0" err="1"/>
              <a:t>khoán</a:t>
            </a:r>
            <a:r>
              <a:rPr lang="en-US" dirty="0"/>
              <a:t> </a:t>
            </a:r>
            <a:r>
              <a:rPr lang="en-US" dirty="0" err="1"/>
              <a:t>là</a:t>
            </a:r>
            <a:r>
              <a:rPr lang="en-US" dirty="0"/>
              <a:t> </a:t>
            </a:r>
            <a:r>
              <a:rPr lang="en-US" dirty="0" err="1"/>
              <a:t>động</a:t>
            </a:r>
            <a:r>
              <a:rPr lang="en-US" dirty="0"/>
              <a:t> </a:t>
            </a:r>
            <a:r>
              <a:rPr lang="en-US" dirty="0" err="1"/>
              <a:t>lực</a:t>
            </a:r>
            <a:r>
              <a:rPr lang="en-US" dirty="0"/>
              <a:t> </a:t>
            </a:r>
            <a:r>
              <a:rPr lang="en-US" dirty="0" err="1"/>
              <a:t>chính</a:t>
            </a:r>
            <a:r>
              <a:rPr lang="en-US" dirty="0"/>
              <a:t> </a:t>
            </a:r>
            <a:r>
              <a:rPr lang="en-US" dirty="0" err="1"/>
              <a:t>giúp</a:t>
            </a:r>
            <a:r>
              <a:rPr lang="en-US" dirty="0"/>
              <a:t> </a:t>
            </a:r>
            <a:r>
              <a:rPr lang="en-US" dirty="0" err="1"/>
              <a:t>em</a:t>
            </a:r>
            <a:r>
              <a:rPr lang="en-US" dirty="0"/>
              <a:t> </a:t>
            </a:r>
            <a:r>
              <a:rPr lang="en-US" dirty="0" err="1"/>
              <a:t>thực</a:t>
            </a:r>
            <a:r>
              <a:rPr lang="en-US" dirty="0"/>
              <a:t> </a:t>
            </a:r>
            <a:r>
              <a:rPr lang="en-US" dirty="0" err="1"/>
              <a:t>hiện</a:t>
            </a:r>
            <a:r>
              <a:rPr lang="en-US" dirty="0"/>
              <a:t> </a:t>
            </a:r>
            <a:r>
              <a:rPr lang="en-US" dirty="0" err="1"/>
              <a:t>luận</a:t>
            </a:r>
            <a:r>
              <a:rPr lang="en-US" dirty="0"/>
              <a:t> </a:t>
            </a:r>
            <a:r>
              <a:rPr lang="en-US" dirty="0" err="1"/>
              <a:t>văn</a:t>
            </a:r>
            <a:r>
              <a:rPr lang="en-US" dirty="0"/>
              <a:t> </a:t>
            </a:r>
            <a:r>
              <a:rPr lang="en-US" dirty="0" err="1"/>
              <a:t>này</a:t>
            </a:r>
            <a:r>
              <a:rPr lang="en-US" dirty="0"/>
              <a:t>.</a:t>
            </a:r>
          </a:p>
          <a:p>
            <a:endParaRPr lang="en-US" dirty="0"/>
          </a:p>
          <a:p>
            <a:r>
              <a:rPr lang="en-US" dirty="0"/>
              <a:t>Các </a:t>
            </a:r>
            <a:r>
              <a:rPr lang="en-US" dirty="0" err="1"/>
              <a:t>mô</a:t>
            </a:r>
            <a:r>
              <a:rPr lang="en-US" dirty="0"/>
              <a:t> </a:t>
            </a:r>
            <a:r>
              <a:rPr lang="en-US" dirty="0" err="1"/>
              <a:t>hình</a:t>
            </a:r>
            <a:r>
              <a:rPr lang="en-US" dirty="0"/>
              <a:t> </a:t>
            </a:r>
            <a:r>
              <a:rPr lang="en-US" dirty="0" err="1"/>
              <a:t>chuỗi</a:t>
            </a:r>
            <a:r>
              <a:rPr lang="en-US" dirty="0"/>
              <a:t> </a:t>
            </a:r>
            <a:r>
              <a:rPr lang="en-US" dirty="0" err="1"/>
              <a:t>thời</a:t>
            </a:r>
            <a:r>
              <a:rPr lang="en-US" dirty="0"/>
              <a:t> </a:t>
            </a:r>
            <a:r>
              <a:rPr lang="en-US" dirty="0" err="1"/>
              <a:t>gian</a:t>
            </a:r>
            <a:r>
              <a:rPr lang="en-US" dirty="0"/>
              <a:t> </a:t>
            </a:r>
            <a:r>
              <a:rPr lang="en-US" dirty="0" err="1"/>
              <a:t>truyền</a:t>
            </a:r>
            <a:r>
              <a:rPr lang="en-US" dirty="0"/>
              <a:t> </a:t>
            </a:r>
            <a:r>
              <a:rPr lang="en-US" dirty="0" err="1"/>
              <a:t>thống</a:t>
            </a:r>
            <a:r>
              <a:rPr lang="en-US" dirty="0"/>
              <a:t> </a:t>
            </a:r>
            <a:r>
              <a:rPr lang="en-US" dirty="0" err="1"/>
              <a:t>như</a:t>
            </a:r>
            <a:r>
              <a:rPr lang="en-US" dirty="0"/>
              <a:t> ARIMA </a:t>
            </a:r>
            <a:r>
              <a:rPr lang="en-US" dirty="0" err="1"/>
              <a:t>chủ</a:t>
            </a:r>
            <a:r>
              <a:rPr lang="en-US" dirty="0"/>
              <a:t> </a:t>
            </a:r>
            <a:r>
              <a:rPr lang="en-US" dirty="0" err="1"/>
              <a:t>yếu</a:t>
            </a:r>
            <a:r>
              <a:rPr lang="en-US" dirty="0"/>
              <a:t> </a:t>
            </a:r>
            <a:r>
              <a:rPr lang="en-US" dirty="0" err="1"/>
              <a:t>tập</a:t>
            </a:r>
            <a:r>
              <a:rPr lang="en-US" dirty="0"/>
              <a:t> </a:t>
            </a:r>
            <a:r>
              <a:rPr lang="en-US" dirty="0" err="1"/>
              <a:t>trung</a:t>
            </a:r>
            <a:r>
              <a:rPr lang="en-US" dirty="0"/>
              <a:t> </a:t>
            </a:r>
            <a:r>
              <a:rPr lang="en-US" dirty="0" err="1"/>
              <a:t>vào</a:t>
            </a:r>
            <a:r>
              <a:rPr lang="en-US" dirty="0"/>
              <a:t> </a:t>
            </a:r>
            <a:r>
              <a:rPr lang="en-US" dirty="0" err="1"/>
              <a:t>dữ</a:t>
            </a:r>
            <a:r>
              <a:rPr lang="en-US" dirty="0"/>
              <a:t> </a:t>
            </a:r>
            <a:r>
              <a:rPr lang="en-US" dirty="0" err="1"/>
              <a:t>liệu</a:t>
            </a:r>
            <a:r>
              <a:rPr lang="en-US" dirty="0"/>
              <a:t> </a:t>
            </a:r>
            <a:r>
              <a:rPr lang="en-US" dirty="0" err="1"/>
              <a:t>giá</a:t>
            </a:r>
            <a:r>
              <a:rPr lang="en-US" dirty="0"/>
              <a:t> </a:t>
            </a:r>
            <a:r>
              <a:rPr lang="en-US" dirty="0" err="1"/>
              <a:t>lịch</a:t>
            </a:r>
            <a:r>
              <a:rPr lang="en-US" dirty="0"/>
              <a:t> </a:t>
            </a:r>
            <a:r>
              <a:rPr lang="en-US" dirty="0" err="1"/>
              <a:t>sử</a:t>
            </a:r>
            <a:r>
              <a:rPr lang="en-US" dirty="0"/>
              <a:t>, </a:t>
            </a:r>
            <a:r>
              <a:rPr lang="en-US" dirty="0" err="1"/>
              <a:t>bỏ</a:t>
            </a:r>
            <a:r>
              <a:rPr lang="en-US" dirty="0"/>
              <a:t> qua </a:t>
            </a:r>
            <a:r>
              <a:rPr lang="en-US" dirty="0" err="1"/>
              <a:t>các</a:t>
            </a:r>
            <a:r>
              <a:rPr lang="en-US" dirty="0"/>
              <a:t> </a:t>
            </a:r>
            <a:r>
              <a:rPr lang="en-US" dirty="0" err="1"/>
              <a:t>biến</a:t>
            </a:r>
            <a:r>
              <a:rPr lang="en-US" dirty="0"/>
              <a:t> </a:t>
            </a:r>
            <a:r>
              <a:rPr lang="en-US" dirty="0" err="1"/>
              <a:t>ngoại</a:t>
            </a:r>
            <a:r>
              <a:rPr lang="en-US" dirty="0"/>
              <a:t> </a:t>
            </a:r>
            <a:r>
              <a:rPr lang="en-US" dirty="0" err="1"/>
              <a:t>sinh</a:t>
            </a:r>
            <a:r>
              <a:rPr lang="en-US" dirty="0"/>
              <a:t> </a:t>
            </a:r>
            <a:r>
              <a:rPr lang="en-US" dirty="0" err="1"/>
              <a:t>như</a:t>
            </a:r>
            <a:r>
              <a:rPr lang="en-US" dirty="0"/>
              <a:t> tin </a:t>
            </a:r>
            <a:r>
              <a:rPr lang="en-US" dirty="0" err="1"/>
              <a:t>tức</a:t>
            </a:r>
            <a:r>
              <a:rPr lang="en-US" dirty="0"/>
              <a:t> </a:t>
            </a:r>
            <a:r>
              <a:rPr lang="en-US" dirty="0" err="1"/>
              <a:t>nóng</a:t>
            </a:r>
            <a:r>
              <a:rPr lang="en-US" dirty="0"/>
              <a:t> </a:t>
            </a:r>
            <a:r>
              <a:rPr lang="en-US" dirty="0" err="1"/>
              <a:t>hổi</a:t>
            </a:r>
            <a:r>
              <a:rPr lang="en-US" dirty="0"/>
              <a:t> </a:t>
            </a:r>
            <a:r>
              <a:rPr lang="en-US" dirty="0" err="1"/>
              <a:t>hoặc</a:t>
            </a:r>
            <a:r>
              <a:rPr lang="en-US" dirty="0"/>
              <a:t> </a:t>
            </a:r>
            <a:r>
              <a:rPr lang="en-US" dirty="0" err="1"/>
              <a:t>thông</a:t>
            </a:r>
            <a:r>
              <a:rPr lang="en-US" dirty="0"/>
              <a:t> </a:t>
            </a:r>
            <a:r>
              <a:rPr lang="en-US" dirty="0" err="1"/>
              <a:t>báo</a:t>
            </a:r>
            <a:r>
              <a:rPr lang="en-US" dirty="0"/>
              <a:t> </a:t>
            </a:r>
            <a:r>
              <a:rPr lang="en-US" dirty="0" err="1"/>
              <a:t>chính</a:t>
            </a:r>
            <a:r>
              <a:rPr lang="en-US" dirty="0"/>
              <a:t> </a:t>
            </a:r>
            <a:r>
              <a:rPr lang="en-US" dirty="0" err="1"/>
              <a:t>sách</a:t>
            </a:r>
            <a:r>
              <a:rPr lang="en-US" dirty="0"/>
              <a:t>. Tuy </a:t>
            </a:r>
            <a:r>
              <a:rPr lang="en-US" dirty="0" err="1"/>
              <a:t>nhiên</a:t>
            </a:r>
            <a:r>
              <a:rPr lang="en-US" dirty="0"/>
              <a:t>, </a:t>
            </a:r>
            <a:r>
              <a:rPr lang="en-US" dirty="0" err="1"/>
              <a:t>những</a:t>
            </a:r>
            <a:r>
              <a:rPr lang="en-US" dirty="0"/>
              <a:t> </a:t>
            </a:r>
            <a:r>
              <a:rPr lang="en-US" dirty="0" err="1"/>
              <a:t>sự</a:t>
            </a:r>
            <a:r>
              <a:rPr lang="en-US" dirty="0"/>
              <a:t> </a:t>
            </a:r>
            <a:r>
              <a:rPr lang="en-US" dirty="0" err="1"/>
              <a:t>kiện</a:t>
            </a:r>
            <a:r>
              <a:rPr lang="en-US" dirty="0"/>
              <a:t> tin </a:t>
            </a:r>
            <a:r>
              <a:rPr lang="en-US" dirty="0" err="1"/>
              <a:t>tức</a:t>
            </a:r>
            <a:r>
              <a:rPr lang="en-US" dirty="0"/>
              <a:t> </a:t>
            </a:r>
            <a:r>
              <a:rPr lang="en-US" dirty="0" err="1"/>
              <a:t>này</a:t>
            </a:r>
            <a:r>
              <a:rPr lang="en-US" dirty="0"/>
              <a:t> </a:t>
            </a:r>
            <a:r>
              <a:rPr lang="en-US" dirty="0" err="1"/>
              <a:t>thường</a:t>
            </a:r>
            <a:r>
              <a:rPr lang="en-US" dirty="0"/>
              <a:t> </a:t>
            </a:r>
            <a:r>
              <a:rPr lang="en-US" dirty="0" err="1"/>
              <a:t>diễn</a:t>
            </a:r>
            <a:r>
              <a:rPr lang="en-US" dirty="0"/>
              <a:t> </a:t>
            </a:r>
            <a:r>
              <a:rPr lang="en-US" dirty="0" err="1"/>
              <a:t>ra</a:t>
            </a:r>
            <a:r>
              <a:rPr lang="en-US" dirty="0"/>
              <a:t> </a:t>
            </a:r>
            <a:r>
              <a:rPr lang="en-US" dirty="0" err="1"/>
              <a:t>trước</a:t>
            </a:r>
            <a:r>
              <a:rPr lang="en-US" dirty="0"/>
              <a:t> </a:t>
            </a:r>
            <a:r>
              <a:rPr lang="en-US" dirty="0" err="1"/>
              <a:t>và</a:t>
            </a:r>
            <a:r>
              <a:rPr lang="en-US" dirty="0"/>
              <a:t> </a:t>
            </a:r>
            <a:r>
              <a:rPr lang="en-US" dirty="0" err="1"/>
              <a:t>ảnh</a:t>
            </a:r>
            <a:r>
              <a:rPr lang="en-US" dirty="0"/>
              <a:t> </a:t>
            </a:r>
            <a:r>
              <a:rPr lang="en-US" dirty="0" err="1"/>
              <a:t>hưởng</a:t>
            </a:r>
            <a:r>
              <a:rPr lang="en-US" dirty="0"/>
              <a:t> </a:t>
            </a:r>
            <a:r>
              <a:rPr lang="en-US" dirty="0" err="1"/>
              <a:t>đến</a:t>
            </a:r>
            <a:r>
              <a:rPr lang="en-US" dirty="0"/>
              <a:t> </a:t>
            </a:r>
            <a:r>
              <a:rPr lang="en-US" dirty="0" err="1"/>
              <a:t>biến</a:t>
            </a:r>
            <a:r>
              <a:rPr lang="en-US" dirty="0"/>
              <a:t> </a:t>
            </a:r>
            <a:r>
              <a:rPr lang="en-US" dirty="0" err="1"/>
              <a:t>động</a:t>
            </a:r>
            <a:r>
              <a:rPr lang="en-US" dirty="0"/>
              <a:t> </a:t>
            </a:r>
            <a:r>
              <a:rPr lang="en-US" dirty="0" err="1"/>
              <a:t>giá</a:t>
            </a:r>
            <a:r>
              <a:rPr lang="en-US" dirty="0"/>
              <a:t> </a:t>
            </a:r>
            <a:r>
              <a:rPr lang="en-US" dirty="0" err="1"/>
              <a:t>cổ</a:t>
            </a:r>
            <a:r>
              <a:rPr lang="en-US" dirty="0"/>
              <a:t> </a:t>
            </a:r>
            <a:r>
              <a:rPr lang="en-US" dirty="0" err="1"/>
              <a:t>phiếu</a:t>
            </a:r>
            <a:r>
              <a:rPr lang="en-US" dirty="0"/>
              <a:t>, </a:t>
            </a:r>
            <a:r>
              <a:rPr lang="en-US" dirty="0" err="1"/>
              <a:t>tạo</a:t>
            </a:r>
            <a:r>
              <a:rPr lang="en-US" dirty="0"/>
              <a:t> </a:t>
            </a:r>
            <a:r>
              <a:rPr lang="en-US" dirty="0" err="1"/>
              <a:t>ra</a:t>
            </a:r>
            <a:r>
              <a:rPr lang="en-US" dirty="0"/>
              <a:t> </a:t>
            </a:r>
            <a:r>
              <a:rPr lang="en-US" dirty="0" err="1"/>
              <a:t>những</a:t>
            </a:r>
            <a:r>
              <a:rPr lang="en-US" dirty="0"/>
              <a:t> </a:t>
            </a:r>
            <a:r>
              <a:rPr lang="en-US" dirty="0" err="1"/>
              <a:t>biến</a:t>
            </a:r>
            <a:r>
              <a:rPr lang="en-US" dirty="0"/>
              <a:t> </a:t>
            </a:r>
            <a:r>
              <a:rPr lang="en-US" dirty="0" err="1"/>
              <a:t>động</a:t>
            </a:r>
            <a:r>
              <a:rPr lang="en-US" dirty="0"/>
              <a:t> </a:t>
            </a:r>
            <a:r>
              <a:rPr lang="en-US" dirty="0" err="1"/>
              <a:t>mà</a:t>
            </a:r>
            <a:r>
              <a:rPr lang="en-US" dirty="0"/>
              <a:t> </a:t>
            </a:r>
            <a:r>
              <a:rPr lang="en-US" dirty="0" err="1"/>
              <a:t>các</a:t>
            </a:r>
            <a:r>
              <a:rPr lang="en-US" dirty="0"/>
              <a:t> </a:t>
            </a:r>
            <a:r>
              <a:rPr lang="en-US" dirty="0" err="1"/>
              <a:t>mô</a:t>
            </a:r>
            <a:r>
              <a:rPr lang="en-US" dirty="0"/>
              <a:t> </a:t>
            </a:r>
            <a:r>
              <a:rPr lang="en-US" dirty="0" err="1"/>
              <a:t>hình</a:t>
            </a:r>
            <a:r>
              <a:rPr lang="en-US" dirty="0"/>
              <a:t> </a:t>
            </a:r>
            <a:r>
              <a:rPr lang="en-US" dirty="0" err="1"/>
              <a:t>này</a:t>
            </a:r>
            <a:r>
              <a:rPr lang="en-US" dirty="0"/>
              <a:t> </a:t>
            </a:r>
            <a:r>
              <a:rPr lang="en-US" dirty="0" err="1"/>
              <a:t>không</a:t>
            </a:r>
            <a:r>
              <a:rPr lang="en-US" dirty="0"/>
              <a:t> </a:t>
            </a:r>
            <a:r>
              <a:rPr lang="en-US" dirty="0" err="1"/>
              <a:t>thể</a:t>
            </a:r>
            <a:r>
              <a:rPr lang="en-US" dirty="0"/>
              <a:t> </a:t>
            </a:r>
            <a:r>
              <a:rPr lang="en-US" dirty="0" err="1"/>
              <a:t>lường</a:t>
            </a:r>
            <a:r>
              <a:rPr lang="en-US" dirty="0"/>
              <a:t> </a:t>
            </a:r>
            <a:r>
              <a:rPr lang="en-US" dirty="0" err="1"/>
              <a:t>trước</a:t>
            </a:r>
            <a:r>
              <a:rPr lang="en-US" dirty="0"/>
              <a:t> </a:t>
            </a:r>
            <a:r>
              <a:rPr lang="en-US" dirty="0" err="1"/>
              <a:t>được</a:t>
            </a:r>
            <a:r>
              <a:rPr lang="en-US" dirty="0"/>
              <a:t>.</a:t>
            </a:r>
          </a:p>
          <a:p>
            <a:endParaRPr lang="en-US" dirty="0"/>
          </a:p>
          <a:p>
            <a:r>
              <a:rPr lang="en-US" dirty="0" err="1"/>
              <a:t>Với</a:t>
            </a:r>
            <a:r>
              <a:rPr lang="en-US" dirty="0"/>
              <a:t> </a:t>
            </a:r>
            <a:r>
              <a:rPr lang="en-US" dirty="0" err="1"/>
              <a:t>sự</a:t>
            </a:r>
            <a:r>
              <a:rPr lang="en-US" dirty="0"/>
              <a:t> </a:t>
            </a:r>
            <a:r>
              <a:rPr lang="en-US" dirty="0" err="1"/>
              <a:t>phát</a:t>
            </a:r>
            <a:r>
              <a:rPr lang="en-US" dirty="0"/>
              <a:t> </a:t>
            </a:r>
            <a:r>
              <a:rPr lang="en-US" dirty="0" err="1"/>
              <a:t>triển</a:t>
            </a:r>
            <a:r>
              <a:rPr lang="en-US" dirty="0"/>
              <a:t> </a:t>
            </a:r>
            <a:r>
              <a:rPr lang="en-US" dirty="0" err="1"/>
              <a:t>nhanh</a:t>
            </a:r>
            <a:r>
              <a:rPr lang="en-US" dirty="0"/>
              <a:t> </a:t>
            </a:r>
            <a:r>
              <a:rPr lang="en-US" dirty="0" err="1"/>
              <a:t>chóng</a:t>
            </a:r>
            <a:r>
              <a:rPr lang="en-US" dirty="0"/>
              <a:t> </a:t>
            </a:r>
            <a:r>
              <a:rPr lang="en-US" dirty="0" err="1"/>
              <a:t>của</a:t>
            </a:r>
            <a:r>
              <a:rPr lang="en-US" dirty="0"/>
              <a:t> AI—</a:t>
            </a:r>
            <a:r>
              <a:rPr lang="en-US" dirty="0" err="1"/>
              <a:t>đặc</a:t>
            </a:r>
            <a:r>
              <a:rPr lang="en-US" dirty="0"/>
              <a:t> </a:t>
            </a:r>
            <a:r>
              <a:rPr lang="en-US" dirty="0" err="1"/>
              <a:t>biệt</a:t>
            </a:r>
            <a:r>
              <a:rPr lang="en-US" dirty="0"/>
              <a:t> </a:t>
            </a:r>
            <a:r>
              <a:rPr lang="en-US" dirty="0" err="1"/>
              <a:t>là</a:t>
            </a:r>
            <a:r>
              <a:rPr lang="en-US" dirty="0"/>
              <a:t> </a:t>
            </a:r>
            <a:r>
              <a:rPr lang="en-US" dirty="0" err="1"/>
              <a:t>Xử</a:t>
            </a:r>
            <a:r>
              <a:rPr lang="en-US" dirty="0"/>
              <a:t> </a:t>
            </a:r>
            <a:r>
              <a:rPr lang="en-US" dirty="0" err="1"/>
              <a:t>lý</a:t>
            </a:r>
            <a:r>
              <a:rPr lang="en-US" dirty="0"/>
              <a:t> </a:t>
            </a:r>
            <a:r>
              <a:rPr lang="en-US" dirty="0" err="1"/>
              <a:t>Ngôn</a:t>
            </a:r>
            <a:r>
              <a:rPr lang="en-US" dirty="0"/>
              <a:t> </a:t>
            </a:r>
            <a:r>
              <a:rPr lang="en-US" dirty="0" err="1"/>
              <a:t>ngữ</a:t>
            </a:r>
            <a:r>
              <a:rPr lang="en-US" dirty="0"/>
              <a:t> </a:t>
            </a:r>
            <a:r>
              <a:rPr lang="en-US" dirty="0" err="1"/>
              <a:t>Tự</a:t>
            </a:r>
            <a:r>
              <a:rPr lang="en-US" dirty="0"/>
              <a:t> </a:t>
            </a:r>
            <a:r>
              <a:rPr lang="en-US" dirty="0" err="1"/>
              <a:t>nhiên</a:t>
            </a:r>
            <a:r>
              <a:rPr lang="en-US" dirty="0"/>
              <a:t>—</a:t>
            </a:r>
            <a:r>
              <a:rPr lang="en-US" dirty="0" err="1"/>
              <a:t>giờ</a:t>
            </a:r>
            <a:r>
              <a:rPr lang="en-US" dirty="0"/>
              <a:t> </a:t>
            </a:r>
            <a:r>
              <a:rPr lang="en-US" dirty="0" err="1"/>
              <a:t>đây</a:t>
            </a:r>
            <a:r>
              <a:rPr lang="en-US" dirty="0"/>
              <a:t>, </a:t>
            </a:r>
            <a:r>
              <a:rPr lang="en-US" dirty="0" err="1"/>
              <a:t>việc</a:t>
            </a:r>
            <a:r>
              <a:rPr lang="en-US" dirty="0"/>
              <a:t> </a:t>
            </a:r>
            <a:r>
              <a:rPr lang="en-US" dirty="0" err="1"/>
              <a:t>trích</a:t>
            </a:r>
            <a:r>
              <a:rPr lang="en-US" dirty="0"/>
              <a:t> </a:t>
            </a:r>
            <a:r>
              <a:rPr lang="en-US" dirty="0" err="1"/>
              <a:t>xuất</a:t>
            </a:r>
            <a:r>
              <a:rPr lang="en-US" dirty="0"/>
              <a:t> </a:t>
            </a:r>
            <a:r>
              <a:rPr lang="en-US" dirty="0" err="1"/>
              <a:t>các</a:t>
            </a:r>
            <a:r>
              <a:rPr lang="en-US" dirty="0"/>
              <a:t> </a:t>
            </a:r>
            <a:r>
              <a:rPr lang="en-US" dirty="0" err="1"/>
              <a:t>tín</a:t>
            </a:r>
            <a:r>
              <a:rPr lang="en-US" dirty="0"/>
              <a:t> </a:t>
            </a:r>
            <a:r>
              <a:rPr lang="en-US" dirty="0" err="1"/>
              <a:t>hiệu</a:t>
            </a:r>
            <a:r>
              <a:rPr lang="en-US" dirty="0"/>
              <a:t> </a:t>
            </a:r>
            <a:r>
              <a:rPr lang="en-US" dirty="0" err="1"/>
              <a:t>hữu</a:t>
            </a:r>
            <a:r>
              <a:rPr lang="en-US" dirty="0"/>
              <a:t> </a:t>
            </a:r>
            <a:r>
              <a:rPr lang="en-US" dirty="0" err="1"/>
              <a:t>ích</a:t>
            </a:r>
            <a:r>
              <a:rPr lang="en-US" dirty="0"/>
              <a:t> </a:t>
            </a:r>
            <a:r>
              <a:rPr lang="en-US" dirty="0" err="1"/>
              <a:t>từ</a:t>
            </a:r>
            <a:r>
              <a:rPr lang="en-US" dirty="0"/>
              <a:t> </a:t>
            </a:r>
            <a:r>
              <a:rPr lang="en-US" dirty="0" err="1"/>
              <a:t>khối</a:t>
            </a:r>
            <a:r>
              <a:rPr lang="en-US" dirty="0"/>
              <a:t> </a:t>
            </a:r>
            <a:r>
              <a:rPr lang="en-US" dirty="0" err="1"/>
              <a:t>lượng</a:t>
            </a:r>
            <a:r>
              <a:rPr lang="en-US" dirty="0"/>
              <a:t> </a:t>
            </a:r>
            <a:r>
              <a:rPr lang="en-US" dirty="0" err="1"/>
              <a:t>lớn</a:t>
            </a:r>
            <a:r>
              <a:rPr lang="en-US" dirty="0"/>
              <a:t> </a:t>
            </a:r>
            <a:r>
              <a:rPr lang="en-US" dirty="0" err="1"/>
              <a:t>văn</a:t>
            </a:r>
            <a:r>
              <a:rPr lang="en-US" dirty="0"/>
              <a:t> </a:t>
            </a:r>
            <a:r>
              <a:rPr lang="en-US" dirty="0" err="1"/>
              <a:t>bản</a:t>
            </a:r>
            <a:r>
              <a:rPr lang="en-US" dirty="0"/>
              <a:t> phi </a:t>
            </a:r>
            <a:r>
              <a:rPr lang="en-US" dirty="0" err="1"/>
              <a:t>cấu</a:t>
            </a:r>
            <a:r>
              <a:rPr lang="en-US" dirty="0"/>
              <a:t> </a:t>
            </a:r>
            <a:r>
              <a:rPr lang="en-US" dirty="0" err="1"/>
              <a:t>trúc</a:t>
            </a:r>
            <a:r>
              <a:rPr lang="en-US" dirty="0"/>
              <a:t>, bao </a:t>
            </a:r>
            <a:r>
              <a:rPr lang="en-US" dirty="0" err="1"/>
              <a:t>gồm</a:t>
            </a:r>
            <a:r>
              <a:rPr lang="en-US" dirty="0"/>
              <a:t> </a:t>
            </a:r>
            <a:r>
              <a:rPr lang="en-US" dirty="0" err="1"/>
              <a:t>các</a:t>
            </a:r>
            <a:r>
              <a:rPr lang="en-US" dirty="0"/>
              <a:t> </a:t>
            </a:r>
            <a:r>
              <a:rPr lang="en-US" dirty="0" err="1"/>
              <a:t>bài</a:t>
            </a:r>
            <a:r>
              <a:rPr lang="en-US" dirty="0"/>
              <a:t> </a:t>
            </a:r>
            <a:r>
              <a:rPr lang="en-US" dirty="0" err="1"/>
              <a:t>báo</a:t>
            </a:r>
            <a:r>
              <a:rPr lang="en-US" dirty="0"/>
              <a:t> </a:t>
            </a:r>
            <a:r>
              <a:rPr lang="en-US" dirty="0" err="1"/>
              <a:t>tài</a:t>
            </a:r>
            <a:r>
              <a:rPr lang="en-US" dirty="0"/>
              <a:t> </a:t>
            </a:r>
            <a:r>
              <a:rPr lang="en-US" dirty="0" err="1"/>
              <a:t>chính</a:t>
            </a:r>
            <a:r>
              <a:rPr lang="en-US" dirty="0"/>
              <a:t>, </a:t>
            </a:r>
            <a:r>
              <a:rPr lang="en-US" dirty="0" err="1"/>
              <a:t>mạng</a:t>
            </a:r>
            <a:r>
              <a:rPr lang="en-US" dirty="0"/>
              <a:t> </a:t>
            </a:r>
            <a:r>
              <a:rPr lang="en-US" dirty="0" err="1"/>
              <a:t>xã</a:t>
            </a:r>
            <a:r>
              <a:rPr lang="en-US" dirty="0"/>
              <a:t> </a:t>
            </a:r>
            <a:r>
              <a:rPr lang="en-US" dirty="0" err="1"/>
              <a:t>hội</a:t>
            </a:r>
            <a:r>
              <a:rPr lang="en-US" dirty="0"/>
              <a:t> </a:t>
            </a:r>
            <a:r>
              <a:rPr lang="en-US" dirty="0" err="1"/>
              <a:t>và</a:t>
            </a:r>
            <a:r>
              <a:rPr lang="en-US" dirty="0"/>
              <a:t> </a:t>
            </a:r>
            <a:r>
              <a:rPr lang="en-US" dirty="0" err="1"/>
              <a:t>các</a:t>
            </a:r>
            <a:r>
              <a:rPr lang="en-US" dirty="0"/>
              <a:t> </a:t>
            </a:r>
            <a:r>
              <a:rPr lang="en-US" dirty="0" err="1"/>
              <a:t>thông</a:t>
            </a:r>
            <a:r>
              <a:rPr lang="en-US" dirty="0"/>
              <a:t> tin </a:t>
            </a:r>
            <a:r>
              <a:rPr lang="en-US" dirty="0" err="1"/>
              <a:t>công</a:t>
            </a:r>
            <a:r>
              <a:rPr lang="en-US" dirty="0"/>
              <a:t> </a:t>
            </a:r>
            <a:r>
              <a:rPr lang="en-US" dirty="0" err="1"/>
              <a:t>bố</a:t>
            </a:r>
            <a:r>
              <a:rPr lang="en-US" dirty="0"/>
              <a:t> </a:t>
            </a:r>
            <a:r>
              <a:rPr lang="en-US" dirty="0" err="1"/>
              <a:t>theo</a:t>
            </a:r>
            <a:r>
              <a:rPr lang="en-US" dirty="0"/>
              <a:t> </a:t>
            </a:r>
            <a:r>
              <a:rPr lang="en-US" dirty="0" err="1"/>
              <a:t>quy</a:t>
            </a:r>
            <a:r>
              <a:rPr lang="en-US" dirty="0"/>
              <a:t> </a:t>
            </a:r>
            <a:r>
              <a:rPr lang="en-US" dirty="0" err="1"/>
              <a:t>định</a:t>
            </a:r>
            <a:r>
              <a:rPr lang="en-US" dirty="0"/>
              <a:t>, </a:t>
            </a:r>
            <a:r>
              <a:rPr lang="en-US" dirty="0" err="1"/>
              <a:t>đã</a:t>
            </a:r>
            <a:r>
              <a:rPr lang="en-US" dirty="0"/>
              <a:t> </a:t>
            </a:r>
            <a:r>
              <a:rPr lang="en-US" dirty="0" err="1"/>
              <a:t>trở</a:t>
            </a:r>
            <a:r>
              <a:rPr lang="en-US" dirty="0"/>
              <a:t> </a:t>
            </a:r>
            <a:r>
              <a:rPr lang="en-US" dirty="0" err="1"/>
              <a:t>nên</a:t>
            </a:r>
            <a:r>
              <a:rPr lang="en-US" dirty="0"/>
              <a:t> </a:t>
            </a:r>
            <a:r>
              <a:rPr lang="en-US" dirty="0" err="1"/>
              <a:t>khả</a:t>
            </a:r>
            <a:r>
              <a:rPr lang="en-US" dirty="0"/>
              <a:t> </a:t>
            </a:r>
            <a:r>
              <a:rPr lang="en-US" dirty="0" err="1"/>
              <a:t>thi</a:t>
            </a:r>
            <a:r>
              <a:rPr lang="en-US" dirty="0"/>
              <a:t>. </a:t>
            </a:r>
            <a:r>
              <a:rPr lang="en-US" dirty="0" err="1"/>
              <a:t>Nghiên</a:t>
            </a:r>
            <a:r>
              <a:rPr lang="en-US" dirty="0"/>
              <a:t> </a:t>
            </a:r>
            <a:r>
              <a:rPr lang="en-US" dirty="0" err="1"/>
              <a:t>cứu</a:t>
            </a:r>
            <a:r>
              <a:rPr lang="en-US" dirty="0"/>
              <a:t> </a:t>
            </a:r>
            <a:r>
              <a:rPr lang="en-US" dirty="0" err="1"/>
              <a:t>này</a:t>
            </a:r>
            <a:r>
              <a:rPr lang="en-US" dirty="0"/>
              <a:t> </a:t>
            </a:r>
            <a:r>
              <a:rPr lang="en-US" dirty="0" err="1"/>
              <a:t>được</a:t>
            </a:r>
            <a:r>
              <a:rPr lang="en-US" dirty="0"/>
              <a:t> </a:t>
            </a:r>
            <a:r>
              <a:rPr lang="en-US" dirty="0" err="1"/>
              <a:t>thúc</a:t>
            </a:r>
            <a:r>
              <a:rPr lang="en-US" dirty="0"/>
              <a:t> </a:t>
            </a:r>
            <a:r>
              <a:rPr lang="en-US" dirty="0" err="1"/>
              <a:t>đẩy</a:t>
            </a:r>
            <a:r>
              <a:rPr lang="en-US" dirty="0"/>
              <a:t> </a:t>
            </a:r>
            <a:r>
              <a:rPr lang="en-US" dirty="0" err="1"/>
              <a:t>bởi</a:t>
            </a:r>
            <a:r>
              <a:rPr lang="en-US" dirty="0"/>
              <a:t> </a:t>
            </a:r>
            <a:r>
              <a:rPr lang="en-US" dirty="0" err="1"/>
              <a:t>nhu</a:t>
            </a:r>
            <a:r>
              <a:rPr lang="en-US" dirty="0"/>
              <a:t> </a:t>
            </a:r>
            <a:r>
              <a:rPr lang="en-US" dirty="0" err="1"/>
              <a:t>cầu</a:t>
            </a:r>
            <a:r>
              <a:rPr lang="en-US" dirty="0"/>
              <a:t> </a:t>
            </a:r>
            <a:r>
              <a:rPr lang="en-US" dirty="0" err="1"/>
              <a:t>thu</a:t>
            </a:r>
            <a:r>
              <a:rPr lang="en-US" dirty="0"/>
              <a:t> </a:t>
            </a:r>
            <a:r>
              <a:rPr lang="en-US" dirty="0" err="1"/>
              <a:t>hẹp</a:t>
            </a:r>
            <a:r>
              <a:rPr lang="en-US" dirty="0"/>
              <a:t> </a:t>
            </a:r>
            <a:r>
              <a:rPr lang="en-US" dirty="0" err="1"/>
              <a:t>khoảng</a:t>
            </a:r>
            <a:r>
              <a:rPr lang="en-US" dirty="0"/>
              <a:t> </a:t>
            </a:r>
            <a:r>
              <a:rPr lang="en-US" dirty="0" err="1"/>
              <a:t>cách</a:t>
            </a:r>
            <a:r>
              <a:rPr lang="en-US" dirty="0"/>
              <a:t> </a:t>
            </a:r>
            <a:r>
              <a:rPr lang="en-US" dirty="0" err="1"/>
              <a:t>này</a:t>
            </a:r>
            <a:r>
              <a:rPr lang="en-US" dirty="0"/>
              <a:t> </a:t>
            </a:r>
            <a:r>
              <a:rPr lang="en-US" dirty="0" err="1"/>
              <a:t>và</a:t>
            </a:r>
            <a:r>
              <a:rPr lang="en-US" dirty="0"/>
              <a:t> </a:t>
            </a:r>
            <a:r>
              <a:rPr lang="en-US" dirty="0" err="1"/>
              <a:t>đánh</a:t>
            </a:r>
            <a:r>
              <a:rPr lang="en-US" dirty="0"/>
              <a:t> </a:t>
            </a:r>
            <a:r>
              <a:rPr lang="en-US" dirty="0" err="1"/>
              <a:t>giá</a:t>
            </a:r>
            <a:r>
              <a:rPr lang="en-US" dirty="0"/>
              <a:t> </a:t>
            </a:r>
            <a:r>
              <a:rPr lang="en-US" dirty="0" err="1"/>
              <a:t>giá</a:t>
            </a:r>
            <a:r>
              <a:rPr lang="en-US" dirty="0"/>
              <a:t> </a:t>
            </a:r>
            <a:r>
              <a:rPr lang="en-US" dirty="0" err="1"/>
              <a:t>trị</a:t>
            </a:r>
            <a:r>
              <a:rPr lang="en-US" dirty="0"/>
              <a:t> </a:t>
            </a:r>
            <a:r>
              <a:rPr lang="en-US" dirty="0" err="1"/>
              <a:t>dự</a:t>
            </a:r>
            <a:r>
              <a:rPr lang="en-US" dirty="0"/>
              <a:t> </a:t>
            </a:r>
            <a:r>
              <a:rPr lang="en-US" dirty="0" err="1"/>
              <a:t>đoán</a:t>
            </a:r>
            <a:r>
              <a:rPr lang="en-US" dirty="0"/>
              <a:t> </a:t>
            </a:r>
            <a:r>
              <a:rPr lang="en-US" dirty="0" err="1"/>
              <a:t>thực</a:t>
            </a:r>
            <a:r>
              <a:rPr lang="en-US" dirty="0"/>
              <a:t> </a:t>
            </a:r>
            <a:r>
              <a:rPr lang="en-US" dirty="0" err="1"/>
              <a:t>sự</a:t>
            </a:r>
            <a:r>
              <a:rPr lang="en-US" dirty="0"/>
              <a:t> </a:t>
            </a:r>
            <a:r>
              <a:rPr lang="en-US" dirty="0" err="1"/>
              <a:t>của</a:t>
            </a:r>
            <a:r>
              <a:rPr lang="en-US" dirty="0"/>
              <a:t> </a:t>
            </a:r>
            <a:r>
              <a:rPr lang="en-US" dirty="0" err="1"/>
              <a:t>dữ</a:t>
            </a:r>
            <a:r>
              <a:rPr lang="en-US" dirty="0"/>
              <a:t> </a:t>
            </a:r>
            <a:r>
              <a:rPr lang="en-US" dirty="0" err="1"/>
              <a:t>liệu</a:t>
            </a:r>
            <a:r>
              <a:rPr lang="en-US" dirty="0"/>
              <a:t> tin </a:t>
            </a:r>
            <a:r>
              <a:rPr lang="en-US" dirty="0" err="1"/>
              <a:t>tức</a:t>
            </a:r>
            <a:r>
              <a:rPr lang="en-US" dirty="0"/>
              <a:t> </a:t>
            </a:r>
            <a:r>
              <a:rPr lang="en-US" dirty="0" err="1"/>
              <a:t>trong</a:t>
            </a:r>
            <a:r>
              <a:rPr lang="en-US" dirty="0"/>
              <a:t> </a:t>
            </a:r>
            <a:r>
              <a:rPr lang="en-US" dirty="0" err="1"/>
              <a:t>các</a:t>
            </a:r>
            <a:r>
              <a:rPr lang="en-US" dirty="0"/>
              <a:t> </a:t>
            </a:r>
            <a:r>
              <a:rPr lang="en-US" dirty="0" err="1"/>
              <a:t>mô</a:t>
            </a:r>
            <a:r>
              <a:rPr lang="en-US" dirty="0"/>
              <a:t> </a:t>
            </a:r>
            <a:r>
              <a:rPr lang="en-US" dirty="0" err="1"/>
              <a:t>hình</a:t>
            </a:r>
            <a:r>
              <a:rPr lang="en-US" dirty="0"/>
              <a:t> </a:t>
            </a:r>
            <a:r>
              <a:rPr lang="en-US" dirty="0" err="1"/>
              <a:t>tài</a:t>
            </a:r>
            <a:r>
              <a:rPr lang="en-US" dirty="0"/>
              <a:t> </a:t>
            </a:r>
            <a:r>
              <a:rPr lang="en-US" dirty="0" err="1"/>
              <a:t>chính</a:t>
            </a:r>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Các </a:t>
            </a:r>
            <a:r>
              <a:rPr lang="en-US" dirty="0" err="1"/>
              <a:t>mô</a:t>
            </a:r>
            <a:r>
              <a:rPr lang="en-US" dirty="0"/>
              <a:t> </a:t>
            </a:r>
            <a:r>
              <a:rPr lang="en-US" dirty="0" err="1"/>
              <a:t>hình</a:t>
            </a:r>
            <a:r>
              <a:rPr lang="en-US" dirty="0"/>
              <a:t> </a:t>
            </a:r>
            <a:r>
              <a:rPr lang="en-US" dirty="0" err="1"/>
              <a:t>dự</a:t>
            </a:r>
            <a:r>
              <a:rPr lang="en-US" dirty="0"/>
              <a:t> </a:t>
            </a:r>
            <a:r>
              <a:rPr lang="en-US" dirty="0" err="1"/>
              <a:t>đoán</a:t>
            </a:r>
            <a:r>
              <a:rPr lang="en-US" dirty="0"/>
              <a:t> </a:t>
            </a:r>
            <a:r>
              <a:rPr lang="en-US" dirty="0" err="1"/>
              <a:t>chứng</a:t>
            </a:r>
            <a:r>
              <a:rPr lang="en-US" dirty="0"/>
              <a:t> </a:t>
            </a:r>
            <a:r>
              <a:rPr lang="en-US" dirty="0" err="1"/>
              <a:t>khoán</a:t>
            </a:r>
            <a:r>
              <a:rPr lang="en-US" dirty="0"/>
              <a:t> </a:t>
            </a:r>
            <a:r>
              <a:rPr lang="en-US" dirty="0" err="1"/>
              <a:t>hiện</a:t>
            </a:r>
            <a:r>
              <a:rPr lang="en-US" dirty="0"/>
              <a:t> </a:t>
            </a:r>
            <a:r>
              <a:rPr lang="en-US" dirty="0" err="1"/>
              <a:t>tại</a:t>
            </a:r>
            <a:r>
              <a:rPr lang="en-US" dirty="0"/>
              <a:t> </a:t>
            </a:r>
            <a:r>
              <a:rPr lang="en-US" dirty="0" err="1"/>
              <a:t>phần</a:t>
            </a:r>
            <a:r>
              <a:rPr lang="en-US" dirty="0"/>
              <a:t> </a:t>
            </a:r>
            <a:r>
              <a:rPr lang="en-US" dirty="0" err="1"/>
              <a:t>lớn</a:t>
            </a:r>
            <a:r>
              <a:rPr lang="en-US" dirty="0"/>
              <a:t> </a:t>
            </a:r>
            <a:r>
              <a:rPr lang="en-US" dirty="0" err="1"/>
              <a:t>bỏ</a:t>
            </a:r>
            <a:r>
              <a:rPr lang="en-US" dirty="0"/>
              <a:t> qua </a:t>
            </a:r>
            <a:r>
              <a:rPr lang="en-US" dirty="0" err="1"/>
              <a:t>hoặc</a:t>
            </a:r>
            <a:r>
              <a:rPr lang="en-US" dirty="0"/>
              <a:t> </a:t>
            </a:r>
            <a:r>
              <a:rPr lang="en-US" dirty="0" err="1"/>
              <a:t>không</a:t>
            </a:r>
            <a:r>
              <a:rPr lang="en-US" dirty="0"/>
              <a:t> </a:t>
            </a:r>
            <a:r>
              <a:rPr lang="en-US" dirty="0" err="1"/>
              <a:t>khai</a:t>
            </a:r>
            <a:r>
              <a:rPr lang="en-US" dirty="0"/>
              <a:t> </a:t>
            </a:r>
            <a:r>
              <a:rPr lang="en-US" dirty="0" err="1"/>
              <a:t>thác</a:t>
            </a:r>
            <a:r>
              <a:rPr lang="en-US" dirty="0"/>
              <a:t> </a:t>
            </a:r>
            <a:r>
              <a:rPr lang="en-US" dirty="0" err="1"/>
              <a:t>dữ</a:t>
            </a:r>
            <a:r>
              <a:rPr lang="en-US" dirty="0"/>
              <a:t> </a:t>
            </a:r>
            <a:r>
              <a:rPr lang="en-US" dirty="0" err="1"/>
              <a:t>liệu</a:t>
            </a:r>
            <a:r>
              <a:rPr lang="en-US" dirty="0"/>
              <a:t> tin </a:t>
            </a:r>
            <a:r>
              <a:rPr lang="en-US" dirty="0" err="1"/>
              <a:t>tức</a:t>
            </a:r>
            <a:r>
              <a:rPr lang="en-US" dirty="0"/>
              <a:t> </a:t>
            </a:r>
            <a:r>
              <a:rPr lang="en-US" dirty="0" err="1"/>
              <a:t>một</a:t>
            </a:r>
            <a:r>
              <a:rPr lang="en-US" dirty="0"/>
              <a:t> </a:t>
            </a:r>
            <a:r>
              <a:rPr lang="en-US" dirty="0" err="1"/>
              <a:t>cách</a:t>
            </a:r>
            <a:r>
              <a:rPr lang="en-US" dirty="0"/>
              <a:t> </a:t>
            </a:r>
            <a:r>
              <a:rPr lang="en-US" dirty="0" err="1"/>
              <a:t>có</a:t>
            </a:r>
            <a:r>
              <a:rPr lang="en-US" dirty="0"/>
              <a:t> ý </a:t>
            </a:r>
            <a:r>
              <a:rPr lang="en-US" dirty="0" err="1"/>
              <a:t>nghĩa.Có</a:t>
            </a:r>
            <a:r>
              <a:rPr lang="en-US" dirty="0"/>
              <a:t> </a:t>
            </a:r>
            <a:r>
              <a:rPr lang="en-US" dirty="0" err="1"/>
              <a:t>sự</a:t>
            </a:r>
            <a:r>
              <a:rPr lang="en-US" dirty="0"/>
              <a:t> </a:t>
            </a:r>
            <a:r>
              <a:rPr lang="en-US" dirty="0" err="1"/>
              <a:t>khác</a:t>
            </a:r>
            <a:r>
              <a:rPr lang="en-US" dirty="0"/>
              <a:t> </a:t>
            </a:r>
            <a:r>
              <a:rPr lang="en-US" dirty="0" err="1"/>
              <a:t>biệt</a:t>
            </a:r>
            <a:r>
              <a:rPr lang="en-US" dirty="0"/>
              <a:t> </a:t>
            </a:r>
            <a:r>
              <a:rPr lang="en-US" dirty="0" err="1"/>
              <a:t>đáng</a:t>
            </a:r>
            <a:r>
              <a:rPr lang="en-US" dirty="0"/>
              <a:t> </a:t>
            </a:r>
            <a:r>
              <a:rPr lang="en-US" dirty="0" err="1"/>
              <a:t>kể</a:t>
            </a:r>
            <a:r>
              <a:rPr lang="en-US" dirty="0"/>
              <a:t> </a:t>
            </a:r>
            <a:r>
              <a:rPr lang="en-US" dirty="0" err="1"/>
              <a:t>giữa</a:t>
            </a:r>
            <a:r>
              <a:rPr lang="en-US" dirty="0"/>
              <a:t> </a:t>
            </a:r>
            <a:r>
              <a:rPr lang="en-US" dirty="0" err="1"/>
              <a:t>các</a:t>
            </a:r>
            <a:r>
              <a:rPr lang="en-US" dirty="0"/>
              <a:t> </a:t>
            </a:r>
            <a:r>
              <a:rPr lang="en-US" dirty="0" err="1"/>
              <a:t>sự</a:t>
            </a:r>
            <a:r>
              <a:rPr lang="en-US" dirty="0"/>
              <a:t> </a:t>
            </a:r>
            <a:r>
              <a:rPr lang="en-US" dirty="0" err="1"/>
              <a:t>kiện</a:t>
            </a:r>
            <a:r>
              <a:rPr lang="en-US" dirty="0"/>
              <a:t> tin </a:t>
            </a:r>
            <a:r>
              <a:rPr lang="en-US" dirty="0" err="1"/>
              <a:t>tức</a:t>
            </a:r>
            <a:r>
              <a:rPr lang="en-US" dirty="0"/>
              <a:t> </a:t>
            </a:r>
            <a:r>
              <a:rPr lang="en-US" dirty="0" err="1"/>
              <a:t>liên</a:t>
            </a:r>
            <a:r>
              <a:rPr lang="en-US" dirty="0"/>
              <a:t> </a:t>
            </a:r>
            <a:r>
              <a:rPr lang="en-US" dirty="0" err="1"/>
              <a:t>quan</a:t>
            </a:r>
            <a:r>
              <a:rPr lang="en-US" dirty="0"/>
              <a:t> </a:t>
            </a:r>
            <a:r>
              <a:rPr lang="en-US" dirty="0" err="1"/>
              <a:t>đến</a:t>
            </a:r>
            <a:r>
              <a:rPr lang="en-US" dirty="0"/>
              <a:t> </a:t>
            </a:r>
            <a:r>
              <a:rPr lang="en-US" dirty="0" err="1"/>
              <a:t>thị</a:t>
            </a:r>
            <a:r>
              <a:rPr lang="en-US" dirty="0"/>
              <a:t> </a:t>
            </a:r>
            <a:r>
              <a:rPr lang="en-US" dirty="0" err="1"/>
              <a:t>trường</a:t>
            </a:r>
            <a:r>
              <a:rPr lang="en-US" dirty="0"/>
              <a:t> </a:t>
            </a:r>
            <a:r>
              <a:rPr lang="en-US" dirty="0" err="1"/>
              <a:t>và</a:t>
            </a:r>
            <a:r>
              <a:rPr lang="en-US" dirty="0"/>
              <a:t> </a:t>
            </a:r>
            <a:r>
              <a:rPr lang="en-US" dirty="0" err="1"/>
              <a:t>thời</a:t>
            </a:r>
            <a:r>
              <a:rPr lang="en-US" dirty="0"/>
              <a:t> </a:t>
            </a:r>
            <a:r>
              <a:rPr lang="en-US" dirty="0" err="1"/>
              <a:t>điểm</a:t>
            </a:r>
            <a:r>
              <a:rPr lang="en-US" dirty="0"/>
              <a:t> </a:t>
            </a:r>
            <a:r>
              <a:rPr lang="en-US" dirty="0" err="1"/>
              <a:t>biến</a:t>
            </a:r>
            <a:r>
              <a:rPr lang="en-US" dirty="0"/>
              <a:t> </a:t>
            </a:r>
            <a:r>
              <a:rPr lang="en-US" dirty="0" err="1"/>
              <a:t>động</a:t>
            </a:r>
            <a:r>
              <a:rPr lang="en-US" dirty="0"/>
              <a:t> </a:t>
            </a:r>
            <a:r>
              <a:rPr lang="en-US" dirty="0" err="1"/>
              <a:t>giá</a:t>
            </a:r>
            <a:r>
              <a:rPr lang="en-US" dirty="0"/>
              <a:t>. </a:t>
            </a:r>
            <a:r>
              <a:rPr lang="en-US" dirty="0" err="1"/>
              <a:t>Nhiều</a:t>
            </a:r>
            <a:r>
              <a:rPr lang="en-US" dirty="0"/>
              <a:t> </a:t>
            </a:r>
            <a:r>
              <a:rPr lang="en-US" dirty="0" err="1"/>
              <a:t>mô</a:t>
            </a:r>
            <a:r>
              <a:rPr lang="en-US" dirty="0"/>
              <a:t> </a:t>
            </a:r>
            <a:r>
              <a:rPr lang="en-US" dirty="0" err="1"/>
              <a:t>hình</a:t>
            </a:r>
            <a:r>
              <a:rPr lang="en-US" dirty="0"/>
              <a:t> </a:t>
            </a:r>
            <a:r>
              <a:rPr lang="en-US" dirty="0" err="1"/>
              <a:t>không</a:t>
            </a:r>
            <a:r>
              <a:rPr lang="en-US" dirty="0"/>
              <a:t> </a:t>
            </a:r>
            <a:r>
              <a:rPr lang="en-US" dirty="0" err="1"/>
              <a:t>thể</a:t>
            </a:r>
            <a:r>
              <a:rPr lang="en-US" dirty="0"/>
              <a:t> </a:t>
            </a:r>
            <a:r>
              <a:rPr lang="en-US" dirty="0" err="1"/>
              <a:t>phát</a:t>
            </a:r>
            <a:r>
              <a:rPr lang="en-US" dirty="0"/>
              <a:t> </a:t>
            </a:r>
            <a:r>
              <a:rPr lang="en-US" dirty="0" err="1"/>
              <a:t>hiện</a:t>
            </a:r>
            <a:r>
              <a:rPr lang="en-US" dirty="0"/>
              <a:t> </a:t>
            </a:r>
            <a:r>
              <a:rPr lang="en-US" dirty="0" err="1"/>
              <a:t>liệu</a:t>
            </a:r>
            <a:r>
              <a:rPr lang="en-US" dirty="0"/>
              <a:t> </a:t>
            </a:r>
            <a:r>
              <a:rPr lang="en-US" dirty="0" err="1"/>
              <a:t>một</a:t>
            </a:r>
            <a:r>
              <a:rPr lang="en-US" dirty="0"/>
              <a:t> </a:t>
            </a:r>
            <a:r>
              <a:rPr lang="en-US" dirty="0" err="1"/>
              <a:t>bài</a:t>
            </a:r>
            <a:r>
              <a:rPr lang="en-US" dirty="0"/>
              <a:t> </a:t>
            </a:r>
            <a:r>
              <a:rPr lang="en-US" dirty="0" err="1"/>
              <a:t>báo</a:t>
            </a:r>
            <a:r>
              <a:rPr lang="en-US" dirty="0"/>
              <a:t> </a:t>
            </a:r>
            <a:r>
              <a:rPr lang="en-US" dirty="0" err="1"/>
              <a:t>có</a:t>
            </a:r>
            <a:r>
              <a:rPr lang="en-US" dirty="0"/>
              <a:t> </a:t>
            </a:r>
            <a:r>
              <a:rPr lang="en-US" dirty="0" err="1"/>
              <a:t>gây</a:t>
            </a:r>
            <a:r>
              <a:rPr lang="en-US" dirty="0"/>
              <a:t> </a:t>
            </a:r>
            <a:r>
              <a:rPr lang="en-US" dirty="0" err="1"/>
              <a:t>ra</a:t>
            </a:r>
            <a:r>
              <a:rPr lang="en-US" dirty="0"/>
              <a:t> </a:t>
            </a:r>
            <a:r>
              <a:rPr lang="en-US" dirty="0" err="1"/>
              <a:t>biến</a:t>
            </a:r>
            <a:r>
              <a:rPr lang="en-US" dirty="0"/>
              <a:t> </a:t>
            </a:r>
            <a:r>
              <a:rPr lang="en-US" dirty="0" err="1"/>
              <a:t>động</a:t>
            </a:r>
            <a:r>
              <a:rPr lang="en-US" dirty="0"/>
              <a:t> </a:t>
            </a:r>
            <a:r>
              <a:rPr lang="en-US" dirty="0" err="1"/>
              <a:t>giá</a:t>
            </a:r>
            <a:r>
              <a:rPr lang="en-US" dirty="0"/>
              <a:t> hay </a:t>
            </a:r>
            <a:r>
              <a:rPr lang="en-US" dirty="0" err="1"/>
              <a:t>chỉ</a:t>
            </a:r>
            <a:r>
              <a:rPr lang="en-US" dirty="0"/>
              <a:t> </a:t>
            </a:r>
            <a:r>
              <a:rPr lang="en-US" dirty="0" err="1"/>
              <a:t>mô</a:t>
            </a:r>
            <a:r>
              <a:rPr lang="en-US" dirty="0"/>
              <a:t> </a:t>
            </a:r>
            <a:r>
              <a:rPr lang="en-US" dirty="0" err="1"/>
              <a:t>tả</a:t>
            </a:r>
            <a:r>
              <a:rPr lang="en-US" dirty="0"/>
              <a:t> </a:t>
            </a:r>
            <a:r>
              <a:rPr lang="en-US" dirty="0" err="1"/>
              <a:t>sự</a:t>
            </a:r>
            <a:r>
              <a:rPr lang="en-US" dirty="0"/>
              <a:t> </a:t>
            </a:r>
            <a:r>
              <a:rPr lang="en-US" dirty="0" err="1"/>
              <a:t>kiện</a:t>
            </a:r>
            <a:r>
              <a:rPr lang="en-US" dirty="0"/>
              <a:t> </a:t>
            </a:r>
            <a:r>
              <a:rPr lang="en-US" dirty="0" err="1"/>
              <a:t>đó</a:t>
            </a:r>
            <a:r>
              <a:rPr lang="en-US" dirty="0"/>
              <a:t> </a:t>
            </a:r>
            <a:r>
              <a:rPr lang="en-US" dirty="0" err="1"/>
              <a:t>sau</a:t>
            </a:r>
            <a:r>
              <a:rPr lang="en-US" dirty="0"/>
              <a:t> </a:t>
            </a:r>
            <a:r>
              <a:rPr lang="en-US" dirty="0" err="1"/>
              <a:t>khi</a:t>
            </a:r>
            <a:r>
              <a:rPr lang="en-US" dirty="0"/>
              <a:t> </a:t>
            </a:r>
            <a:r>
              <a:rPr lang="en-US" dirty="0" err="1"/>
              <a:t>sự</a:t>
            </a:r>
            <a:r>
              <a:rPr lang="en-US" dirty="0"/>
              <a:t> </a:t>
            </a:r>
            <a:r>
              <a:rPr lang="en-US" dirty="0" err="1"/>
              <a:t>việc</a:t>
            </a:r>
            <a:r>
              <a:rPr lang="en-US" dirty="0"/>
              <a:t> </a:t>
            </a:r>
            <a:r>
              <a:rPr lang="en-US" dirty="0" err="1"/>
              <a:t>đã</a:t>
            </a:r>
            <a:r>
              <a:rPr lang="en-US" dirty="0"/>
              <a:t> </a:t>
            </a:r>
            <a:r>
              <a:rPr lang="en-US" dirty="0" err="1"/>
              <a:t>xảy</a:t>
            </a:r>
            <a:r>
              <a:rPr lang="en-US" dirty="0"/>
              <a:t> </a:t>
            </a:r>
            <a:r>
              <a:rPr lang="en-US" dirty="0" err="1"/>
              <a:t>ra.</a:t>
            </a:r>
            <a:r>
              <a:rPr lang="en-US" dirty="0"/>
              <a:t> </a:t>
            </a:r>
            <a:r>
              <a:rPr lang="en-US" dirty="0" err="1"/>
              <a:t>Điều</a:t>
            </a:r>
            <a:r>
              <a:rPr lang="en-US" dirty="0"/>
              <a:t> </a:t>
            </a:r>
            <a:r>
              <a:rPr lang="en-US" dirty="0" err="1"/>
              <a:t>này</a:t>
            </a:r>
            <a:r>
              <a:rPr lang="en-US" dirty="0"/>
              <a:t> </a:t>
            </a:r>
            <a:r>
              <a:rPr lang="en-US" dirty="0" err="1"/>
              <a:t>làm</a:t>
            </a:r>
            <a:r>
              <a:rPr lang="en-US" dirty="0"/>
              <a:t> </a:t>
            </a:r>
            <a:r>
              <a:rPr lang="en-US" dirty="0" err="1"/>
              <a:t>suy</a:t>
            </a:r>
            <a:r>
              <a:rPr lang="en-US" dirty="0"/>
              <a:t> </a:t>
            </a:r>
            <a:r>
              <a:rPr lang="en-US" dirty="0" err="1"/>
              <a:t>yếu</a:t>
            </a:r>
            <a:r>
              <a:rPr lang="en-US" dirty="0"/>
              <a:t> </a:t>
            </a:r>
            <a:r>
              <a:rPr lang="en-US" dirty="0" err="1"/>
              <a:t>sức</a:t>
            </a:r>
            <a:r>
              <a:rPr lang="en-US" dirty="0"/>
              <a:t> </a:t>
            </a:r>
            <a:r>
              <a:rPr lang="en-US" dirty="0" err="1"/>
              <a:t>mạnh</a:t>
            </a:r>
            <a:r>
              <a:rPr lang="en-US" dirty="0"/>
              <a:t> </a:t>
            </a:r>
            <a:r>
              <a:rPr lang="en-US" dirty="0" err="1"/>
              <a:t>dự</a:t>
            </a:r>
            <a:r>
              <a:rPr lang="en-US" dirty="0"/>
              <a:t> </a:t>
            </a:r>
            <a:r>
              <a:rPr lang="en-US" dirty="0" err="1"/>
              <a:t>đoán</a:t>
            </a:r>
            <a:r>
              <a:rPr lang="en-US" dirty="0"/>
              <a:t> </a:t>
            </a:r>
            <a:r>
              <a:rPr lang="en-US" dirty="0" err="1"/>
              <a:t>và</a:t>
            </a:r>
            <a:r>
              <a:rPr lang="en-US" dirty="0"/>
              <a:t> </a:t>
            </a:r>
            <a:r>
              <a:rPr lang="en-US" dirty="0" err="1"/>
              <a:t>hạn</a:t>
            </a:r>
            <a:r>
              <a:rPr lang="en-US" dirty="0"/>
              <a:t> </a:t>
            </a:r>
            <a:r>
              <a:rPr lang="en-US" dirty="0" err="1"/>
              <a:t>chế</a:t>
            </a:r>
            <a:r>
              <a:rPr lang="en-US" dirty="0"/>
              <a:t> </a:t>
            </a:r>
            <a:r>
              <a:rPr lang="en-US" dirty="0" err="1"/>
              <a:t>khả</a:t>
            </a:r>
            <a:r>
              <a:rPr lang="en-US" dirty="0"/>
              <a:t> </a:t>
            </a:r>
            <a:r>
              <a:rPr lang="en-US" dirty="0" err="1"/>
              <a:t>năng</a:t>
            </a:r>
            <a:r>
              <a:rPr lang="en-US" dirty="0"/>
              <a:t> </a:t>
            </a:r>
            <a:r>
              <a:rPr lang="en-US" dirty="0" err="1"/>
              <a:t>suy</a:t>
            </a:r>
            <a:r>
              <a:rPr lang="en-US" dirty="0"/>
              <a:t> </a:t>
            </a:r>
            <a:r>
              <a:rPr lang="en-US" dirty="0" err="1"/>
              <a:t>luận</a:t>
            </a:r>
            <a:r>
              <a:rPr lang="en-US" dirty="0"/>
              <a:t> </a:t>
            </a:r>
            <a:r>
              <a:rPr lang="en-US" dirty="0" err="1"/>
              <a:t>nhân</a:t>
            </a:r>
            <a:r>
              <a:rPr lang="en-US" dirty="0"/>
              <a:t> </a:t>
            </a:r>
            <a:r>
              <a:rPr lang="en-US" dirty="0" err="1"/>
              <a:t>quả</a:t>
            </a:r>
            <a:r>
              <a:rPr lang="en-US" dirty="0"/>
              <a:t>.</a:t>
            </a:r>
          </a:p>
          <a:p>
            <a:endParaRPr lang="en-US" dirty="0"/>
          </a:p>
          <a:p>
            <a:r>
              <a:rPr lang="en-US" dirty="0" err="1"/>
              <a:t>Hơn</a:t>
            </a:r>
            <a:r>
              <a:rPr lang="en-US" dirty="0"/>
              <a:t> </a:t>
            </a:r>
            <a:r>
              <a:rPr lang="en-US" dirty="0" err="1"/>
              <a:t>nữa</a:t>
            </a:r>
            <a:r>
              <a:rPr lang="en-US" dirty="0"/>
              <a:t>, </a:t>
            </a:r>
            <a:r>
              <a:rPr lang="en-US" dirty="0" err="1"/>
              <a:t>dữ</a:t>
            </a:r>
            <a:r>
              <a:rPr lang="en-US" dirty="0"/>
              <a:t> </a:t>
            </a:r>
            <a:r>
              <a:rPr lang="en-US" dirty="0" err="1"/>
              <a:t>liệu</a:t>
            </a:r>
            <a:r>
              <a:rPr lang="en-US" dirty="0"/>
              <a:t> </a:t>
            </a:r>
            <a:r>
              <a:rPr lang="en-US" dirty="0" err="1"/>
              <a:t>văn</a:t>
            </a:r>
            <a:r>
              <a:rPr lang="en-US" dirty="0"/>
              <a:t> </a:t>
            </a:r>
            <a:r>
              <a:rPr lang="en-US" dirty="0" err="1"/>
              <a:t>bản</a:t>
            </a:r>
            <a:r>
              <a:rPr lang="en-US" dirty="0"/>
              <a:t> </a:t>
            </a:r>
            <a:r>
              <a:rPr lang="en-US" dirty="0" err="1"/>
              <a:t>thường</a:t>
            </a:r>
            <a:r>
              <a:rPr lang="en-US" dirty="0"/>
              <a:t> </a:t>
            </a:r>
            <a:r>
              <a:rPr lang="en-US" dirty="0" err="1"/>
              <a:t>bị</a:t>
            </a:r>
            <a:r>
              <a:rPr lang="en-US" dirty="0"/>
              <a:t> </a:t>
            </a:r>
            <a:r>
              <a:rPr lang="en-US" dirty="0" err="1"/>
              <a:t>nhiễu</a:t>
            </a:r>
            <a:r>
              <a:rPr lang="en-US" dirty="0"/>
              <a:t>. </a:t>
            </a:r>
            <a:r>
              <a:rPr lang="en-US" dirty="0" err="1"/>
              <a:t>Không</a:t>
            </a:r>
            <a:r>
              <a:rPr lang="en-US" dirty="0"/>
              <a:t> </a:t>
            </a:r>
            <a:r>
              <a:rPr lang="en-US" dirty="0" err="1"/>
              <a:t>phải</a:t>
            </a:r>
            <a:r>
              <a:rPr lang="en-US" dirty="0"/>
              <a:t> </a:t>
            </a:r>
            <a:r>
              <a:rPr lang="en-US" dirty="0" err="1"/>
              <a:t>bài</a:t>
            </a:r>
            <a:r>
              <a:rPr lang="en-US" dirty="0"/>
              <a:t> </a:t>
            </a:r>
            <a:r>
              <a:rPr lang="en-US" dirty="0" err="1"/>
              <a:t>viết</a:t>
            </a:r>
            <a:r>
              <a:rPr lang="en-US" dirty="0"/>
              <a:t> hay tweet </a:t>
            </a:r>
            <a:r>
              <a:rPr lang="en-US" dirty="0" err="1"/>
              <a:t>nào</a:t>
            </a:r>
            <a:r>
              <a:rPr lang="en-US" dirty="0"/>
              <a:t> </a:t>
            </a:r>
            <a:r>
              <a:rPr lang="en-US" dirty="0" err="1"/>
              <a:t>cũng</a:t>
            </a:r>
            <a:r>
              <a:rPr lang="en-US" dirty="0"/>
              <a:t> </a:t>
            </a:r>
            <a:r>
              <a:rPr lang="en-US" dirty="0" err="1"/>
              <a:t>ảnh</a:t>
            </a:r>
            <a:r>
              <a:rPr lang="en-US" dirty="0"/>
              <a:t> </a:t>
            </a:r>
            <a:r>
              <a:rPr lang="en-US" dirty="0" err="1"/>
              <a:t>hưởng</a:t>
            </a:r>
            <a:r>
              <a:rPr lang="en-US" dirty="0"/>
              <a:t> </a:t>
            </a:r>
            <a:r>
              <a:rPr lang="en-US" dirty="0" err="1"/>
              <a:t>đến</a:t>
            </a:r>
            <a:r>
              <a:rPr lang="en-US" dirty="0"/>
              <a:t> </a:t>
            </a:r>
            <a:r>
              <a:rPr lang="en-US" dirty="0" err="1"/>
              <a:t>thị</a:t>
            </a:r>
            <a:r>
              <a:rPr lang="en-US" dirty="0"/>
              <a:t> </a:t>
            </a:r>
            <a:r>
              <a:rPr lang="en-US" dirty="0" err="1"/>
              <a:t>trường</a:t>
            </a:r>
            <a:r>
              <a:rPr lang="en-US" dirty="0"/>
              <a:t>. </a:t>
            </a:r>
            <a:r>
              <a:rPr lang="en-US" dirty="0" err="1"/>
              <a:t>Việc</a:t>
            </a:r>
            <a:r>
              <a:rPr lang="en-US" dirty="0"/>
              <a:t> </a:t>
            </a:r>
            <a:r>
              <a:rPr lang="en-US" dirty="0" err="1"/>
              <a:t>lọc</a:t>
            </a:r>
            <a:r>
              <a:rPr lang="en-US" dirty="0"/>
              <a:t> </a:t>
            </a:r>
            <a:r>
              <a:rPr lang="en-US" dirty="0" err="1"/>
              <a:t>nội</a:t>
            </a:r>
            <a:r>
              <a:rPr lang="en-US" dirty="0"/>
              <a:t> dung </a:t>
            </a:r>
            <a:r>
              <a:rPr lang="en-US" dirty="0" err="1"/>
              <a:t>là</a:t>
            </a:r>
            <a:r>
              <a:rPr lang="en-US" dirty="0"/>
              <a:t> </a:t>
            </a:r>
            <a:r>
              <a:rPr lang="en-US" dirty="0" err="1"/>
              <a:t>điều</a:t>
            </a:r>
            <a:r>
              <a:rPr lang="en-US" dirty="0"/>
              <a:t> </a:t>
            </a:r>
            <a:r>
              <a:rPr lang="en-US" dirty="0" err="1"/>
              <a:t>vô</a:t>
            </a:r>
            <a:r>
              <a:rPr lang="en-US" dirty="0"/>
              <a:t> </a:t>
            </a:r>
            <a:r>
              <a:rPr lang="en-US" dirty="0" err="1"/>
              <a:t>cùng</a:t>
            </a:r>
            <a:r>
              <a:rPr lang="en-US" dirty="0"/>
              <a:t> </a:t>
            </a:r>
            <a:r>
              <a:rPr lang="en-US" dirty="0" err="1"/>
              <a:t>cần</a:t>
            </a:r>
            <a:r>
              <a:rPr lang="en-US" dirty="0"/>
              <a:t> </a:t>
            </a:r>
            <a:r>
              <a:rPr lang="en-US" dirty="0" err="1"/>
              <a:t>thiết</a:t>
            </a:r>
            <a:r>
              <a:rPr lang="en-US" dirty="0"/>
              <a:t> </a:t>
            </a:r>
            <a:r>
              <a:rPr lang="en-US" dirty="0" err="1"/>
              <a:t>để</a:t>
            </a:r>
            <a:r>
              <a:rPr lang="en-US" dirty="0"/>
              <a:t> </a:t>
            </a:r>
            <a:r>
              <a:rPr lang="en-US" dirty="0" err="1"/>
              <a:t>đảm</a:t>
            </a:r>
            <a:r>
              <a:rPr lang="en-US" dirty="0"/>
              <a:t> </a:t>
            </a:r>
            <a:r>
              <a:rPr lang="en-US" dirty="0" err="1"/>
              <a:t>bảo</a:t>
            </a:r>
            <a:r>
              <a:rPr lang="en-US" dirty="0"/>
              <a:t> </a:t>
            </a:r>
            <a:r>
              <a:rPr lang="en-US" dirty="0" err="1"/>
              <a:t>chất</a:t>
            </a:r>
            <a:r>
              <a:rPr lang="en-US" dirty="0"/>
              <a:t> </a:t>
            </a:r>
            <a:r>
              <a:rPr lang="en-US" dirty="0" err="1"/>
              <a:t>lượng</a:t>
            </a:r>
            <a:r>
              <a:rPr lang="en-US" dirty="0"/>
              <a:t> </a:t>
            </a:r>
            <a:r>
              <a:rPr lang="en-US" dirty="0" err="1"/>
              <a:t>dự</a:t>
            </a:r>
            <a:r>
              <a:rPr lang="en-US" dirty="0"/>
              <a:t> </a:t>
            </a:r>
            <a:r>
              <a:rPr lang="en-US" dirty="0" err="1"/>
              <a:t>đoán</a:t>
            </a:r>
            <a:r>
              <a:rPr lang="en-US" dirty="0"/>
              <a:t>. </a:t>
            </a:r>
          </a:p>
          <a:p>
            <a:r>
              <a:rPr lang="en-US" dirty="0" err="1"/>
              <a:t>Cuối</a:t>
            </a:r>
            <a:r>
              <a:rPr lang="en-US" dirty="0"/>
              <a:t> </a:t>
            </a:r>
            <a:r>
              <a:rPr lang="en-US" dirty="0" err="1"/>
              <a:t>cùng</a:t>
            </a:r>
            <a:r>
              <a:rPr lang="en-US" dirty="0"/>
              <a:t>, </a:t>
            </a:r>
            <a:r>
              <a:rPr lang="en-US" dirty="0" err="1"/>
              <a:t>việc</a:t>
            </a:r>
            <a:r>
              <a:rPr lang="en-US" dirty="0"/>
              <a:t> </a:t>
            </a:r>
            <a:r>
              <a:rPr lang="en-US" dirty="0" err="1"/>
              <a:t>thiếu</a:t>
            </a:r>
            <a:r>
              <a:rPr lang="en-US" dirty="0"/>
              <a:t> </a:t>
            </a:r>
            <a:r>
              <a:rPr lang="en-US" dirty="0" err="1"/>
              <a:t>minh</a:t>
            </a:r>
            <a:r>
              <a:rPr lang="en-US" dirty="0"/>
              <a:t> </a:t>
            </a:r>
            <a:r>
              <a:rPr lang="en-US" dirty="0" err="1"/>
              <a:t>bạch</a:t>
            </a:r>
            <a:r>
              <a:rPr lang="en-US" dirty="0"/>
              <a:t> </a:t>
            </a:r>
            <a:r>
              <a:rPr lang="en-US" dirty="0" err="1"/>
              <a:t>trong</a:t>
            </a:r>
            <a:r>
              <a:rPr lang="en-US" dirty="0"/>
              <a:t> </a:t>
            </a:r>
            <a:r>
              <a:rPr lang="en-US" dirty="0" err="1"/>
              <a:t>nhiều</a:t>
            </a:r>
            <a:r>
              <a:rPr lang="en-US" dirty="0"/>
              <a:t> </a:t>
            </a:r>
            <a:r>
              <a:rPr lang="en-US" dirty="0" err="1"/>
              <a:t>phương</a:t>
            </a:r>
            <a:r>
              <a:rPr lang="en-US" dirty="0"/>
              <a:t> </a:t>
            </a:r>
            <a:r>
              <a:rPr lang="en-US" dirty="0" err="1"/>
              <a:t>pháp</a:t>
            </a:r>
            <a:r>
              <a:rPr lang="en-US" dirty="0"/>
              <a:t> </a:t>
            </a:r>
            <a:r>
              <a:rPr lang="en-US" dirty="0" err="1"/>
              <a:t>học</a:t>
            </a:r>
            <a:r>
              <a:rPr lang="en-US" dirty="0"/>
              <a:t> </a:t>
            </a:r>
            <a:r>
              <a:rPr lang="en-US" dirty="0" err="1"/>
              <a:t>sâu</a:t>
            </a:r>
            <a:r>
              <a:rPr lang="en-US" dirty="0"/>
              <a:t> </a:t>
            </a:r>
            <a:r>
              <a:rPr lang="en-US" dirty="0" err="1"/>
              <a:t>làm</a:t>
            </a:r>
            <a:r>
              <a:rPr lang="en-US" dirty="0"/>
              <a:t> </a:t>
            </a:r>
            <a:r>
              <a:rPr lang="en-US" dirty="0" err="1"/>
              <a:t>dấy</a:t>
            </a:r>
            <a:r>
              <a:rPr lang="en-US" dirty="0"/>
              <a:t> </a:t>
            </a:r>
            <a:r>
              <a:rPr lang="en-US" dirty="0" err="1"/>
              <a:t>lên</a:t>
            </a:r>
            <a:r>
              <a:rPr lang="en-US" dirty="0"/>
              <a:t> lo </a:t>
            </a:r>
            <a:r>
              <a:rPr lang="en-US" dirty="0" err="1"/>
              <a:t>ngại</a:t>
            </a:r>
            <a:r>
              <a:rPr lang="en-US" dirty="0"/>
              <a:t> </a:t>
            </a:r>
            <a:r>
              <a:rPr lang="en-US" dirty="0" err="1"/>
              <a:t>về</a:t>
            </a:r>
            <a:r>
              <a:rPr lang="en-US" dirty="0"/>
              <a:t> </a:t>
            </a:r>
            <a:r>
              <a:rPr lang="en-US" dirty="0" err="1"/>
              <a:t>khả</a:t>
            </a:r>
            <a:r>
              <a:rPr lang="en-US" dirty="0"/>
              <a:t> </a:t>
            </a:r>
            <a:r>
              <a:rPr lang="en-US" dirty="0" err="1"/>
              <a:t>năng</a:t>
            </a:r>
            <a:r>
              <a:rPr lang="en-US" dirty="0"/>
              <a:t> </a:t>
            </a:r>
            <a:r>
              <a:rPr lang="en-US" dirty="0" err="1"/>
              <a:t>diễn</a:t>
            </a:r>
            <a:r>
              <a:rPr lang="en-US" dirty="0"/>
              <a:t> </a:t>
            </a:r>
            <a:r>
              <a:rPr lang="en-US" dirty="0" err="1"/>
              <a:t>giải</a:t>
            </a:r>
            <a:r>
              <a:rPr lang="en-US" dirty="0"/>
              <a:t> - </a:t>
            </a:r>
            <a:r>
              <a:rPr lang="en-US" dirty="0" err="1"/>
              <a:t>đặc</a:t>
            </a:r>
            <a:r>
              <a:rPr lang="en-US" dirty="0"/>
              <a:t> </a:t>
            </a:r>
            <a:r>
              <a:rPr lang="en-US" dirty="0" err="1"/>
              <a:t>biệt</a:t>
            </a:r>
            <a:r>
              <a:rPr lang="en-US" dirty="0"/>
              <a:t> </a:t>
            </a:r>
            <a:r>
              <a:rPr lang="en-US" dirty="0" err="1"/>
              <a:t>là</a:t>
            </a:r>
            <a:r>
              <a:rPr lang="en-US" dirty="0"/>
              <a:t> </a:t>
            </a:r>
            <a:r>
              <a:rPr lang="en-US" dirty="0" err="1"/>
              <a:t>trong</a:t>
            </a:r>
            <a:r>
              <a:rPr lang="en-US" dirty="0"/>
              <a:t> </a:t>
            </a:r>
            <a:r>
              <a:rPr lang="en-US" dirty="0" err="1"/>
              <a:t>các</a:t>
            </a:r>
            <a:r>
              <a:rPr lang="en-US" dirty="0"/>
              <a:t> </a:t>
            </a:r>
            <a:r>
              <a:rPr lang="en-US" dirty="0" err="1"/>
              <a:t>lĩnh</a:t>
            </a:r>
            <a:r>
              <a:rPr lang="en-US" dirty="0"/>
              <a:t> </a:t>
            </a:r>
            <a:r>
              <a:rPr lang="en-US" dirty="0" err="1"/>
              <a:t>vực</a:t>
            </a:r>
            <a:r>
              <a:rPr lang="en-US" dirty="0"/>
              <a:t> </a:t>
            </a:r>
            <a:r>
              <a:rPr lang="en-US" dirty="0" err="1"/>
              <a:t>mà</a:t>
            </a:r>
            <a:r>
              <a:rPr lang="en-US" dirty="0"/>
              <a:t> </a:t>
            </a:r>
            <a:r>
              <a:rPr lang="en-US" dirty="0" err="1"/>
              <a:t>các</a:t>
            </a:r>
            <a:r>
              <a:rPr lang="en-US" dirty="0"/>
              <a:t> </a:t>
            </a:r>
            <a:r>
              <a:rPr lang="en-US" dirty="0" err="1"/>
              <a:t>quyết</a:t>
            </a:r>
            <a:r>
              <a:rPr lang="en-US" dirty="0"/>
              <a:t> </a:t>
            </a:r>
            <a:r>
              <a:rPr lang="en-US" dirty="0" err="1"/>
              <a:t>định</a:t>
            </a:r>
            <a:r>
              <a:rPr lang="en-US" dirty="0"/>
              <a:t> </a:t>
            </a:r>
            <a:r>
              <a:rPr lang="en-US" dirty="0" err="1"/>
              <a:t>ảnh</a:t>
            </a:r>
            <a:r>
              <a:rPr lang="en-US" dirty="0"/>
              <a:t> </a:t>
            </a:r>
            <a:r>
              <a:rPr lang="en-US" dirty="0" err="1"/>
              <a:t>hưởng</a:t>
            </a:r>
            <a:r>
              <a:rPr lang="en-US" dirty="0"/>
              <a:t> </a:t>
            </a:r>
            <a:r>
              <a:rPr lang="en-US" dirty="0" err="1"/>
              <a:t>đến</a:t>
            </a:r>
            <a:r>
              <a:rPr lang="en-US" dirty="0"/>
              <a:t> </a:t>
            </a:r>
            <a:r>
              <a:rPr lang="en-US" dirty="0" err="1"/>
              <a:t>đầu</a:t>
            </a:r>
            <a:r>
              <a:rPr lang="en-US" dirty="0"/>
              <a:t> </a:t>
            </a:r>
            <a:r>
              <a:rPr lang="en-US" dirty="0" err="1"/>
              <a:t>tư</a:t>
            </a:r>
            <a:r>
              <a:rPr lang="en-US" dirty="0"/>
              <a:t> </a:t>
            </a:r>
            <a:r>
              <a:rPr lang="en-US" dirty="0" err="1"/>
              <a:t>và</a:t>
            </a:r>
            <a:r>
              <a:rPr lang="en-US" dirty="0"/>
              <a:t> </a:t>
            </a:r>
            <a:r>
              <a:rPr lang="en-US" dirty="0" err="1"/>
              <a:t>tuân</a:t>
            </a:r>
            <a:r>
              <a:rPr lang="en-US" dirty="0"/>
              <a:t> </a:t>
            </a:r>
            <a:r>
              <a:rPr lang="en-US" dirty="0" err="1"/>
              <a:t>thủ</a:t>
            </a:r>
            <a:r>
              <a:rPr lang="en-US" dirty="0"/>
              <a:t>. Luận </a:t>
            </a:r>
            <a:r>
              <a:rPr lang="en-US" dirty="0" err="1"/>
              <a:t>án</a:t>
            </a:r>
            <a:r>
              <a:rPr lang="en-US" dirty="0"/>
              <a:t> </a:t>
            </a:r>
            <a:r>
              <a:rPr lang="en-US" dirty="0" err="1"/>
              <a:t>này</a:t>
            </a:r>
            <a:r>
              <a:rPr lang="en-US" dirty="0"/>
              <a:t> </a:t>
            </a:r>
            <a:r>
              <a:rPr lang="en-US" dirty="0" err="1"/>
              <a:t>giải</a:t>
            </a:r>
            <a:r>
              <a:rPr lang="en-US" dirty="0"/>
              <a:t> </a:t>
            </a:r>
            <a:r>
              <a:rPr lang="en-US" dirty="0" err="1"/>
              <a:t>quyết</a:t>
            </a:r>
            <a:r>
              <a:rPr lang="en-US" dirty="0"/>
              <a:t> </a:t>
            </a:r>
            <a:r>
              <a:rPr lang="en-US" dirty="0" err="1"/>
              <a:t>trực</a:t>
            </a:r>
            <a:r>
              <a:rPr lang="en-US" dirty="0"/>
              <a:t> </a:t>
            </a:r>
            <a:r>
              <a:rPr lang="en-US" dirty="0" err="1"/>
              <a:t>tiếp</a:t>
            </a:r>
            <a:r>
              <a:rPr lang="en-US" dirty="0"/>
              <a:t> </a:t>
            </a:r>
            <a:r>
              <a:rPr lang="en-US" dirty="0" err="1"/>
              <a:t>những</a:t>
            </a:r>
            <a:r>
              <a:rPr lang="en-US" dirty="0"/>
              <a:t> </a:t>
            </a:r>
            <a:r>
              <a:rPr lang="en-US" dirty="0" err="1"/>
              <a:t>vấn</a:t>
            </a:r>
            <a:r>
              <a:rPr lang="en-US" dirty="0"/>
              <a:t> </a:t>
            </a:r>
            <a:r>
              <a:rPr lang="en-US" dirty="0" err="1"/>
              <a:t>đề</a:t>
            </a:r>
            <a:r>
              <a:rPr lang="en-US" dirty="0"/>
              <a:t> </a:t>
            </a:r>
            <a:r>
              <a:rPr lang="en-US" dirty="0" err="1"/>
              <a:t>cốt</a:t>
            </a:r>
            <a:r>
              <a:rPr lang="en-US" dirty="0"/>
              <a:t> </a:t>
            </a:r>
            <a:r>
              <a:rPr lang="en-US" dirty="0" err="1"/>
              <a:t>lõi</a:t>
            </a:r>
            <a:r>
              <a:rPr lang="en-US" dirty="0"/>
              <a:t> </a:t>
            </a:r>
            <a:r>
              <a:rPr lang="en-US" dirty="0" err="1"/>
              <a:t>này</a:t>
            </a:r>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Mục</a:t>
            </a:r>
            <a:r>
              <a:rPr lang="en-US" dirty="0"/>
              <a:t> </a:t>
            </a:r>
            <a:r>
              <a:rPr lang="en-US" dirty="0" err="1"/>
              <a:t>tiêu</a:t>
            </a:r>
            <a:r>
              <a:rPr lang="en-US" dirty="0"/>
              <a:t> </a:t>
            </a:r>
            <a:r>
              <a:rPr lang="en-US" dirty="0" err="1"/>
              <a:t>của</a:t>
            </a:r>
            <a:r>
              <a:rPr lang="en-US" dirty="0"/>
              <a:t> </a:t>
            </a:r>
            <a:r>
              <a:rPr lang="en-US" dirty="0" err="1"/>
              <a:t>luận</a:t>
            </a:r>
            <a:r>
              <a:rPr lang="en-US" dirty="0"/>
              <a:t> </a:t>
            </a:r>
            <a:r>
              <a:rPr lang="en-US" dirty="0" err="1"/>
              <a:t>án</a:t>
            </a:r>
            <a:r>
              <a:rPr lang="en-US" dirty="0"/>
              <a:t> </a:t>
            </a:r>
            <a:r>
              <a:rPr lang="en-US" dirty="0" err="1"/>
              <a:t>này</a:t>
            </a:r>
            <a:r>
              <a:rPr lang="en-US" dirty="0"/>
              <a:t> </a:t>
            </a:r>
            <a:r>
              <a:rPr lang="en-US" dirty="0" err="1"/>
              <a:t>không</a:t>
            </a:r>
            <a:r>
              <a:rPr lang="en-US" dirty="0"/>
              <a:t> </a:t>
            </a:r>
            <a:r>
              <a:rPr lang="en-US" dirty="0" err="1"/>
              <a:t>chỉ</a:t>
            </a:r>
            <a:r>
              <a:rPr lang="en-US" dirty="0"/>
              <a:t> </a:t>
            </a:r>
            <a:r>
              <a:rPr lang="en-US" dirty="0" err="1"/>
              <a:t>là</a:t>
            </a:r>
            <a:r>
              <a:rPr lang="en-US" dirty="0"/>
              <a:t> </a:t>
            </a:r>
            <a:r>
              <a:rPr lang="en-US" dirty="0" err="1"/>
              <a:t>nâng</a:t>
            </a:r>
            <a:r>
              <a:rPr lang="en-US" dirty="0"/>
              <a:t> </a:t>
            </a:r>
            <a:r>
              <a:rPr lang="en-US" dirty="0" err="1"/>
              <a:t>cao</a:t>
            </a:r>
            <a:r>
              <a:rPr lang="en-US" dirty="0"/>
              <a:t> </a:t>
            </a:r>
            <a:r>
              <a:rPr lang="en-US" dirty="0" err="1"/>
              <a:t>độ</a:t>
            </a:r>
            <a:r>
              <a:rPr lang="en-US" dirty="0"/>
              <a:t> </a:t>
            </a:r>
            <a:r>
              <a:rPr lang="en-US" dirty="0" err="1"/>
              <a:t>chính</a:t>
            </a:r>
            <a:r>
              <a:rPr lang="en-US" dirty="0"/>
              <a:t> </a:t>
            </a:r>
            <a:r>
              <a:rPr lang="en-US" dirty="0" err="1"/>
              <a:t>xác</a:t>
            </a:r>
            <a:r>
              <a:rPr lang="en-US" dirty="0"/>
              <a:t> </a:t>
            </a:r>
            <a:r>
              <a:rPr lang="en-US" dirty="0" err="1"/>
              <a:t>của</a:t>
            </a:r>
            <a:r>
              <a:rPr lang="en-US" dirty="0"/>
              <a:t> </a:t>
            </a:r>
            <a:r>
              <a:rPr lang="en-US" dirty="0" err="1"/>
              <a:t>dự</a:t>
            </a:r>
            <a:r>
              <a:rPr lang="en-US" dirty="0"/>
              <a:t> </a:t>
            </a:r>
            <a:r>
              <a:rPr lang="en-US" dirty="0" err="1"/>
              <a:t>đoán</a:t>
            </a:r>
            <a:r>
              <a:rPr lang="en-US" dirty="0"/>
              <a:t> </a:t>
            </a:r>
            <a:r>
              <a:rPr lang="en-US" dirty="0" err="1"/>
              <a:t>mà</a:t>
            </a:r>
            <a:r>
              <a:rPr lang="en-US" dirty="0"/>
              <a:t> </a:t>
            </a:r>
            <a:r>
              <a:rPr lang="en-US" dirty="0" err="1"/>
              <a:t>còn</a:t>
            </a:r>
            <a:r>
              <a:rPr lang="en-US" dirty="0"/>
              <a:t> </a:t>
            </a:r>
            <a:r>
              <a:rPr lang="en-US" dirty="0" err="1"/>
              <a:t>giúp</a:t>
            </a:r>
            <a:r>
              <a:rPr lang="en-US" dirty="0"/>
              <a:t> </a:t>
            </a:r>
            <a:r>
              <a:rPr lang="en-US" dirty="0" err="1"/>
              <a:t>các</a:t>
            </a:r>
            <a:r>
              <a:rPr lang="en-US" dirty="0"/>
              <a:t> </a:t>
            </a:r>
            <a:r>
              <a:rPr lang="en-US" dirty="0" err="1"/>
              <a:t>bên</a:t>
            </a:r>
            <a:r>
              <a:rPr lang="en-US" dirty="0"/>
              <a:t> </a:t>
            </a:r>
            <a:r>
              <a:rPr lang="en-US" dirty="0" err="1"/>
              <a:t>liên</a:t>
            </a:r>
            <a:r>
              <a:rPr lang="en-US" dirty="0"/>
              <a:t> </a:t>
            </a:r>
            <a:r>
              <a:rPr lang="en-US" dirty="0" err="1"/>
              <a:t>quan</a:t>
            </a:r>
            <a:r>
              <a:rPr lang="en-US" dirty="0"/>
              <a:t> </a:t>
            </a:r>
            <a:r>
              <a:rPr lang="en-US" dirty="0" err="1"/>
              <a:t>trong</a:t>
            </a:r>
            <a:r>
              <a:rPr lang="en-US" dirty="0"/>
              <a:t> </a:t>
            </a:r>
            <a:r>
              <a:rPr lang="en-US" dirty="0" err="1"/>
              <a:t>lĩnh</a:t>
            </a:r>
            <a:r>
              <a:rPr lang="en-US" dirty="0"/>
              <a:t> </a:t>
            </a:r>
            <a:r>
              <a:rPr lang="en-US" dirty="0" err="1"/>
              <a:t>vực</a:t>
            </a:r>
            <a:r>
              <a:rPr lang="en-US" dirty="0"/>
              <a:t> </a:t>
            </a:r>
            <a:r>
              <a:rPr lang="en-US" dirty="0" err="1"/>
              <a:t>tài</a:t>
            </a:r>
            <a:r>
              <a:rPr lang="en-US" dirty="0"/>
              <a:t> </a:t>
            </a:r>
            <a:r>
              <a:rPr lang="en-US" dirty="0" err="1"/>
              <a:t>chính</a:t>
            </a:r>
            <a:r>
              <a:rPr lang="en-US" dirty="0"/>
              <a:t> </a:t>
            </a:r>
            <a:r>
              <a:rPr lang="en-US" dirty="0" err="1"/>
              <a:t>dễ</a:t>
            </a:r>
            <a:r>
              <a:rPr lang="en-US" dirty="0"/>
              <a:t> </a:t>
            </a:r>
            <a:r>
              <a:rPr lang="en-US" dirty="0" err="1"/>
              <a:t>hiểu</a:t>
            </a:r>
            <a:r>
              <a:rPr lang="en-US" dirty="0"/>
              <a:t> </a:t>
            </a:r>
            <a:r>
              <a:rPr lang="en-US" dirty="0" err="1"/>
              <a:t>và</a:t>
            </a:r>
            <a:r>
              <a:rPr lang="en-US" dirty="0"/>
              <a:t> tin </a:t>
            </a:r>
            <a:r>
              <a:rPr lang="en-US" dirty="0" err="1"/>
              <a:t>cậy</a:t>
            </a:r>
            <a:r>
              <a:rPr lang="en-US" dirty="0"/>
              <a:t> </a:t>
            </a:r>
            <a:r>
              <a:rPr lang="en-US" dirty="0" err="1"/>
              <a:t>hơn</a:t>
            </a:r>
            <a:r>
              <a:rPr lang="en-US" dirty="0"/>
              <a:t> </a:t>
            </a:r>
            <a:r>
              <a:rPr lang="en-US" dirty="0" err="1"/>
              <a:t>khi</a:t>
            </a:r>
            <a:r>
              <a:rPr lang="en-US" dirty="0"/>
              <a:t> </a:t>
            </a:r>
            <a:r>
              <a:rPr lang="en-US" dirty="0" err="1"/>
              <a:t>đưa</a:t>
            </a:r>
            <a:r>
              <a:rPr lang="en-US" dirty="0"/>
              <a:t> </a:t>
            </a:r>
            <a:r>
              <a:rPr lang="en-US" dirty="0" err="1"/>
              <a:t>ra</a:t>
            </a:r>
            <a:r>
              <a:rPr lang="en-US" dirty="0"/>
              <a:t> </a:t>
            </a:r>
            <a:r>
              <a:rPr lang="en-US" dirty="0" err="1"/>
              <a:t>quyết</a:t>
            </a:r>
            <a:r>
              <a:rPr lang="en-US" dirty="0"/>
              <a:t> </a:t>
            </a:r>
            <a:r>
              <a:rPr lang="en-US" dirty="0" err="1"/>
              <a:t>định</a:t>
            </a:r>
            <a:r>
              <a:rPr lang="en-US" dirty="0"/>
              <a:t> </a:t>
            </a:r>
            <a:r>
              <a:rPr lang="en-US" dirty="0" err="1"/>
              <a:t>về</a:t>
            </a:r>
            <a:r>
              <a:rPr lang="en-US" dirty="0"/>
              <a:t> </a:t>
            </a:r>
            <a:r>
              <a:rPr lang="en-US" dirty="0" err="1"/>
              <a:t>mô</a:t>
            </a:r>
            <a:r>
              <a:rPr lang="en-US" dirty="0"/>
              <a:t> </a:t>
            </a:r>
            <a:r>
              <a:rPr lang="en-US" dirty="0" err="1"/>
              <a:t>hình</a:t>
            </a:r>
            <a:r>
              <a:rPr lang="en-US" dirty="0"/>
              <a:t>.</a:t>
            </a:r>
          </a:p>
          <a:p>
            <a:endParaRPr lang="en-US" dirty="0"/>
          </a:p>
          <a:p>
            <a:endParaRPr lang="en-US" dirty="0"/>
          </a:p>
          <a:p>
            <a:r>
              <a:rPr lang="en-US" dirty="0"/>
              <a:t>Ba </a:t>
            </a:r>
            <a:r>
              <a:rPr lang="en-US" dirty="0" err="1"/>
              <a:t>đóng</a:t>
            </a:r>
            <a:r>
              <a:rPr lang="en-US" dirty="0"/>
              <a:t> </a:t>
            </a:r>
            <a:r>
              <a:rPr lang="en-US" dirty="0" err="1"/>
              <a:t>góp</a:t>
            </a:r>
            <a:r>
              <a:rPr lang="en-US" dirty="0"/>
              <a:t> </a:t>
            </a:r>
            <a:r>
              <a:rPr lang="en-US" dirty="0" err="1"/>
              <a:t>cốt</a:t>
            </a:r>
            <a:r>
              <a:rPr lang="en-US" dirty="0"/>
              <a:t> </a:t>
            </a:r>
            <a:r>
              <a:rPr lang="en-US" dirty="0" err="1"/>
              <a:t>lõi</a:t>
            </a:r>
            <a:r>
              <a:rPr lang="en-US" dirty="0"/>
              <a:t> </a:t>
            </a:r>
            <a:r>
              <a:rPr lang="en-US" dirty="0" err="1"/>
              <a:t>định</a:t>
            </a:r>
            <a:r>
              <a:rPr lang="en-US" dirty="0"/>
              <a:t> </a:t>
            </a:r>
            <a:r>
              <a:rPr lang="en-US" dirty="0" err="1"/>
              <a:t>hình</a:t>
            </a:r>
            <a:r>
              <a:rPr lang="en-US" dirty="0"/>
              <a:t> </a:t>
            </a:r>
            <a:r>
              <a:rPr lang="en-US" dirty="0" err="1"/>
              <a:t>công</a:t>
            </a:r>
            <a:r>
              <a:rPr lang="en-US" dirty="0"/>
              <a:t> </a:t>
            </a:r>
            <a:r>
              <a:rPr lang="en-US" dirty="0" err="1"/>
              <a:t>trình</a:t>
            </a:r>
            <a:r>
              <a:rPr lang="en-US" dirty="0"/>
              <a:t>: </a:t>
            </a:r>
            <a:r>
              <a:rPr lang="en-US" dirty="0" err="1"/>
              <a:t>Thứ</a:t>
            </a:r>
            <a:r>
              <a:rPr lang="en-US" dirty="0"/>
              <a:t> </a:t>
            </a:r>
            <a:r>
              <a:rPr lang="en-US" dirty="0" err="1"/>
              <a:t>nhất</a:t>
            </a:r>
            <a:r>
              <a:rPr lang="en-US" dirty="0"/>
              <a:t>, </a:t>
            </a:r>
            <a:r>
              <a:rPr lang="en-US" dirty="0" err="1"/>
              <a:t>Đơn</a:t>
            </a:r>
            <a:r>
              <a:rPr lang="en-US" dirty="0"/>
              <a:t> </a:t>
            </a:r>
            <a:r>
              <a:rPr lang="en-US" dirty="0" err="1"/>
              <a:t>vị</a:t>
            </a:r>
            <a:r>
              <a:rPr lang="en-US" dirty="0"/>
              <a:t> </a:t>
            </a:r>
            <a:r>
              <a:rPr lang="en-US" dirty="0" err="1"/>
              <a:t>Lựa</a:t>
            </a:r>
            <a:r>
              <a:rPr lang="en-US" dirty="0"/>
              <a:t> </a:t>
            </a:r>
            <a:r>
              <a:rPr lang="en-US" dirty="0" err="1"/>
              <a:t>chọn</a:t>
            </a:r>
            <a:r>
              <a:rPr lang="en-US" dirty="0"/>
              <a:t> Văn </a:t>
            </a:r>
            <a:r>
              <a:rPr lang="en-US" dirty="0" err="1"/>
              <a:t>bản</a:t>
            </a:r>
            <a:r>
              <a:rPr lang="en-US" dirty="0"/>
              <a:t> </a:t>
            </a:r>
            <a:r>
              <a:rPr lang="en-US" dirty="0" err="1"/>
              <a:t>Nhân</a:t>
            </a:r>
            <a:r>
              <a:rPr lang="en-US" dirty="0"/>
              <a:t> </a:t>
            </a:r>
            <a:r>
              <a:rPr lang="en-US" dirty="0" err="1"/>
              <a:t>quả</a:t>
            </a:r>
            <a:r>
              <a:rPr lang="en-US" dirty="0"/>
              <a:t> (Ca-TSU), </a:t>
            </a:r>
            <a:r>
              <a:rPr lang="en-US" dirty="0" err="1"/>
              <a:t>giúp</a:t>
            </a:r>
            <a:r>
              <a:rPr lang="en-US" dirty="0"/>
              <a:t> </a:t>
            </a:r>
            <a:r>
              <a:rPr lang="en-US" dirty="0" err="1"/>
              <a:t>lọc</a:t>
            </a:r>
            <a:r>
              <a:rPr lang="en-US" dirty="0"/>
              <a:t> </a:t>
            </a:r>
            <a:r>
              <a:rPr lang="en-US" dirty="0" err="1"/>
              <a:t>bỏ</a:t>
            </a:r>
            <a:r>
              <a:rPr lang="en-US" dirty="0"/>
              <a:t> </a:t>
            </a:r>
            <a:r>
              <a:rPr lang="en-US" dirty="0" err="1"/>
              <a:t>những</a:t>
            </a:r>
            <a:r>
              <a:rPr lang="en-US" dirty="0"/>
              <a:t> tin </a:t>
            </a:r>
            <a:r>
              <a:rPr lang="en-US" dirty="0" err="1"/>
              <a:t>tức</a:t>
            </a:r>
            <a:r>
              <a:rPr lang="en-US" dirty="0"/>
              <a:t> </a:t>
            </a:r>
            <a:r>
              <a:rPr lang="en-US" dirty="0" err="1"/>
              <a:t>không</a:t>
            </a:r>
            <a:r>
              <a:rPr lang="en-US" dirty="0"/>
              <a:t> </a:t>
            </a:r>
            <a:r>
              <a:rPr lang="en-US" dirty="0" err="1"/>
              <a:t>có</a:t>
            </a:r>
            <a:r>
              <a:rPr lang="en-US" dirty="0"/>
              <a:t> </a:t>
            </a:r>
            <a:r>
              <a:rPr lang="en-US" dirty="0" err="1"/>
              <a:t>ảnh</a:t>
            </a:r>
            <a:r>
              <a:rPr lang="en-US" dirty="0"/>
              <a:t> </a:t>
            </a:r>
            <a:r>
              <a:rPr lang="en-US" dirty="0" err="1"/>
              <a:t>hưởng</a:t>
            </a:r>
            <a:r>
              <a:rPr lang="en-US" dirty="0"/>
              <a:t>. </a:t>
            </a:r>
            <a:r>
              <a:rPr lang="en-US" dirty="0" err="1"/>
              <a:t>Thứ</a:t>
            </a:r>
            <a:r>
              <a:rPr lang="en-US" dirty="0"/>
              <a:t> </a:t>
            </a:r>
            <a:r>
              <a:rPr lang="en-US" dirty="0" err="1"/>
              <a:t>hai</a:t>
            </a:r>
            <a:r>
              <a:rPr lang="en-US" dirty="0"/>
              <a:t>, </a:t>
            </a:r>
            <a:r>
              <a:rPr lang="en-US" dirty="0" err="1"/>
              <a:t>cấu</a:t>
            </a:r>
            <a:r>
              <a:rPr lang="en-US" dirty="0"/>
              <a:t> </a:t>
            </a:r>
            <a:r>
              <a:rPr lang="en-US" dirty="0" err="1"/>
              <a:t>trúc</a:t>
            </a:r>
            <a:r>
              <a:rPr lang="en-US" dirty="0"/>
              <a:t> </a:t>
            </a:r>
            <a:r>
              <a:rPr lang="en-US" dirty="0" err="1"/>
              <a:t>học</a:t>
            </a:r>
            <a:r>
              <a:rPr lang="en-US" dirty="0"/>
              <a:t> </a:t>
            </a:r>
            <a:r>
              <a:rPr lang="en-US" dirty="0" err="1"/>
              <a:t>tập</a:t>
            </a:r>
            <a:r>
              <a:rPr lang="en-US" dirty="0"/>
              <a:t> </a:t>
            </a:r>
            <a:r>
              <a:rPr lang="en-US" dirty="0" err="1"/>
              <a:t>Đường</a:t>
            </a:r>
            <a:r>
              <a:rPr lang="en-US" dirty="0"/>
              <a:t> </a:t>
            </a:r>
            <a:r>
              <a:rPr lang="en-US" dirty="0" err="1"/>
              <a:t>dẫn</a:t>
            </a:r>
            <a:r>
              <a:rPr lang="en-US" dirty="0"/>
              <a:t> </a:t>
            </a:r>
            <a:r>
              <a:rPr lang="en-US" dirty="0" err="1"/>
              <a:t>Kép</a:t>
            </a:r>
            <a:r>
              <a:rPr lang="en-US" dirty="0"/>
              <a:t> (Dual-Path) </a:t>
            </a:r>
            <a:r>
              <a:rPr lang="en-US" dirty="0" err="1"/>
              <a:t>giúp</a:t>
            </a:r>
            <a:r>
              <a:rPr lang="en-US" dirty="0"/>
              <a:t> </a:t>
            </a:r>
            <a:r>
              <a:rPr lang="en-US" dirty="0" err="1"/>
              <a:t>tách</a:t>
            </a:r>
            <a:r>
              <a:rPr lang="en-US" dirty="0"/>
              <a:t> </a:t>
            </a:r>
            <a:r>
              <a:rPr lang="en-US" dirty="0" err="1"/>
              <a:t>biệt</a:t>
            </a:r>
            <a:r>
              <a:rPr lang="en-US" dirty="0"/>
              <a:t> </a:t>
            </a:r>
            <a:r>
              <a:rPr lang="en-US" dirty="0" err="1"/>
              <a:t>mối</a:t>
            </a:r>
            <a:r>
              <a:rPr lang="en-US" dirty="0"/>
              <a:t> </a:t>
            </a:r>
            <a:r>
              <a:rPr lang="en-US" dirty="0" err="1"/>
              <a:t>quan</a:t>
            </a:r>
            <a:r>
              <a:rPr lang="en-US" dirty="0"/>
              <a:t> </a:t>
            </a:r>
            <a:r>
              <a:rPr lang="en-US" dirty="0" err="1"/>
              <a:t>hệ</a:t>
            </a:r>
            <a:r>
              <a:rPr lang="en-US" dirty="0"/>
              <a:t> </a:t>
            </a:r>
            <a:r>
              <a:rPr lang="en-US" dirty="0" err="1"/>
              <a:t>nhân</a:t>
            </a:r>
            <a:r>
              <a:rPr lang="en-US" dirty="0"/>
              <a:t> </a:t>
            </a:r>
            <a:r>
              <a:rPr lang="en-US" dirty="0" err="1"/>
              <a:t>quả</a:t>
            </a:r>
            <a:r>
              <a:rPr lang="en-US" dirty="0"/>
              <a:t> </a:t>
            </a:r>
            <a:r>
              <a:rPr lang="en-US" dirty="0" err="1"/>
              <a:t>khỏi</a:t>
            </a:r>
            <a:r>
              <a:rPr lang="en-US" dirty="0"/>
              <a:t> </a:t>
            </a:r>
            <a:r>
              <a:rPr lang="en-US" dirty="0" err="1"/>
              <a:t>sự</a:t>
            </a:r>
            <a:r>
              <a:rPr lang="en-US" dirty="0"/>
              <a:t> </a:t>
            </a:r>
            <a:r>
              <a:rPr lang="en-US" dirty="0" err="1"/>
              <a:t>phản</a:t>
            </a:r>
            <a:r>
              <a:rPr lang="en-US" dirty="0"/>
              <a:t> </a:t>
            </a:r>
            <a:r>
              <a:rPr lang="en-US" dirty="0" err="1"/>
              <a:t>ánh</a:t>
            </a:r>
            <a:r>
              <a:rPr lang="en-US" dirty="0"/>
              <a:t> </a:t>
            </a:r>
            <a:r>
              <a:rPr lang="en-US" dirty="0" err="1"/>
              <a:t>trong</a:t>
            </a:r>
            <a:r>
              <a:rPr lang="en-US" dirty="0"/>
              <a:t> </a:t>
            </a:r>
            <a:r>
              <a:rPr lang="en-US" dirty="0" err="1"/>
              <a:t>các</a:t>
            </a:r>
            <a:r>
              <a:rPr lang="en-US" dirty="0"/>
              <a:t> tin </a:t>
            </a:r>
            <a:r>
              <a:rPr lang="en-US" dirty="0" err="1"/>
              <a:t>tức</a:t>
            </a:r>
            <a:r>
              <a:rPr lang="en-US" dirty="0"/>
              <a:t> </a:t>
            </a:r>
            <a:r>
              <a:rPr lang="en-US" dirty="0" err="1"/>
              <a:t>thị</a:t>
            </a:r>
            <a:r>
              <a:rPr lang="en-US" dirty="0"/>
              <a:t> </a:t>
            </a:r>
            <a:r>
              <a:rPr lang="en-US" dirty="0" err="1"/>
              <a:t>trường</a:t>
            </a:r>
            <a:r>
              <a:rPr lang="en-US" dirty="0"/>
              <a:t>. </a:t>
            </a:r>
            <a:r>
              <a:rPr lang="en-US" dirty="0" err="1"/>
              <a:t>Và</a:t>
            </a:r>
            <a:r>
              <a:rPr lang="en-US" dirty="0"/>
              <a:t> </a:t>
            </a:r>
            <a:r>
              <a:rPr lang="en-US" dirty="0" err="1"/>
              <a:t>cuối</a:t>
            </a:r>
            <a:r>
              <a:rPr lang="en-US" dirty="0"/>
              <a:t> </a:t>
            </a:r>
            <a:r>
              <a:rPr lang="en-US" dirty="0" err="1"/>
              <a:t>cùng</a:t>
            </a:r>
            <a:r>
              <a:rPr lang="en-US" dirty="0"/>
              <a:t>, </a:t>
            </a:r>
            <a:r>
              <a:rPr lang="en-US" dirty="0" err="1"/>
              <a:t>Cơ</a:t>
            </a:r>
            <a:r>
              <a:rPr lang="en-US" dirty="0"/>
              <a:t> </a:t>
            </a:r>
            <a:r>
              <a:rPr lang="en-US" dirty="0" err="1"/>
              <a:t>chế</a:t>
            </a:r>
            <a:r>
              <a:rPr lang="en-US" dirty="0"/>
              <a:t> </a:t>
            </a:r>
            <a:r>
              <a:rPr lang="en-US" dirty="0" err="1"/>
              <a:t>Hợp</a:t>
            </a:r>
            <a:r>
              <a:rPr lang="en-US" dirty="0"/>
              <a:t> </a:t>
            </a:r>
            <a:r>
              <a:rPr lang="en-US" dirty="0" err="1"/>
              <a:t>nhất</a:t>
            </a:r>
            <a:r>
              <a:rPr lang="en-US" dirty="0"/>
              <a:t> </a:t>
            </a:r>
            <a:r>
              <a:rPr lang="en-US" dirty="0" err="1"/>
              <a:t>Nhận</a:t>
            </a:r>
            <a:r>
              <a:rPr lang="en-US" dirty="0"/>
              <a:t> </a:t>
            </a:r>
            <a:r>
              <a:rPr lang="en-US" dirty="0" err="1"/>
              <a:t>thức</a:t>
            </a:r>
            <a:r>
              <a:rPr lang="en-US" dirty="0"/>
              <a:t> </a:t>
            </a:r>
            <a:r>
              <a:rPr lang="en-US" dirty="0" err="1"/>
              <a:t>Biến</a:t>
            </a:r>
            <a:r>
              <a:rPr lang="en-US" dirty="0"/>
              <a:t> </a:t>
            </a:r>
            <a:r>
              <a:rPr lang="en-US" dirty="0" err="1"/>
              <a:t>động</a:t>
            </a:r>
            <a:r>
              <a:rPr lang="en-US" dirty="0"/>
              <a:t> (Volatility-Aware Fusion Mechanics) </a:t>
            </a:r>
            <a:r>
              <a:rPr lang="en-US" dirty="0" err="1"/>
              <a:t>để</a:t>
            </a:r>
            <a:r>
              <a:rPr lang="en-US" dirty="0"/>
              <a:t> </a:t>
            </a:r>
            <a:r>
              <a:rPr lang="en-US" dirty="0" err="1"/>
              <a:t>điều</a:t>
            </a:r>
            <a:r>
              <a:rPr lang="en-US" dirty="0"/>
              <a:t> </a:t>
            </a:r>
            <a:r>
              <a:rPr lang="en-US" dirty="0" err="1"/>
              <a:t>chỉnh</a:t>
            </a:r>
            <a:r>
              <a:rPr lang="en-US" dirty="0"/>
              <a:t> </a:t>
            </a:r>
            <a:r>
              <a:rPr lang="en-US" dirty="0" err="1"/>
              <a:t>hành</a:t>
            </a:r>
            <a:r>
              <a:rPr lang="en-US" dirty="0"/>
              <a:t> vi </a:t>
            </a:r>
            <a:r>
              <a:rPr lang="en-US" dirty="0" err="1"/>
              <a:t>của</a:t>
            </a:r>
            <a:r>
              <a:rPr lang="en-US" dirty="0"/>
              <a:t> </a:t>
            </a:r>
            <a:r>
              <a:rPr lang="en-US" dirty="0" err="1"/>
              <a:t>mô</a:t>
            </a:r>
            <a:r>
              <a:rPr lang="en-US" dirty="0"/>
              <a:t> </a:t>
            </a:r>
            <a:r>
              <a:rPr lang="en-US" dirty="0" err="1"/>
              <a:t>hình</a:t>
            </a:r>
            <a:r>
              <a:rPr lang="en-US" dirty="0"/>
              <a:t> </a:t>
            </a:r>
            <a:r>
              <a:rPr lang="en-US" dirty="0" err="1"/>
              <a:t>trong</a:t>
            </a:r>
            <a:r>
              <a:rPr lang="en-US" dirty="0"/>
              <a:t> </a:t>
            </a:r>
            <a:r>
              <a:rPr lang="en-US" dirty="0" err="1"/>
              <a:t>các</a:t>
            </a:r>
            <a:r>
              <a:rPr lang="en-US" dirty="0"/>
              <a:t> </a:t>
            </a:r>
            <a:r>
              <a:rPr lang="en-US" dirty="0" err="1"/>
              <a:t>giai</a:t>
            </a:r>
            <a:r>
              <a:rPr lang="en-US" dirty="0"/>
              <a:t> </a:t>
            </a:r>
            <a:r>
              <a:rPr lang="en-US" dirty="0" err="1"/>
              <a:t>đoạn</a:t>
            </a:r>
            <a:r>
              <a:rPr lang="en-US" dirty="0"/>
              <a:t> </a:t>
            </a:r>
            <a:r>
              <a:rPr lang="en-US" dirty="0" err="1"/>
              <a:t>rủi</a:t>
            </a:r>
            <a:r>
              <a:rPr lang="en-US" dirty="0"/>
              <a:t> </a:t>
            </a:r>
            <a:r>
              <a:rPr lang="en-US" dirty="0" err="1"/>
              <a:t>ro</a:t>
            </a:r>
            <a:r>
              <a:rPr lang="en-US" dirty="0"/>
              <a:t> </a:t>
            </a:r>
            <a:r>
              <a:rPr lang="en-US" dirty="0" err="1"/>
              <a:t>cao</a:t>
            </a:r>
            <a:r>
              <a:rPr lang="en-US" dirty="0"/>
              <a:t>. </a:t>
            </a:r>
            <a:r>
              <a:rPr lang="en-US" dirty="0" err="1"/>
              <a:t>Mỗi</a:t>
            </a:r>
            <a:r>
              <a:rPr lang="en-US" dirty="0"/>
              <a:t> </a:t>
            </a:r>
            <a:r>
              <a:rPr lang="en-US" dirty="0" err="1"/>
              <a:t>cải</a:t>
            </a:r>
            <a:r>
              <a:rPr lang="en-US" dirty="0"/>
              <a:t> </a:t>
            </a:r>
            <a:r>
              <a:rPr lang="en-US" dirty="0" err="1"/>
              <a:t>tiến</a:t>
            </a:r>
            <a:r>
              <a:rPr lang="en-US" dirty="0"/>
              <a:t> </a:t>
            </a:r>
            <a:r>
              <a:rPr lang="en-US" dirty="0" err="1"/>
              <a:t>này</a:t>
            </a:r>
            <a:r>
              <a:rPr lang="en-US" dirty="0"/>
              <a:t> </a:t>
            </a:r>
            <a:r>
              <a:rPr lang="en-US" dirty="0" err="1"/>
              <a:t>đều</a:t>
            </a:r>
            <a:r>
              <a:rPr lang="en-US" dirty="0"/>
              <a:t> </a:t>
            </a:r>
            <a:r>
              <a:rPr lang="en-US" dirty="0" err="1"/>
              <a:t>hướng</a:t>
            </a:r>
            <a:r>
              <a:rPr lang="en-US" dirty="0"/>
              <a:t> </a:t>
            </a:r>
            <a:r>
              <a:rPr lang="en-US" dirty="0" err="1"/>
              <a:t>đến</a:t>
            </a:r>
            <a:r>
              <a:rPr lang="en-US" dirty="0"/>
              <a:t> </a:t>
            </a:r>
            <a:r>
              <a:rPr lang="en-US" dirty="0" err="1"/>
              <a:t>việc</a:t>
            </a:r>
            <a:r>
              <a:rPr lang="en-US" dirty="0"/>
              <a:t> </a:t>
            </a:r>
            <a:r>
              <a:rPr lang="en-US" dirty="0" err="1"/>
              <a:t>thu</a:t>
            </a:r>
            <a:r>
              <a:rPr lang="en-US" dirty="0"/>
              <a:t> </a:t>
            </a:r>
            <a:r>
              <a:rPr lang="en-US" dirty="0" err="1"/>
              <a:t>hẹp</a:t>
            </a:r>
            <a:r>
              <a:rPr lang="en-US" dirty="0"/>
              <a:t> </a:t>
            </a:r>
            <a:r>
              <a:rPr lang="en-US" dirty="0" err="1"/>
              <a:t>khoảng</a:t>
            </a:r>
            <a:r>
              <a:rPr lang="en-US" dirty="0"/>
              <a:t> </a:t>
            </a:r>
            <a:r>
              <a:rPr lang="en-US" dirty="0" err="1"/>
              <a:t>cách</a:t>
            </a:r>
            <a:r>
              <a:rPr lang="en-US" dirty="0"/>
              <a:t> </a:t>
            </a:r>
            <a:r>
              <a:rPr lang="en-US" dirty="0" err="1"/>
              <a:t>giữa</a:t>
            </a:r>
            <a:r>
              <a:rPr lang="en-US" dirty="0"/>
              <a:t> </a:t>
            </a:r>
            <a:r>
              <a:rPr lang="en-US" dirty="0" err="1"/>
              <a:t>độ</a:t>
            </a:r>
            <a:r>
              <a:rPr lang="en-US" dirty="0"/>
              <a:t> </a:t>
            </a:r>
            <a:r>
              <a:rPr lang="en-US" dirty="0" err="1"/>
              <a:t>chính</a:t>
            </a:r>
            <a:r>
              <a:rPr lang="en-US" dirty="0"/>
              <a:t> </a:t>
            </a:r>
            <a:r>
              <a:rPr lang="en-US" dirty="0" err="1"/>
              <a:t>xác</a:t>
            </a:r>
            <a:r>
              <a:rPr lang="en-US" dirty="0"/>
              <a:t> </a:t>
            </a:r>
            <a:r>
              <a:rPr lang="en-US" dirty="0" err="1"/>
              <a:t>và</a:t>
            </a:r>
            <a:r>
              <a:rPr lang="en-US" dirty="0"/>
              <a:t> </a:t>
            </a:r>
            <a:r>
              <a:rPr lang="en-US" dirty="0" err="1"/>
              <a:t>tính</a:t>
            </a:r>
            <a:r>
              <a:rPr lang="en-US" dirty="0"/>
              <a:t> </a:t>
            </a:r>
            <a:r>
              <a:rPr lang="en-US" dirty="0" err="1"/>
              <a:t>minh</a:t>
            </a:r>
            <a:r>
              <a:rPr lang="en-US" dirty="0"/>
              <a:t> </a:t>
            </a:r>
            <a:r>
              <a:rPr lang="en-US" dirty="0" err="1"/>
              <a:t>bạch</a:t>
            </a:r>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Dự báo thị trường tài chính đã phát triển từ các mô hình thống kê đơn giản sang các hệ thống phức tạp dựa trên dữ liệu. Các phương pháp truyền thống như ARIMA hoặc mô hình trung bình động tập trung vào các mô hình giá lịch sử và giả định thị trường hoạt động theo kiểu tuyến tính, dừng.</a:t>
            </a:r>
          </a:p>
          <a:p>
            <a:endParaRPr lang="en-US"/>
          </a:p>
          <a:p>
            <a:r>
              <a:rPr lang="en-US"/>
              <a:t>Tuy nhiên, hành vi thị trường vốn dĩ mang tính ngẫu nhiên và phi tuyến tính. Việc áp dụng học máy - đặc biệt là LSTM và Transformer - đã cho phép các mô hình phát hiện các phụ thuộc thời gian phức tạp trong các chuỗi tài chính.</a:t>
            </a:r>
          </a:p>
          <a:p>
            <a:endParaRPr lang="en-US"/>
          </a:p>
          <a:p>
            <a:r>
              <a:rPr lang="en-US"/>
              <a:t>Ngoài dữ liệu số, các phương pháp tiếp cận hiện đại ngày càng tích hợp các nguồn bên ngoài phi cấu trúc, chẳng hạn như tin tức tài chính, tín hiệu mạng xã hội và các sự kiện địa chính trị. Việc tích hợp này cho phép có các tập hợp tính năng phong phú hơn và khả năng dự báo thích ứng và dự đoán tốt hơn, phù hợp với chủ đề cốt lõi của luận án này.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Việc kết hợp dữ liệu tin tức vào các mô hình dự đoán cổ phiếu mở ra một tầng thông tin thị trường quan trọng - tâm lý và bối cảnh dựa trên sự kiện.</a:t>
            </a:r>
          </a:p>
          <a:p>
            <a:endParaRPr lang="en-US"/>
          </a:p>
          <a:p>
            <a:r>
              <a:rPr lang="en-US"/>
              <a:t>Các bài báo, tweet tài chính và thông báo pháp lý thường chứa đựng thông tin giá trị mà các nhà đầu tư phản ứng ngay cả trước khi giá biến động. Các kỹ thuật NLP như phân tích tâm lý và nhận dạng thực thể cho phép chúng ta trích xuất các tín hiệu định lượng từ văn bản phi cấu trúc này.</a:t>
            </a:r>
          </a:p>
          <a:p>
            <a:endParaRPr lang="en-US"/>
          </a:p>
          <a:p>
            <a:r>
              <a:rPr lang="en-US"/>
              <a:t>Những tín hiệu này có thể nắm bắt được sự kỳ vọng hoặc lo lắng trên thị trường liên quan đến các thay đổi chính sách, báo cáo thu nhập hoặc các biến động địa chính trị. Bằng cách tích hợp các tính năng như vậy vào các mô hình dự đoán, chúng ta có thể đạt được những dự đoán kịp thời và sáng suốt hơn, giảm thiểu những điểm mù thường gặp trong các phương pháp tiếp cận chỉ dựa vào giá.</a:t>
            </a:r>
          </a:p>
          <a:p>
            <a:endParaRPr lang="en-US"/>
          </a:p>
          <a:p>
            <a:r>
              <a:rPr lang="en-US"/>
              <a:t>Hình trên thể hiện lịch sử của NLP model, trong đó generative model được cho là tiềm năng cho việc dự đoán chứng khoán . Chúng vượt trội trong việc xử lý sự biến động vốn có của thị trường chứng khoán bằng cách mô hình hóa phân phối dữ liệu, giúp tạo ra các kịch bản có thể xảy ra trong tương lai. Khả năng này đặc biệt hữu ích cho việc tích hợp nhiều loại dữ liệu khác nhau, chẳng hạn như giá lịch sử và tâm lý thị trường, từ đó có khả năng đưa ra những dự đoán chính xác hơn.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Các mô hình sinh đã cách mạng hóa mô hình tài chính bằng cách cho phép các hệ thống AI không chỉ học hỏi từ dữ liệu mà còn tự tạo ra dữ liệu. Hai kiến trúc hàng đầu là GAN và VAE.</a:t>
            </a:r>
          </a:p>
          <a:p>
            <a:endParaRPr lang="en-US"/>
          </a:p>
          <a:p>
            <a:r>
              <a:rPr lang="en-US"/>
              <a:t>GAN bao gồm một bộ tạo và một bộ phân biệt trong trò chơi minimax. Trong tài chính, chúng tạo ra các chuỗi giá tổng hợp mô phỏng hành vi thị trường thực tế. Điều này rất hữu ích cho việc kiểm tra căng thẳng, mô phỏng rủi ro hoặc tăng cường các tập dữ liệu thưa thớt.</a:t>
            </a:r>
          </a:p>
          <a:p>
            <a:endParaRPr lang="en-US"/>
          </a:p>
          <a:p>
            <a:r>
              <a:rPr lang="en-US"/>
              <a:t>Ngược lại, VAE mã hóa dữ liệu thị trường thành các không gian xác suất tiềm ẩn và tái cấu trúc nó. Chúng đặc biệt hữu ích trong việc nắm bắt các phân phối cơ bản và phát hiện các điểm bất thường. Thị trường tài chính vốn dĩ mang tính ngẫu nhiên, với giá cả bị ảnh hưởng bởi các yếu tố không thể đoán trước như tin tức hoặc tâm lý nhà đầu tư. Các mô hình như VAE, cung cấp biểu diễn xác suất, có thể mô hình hóa sự bất định này, đưa ra dự đoán với khoảng tin cậy liên quan, rất có giá trị cho việc đánh giá rủi ro</a:t>
            </a:r>
          </a:p>
          <a:p>
            <a:endParaRPr lang="en-US"/>
          </a:p>
          <a:p>
            <a:r>
              <a:rPr lang="en-US"/>
              <a:t>Cả hai phương pháp đều cung cấp các công cụ mạnh mẽ để biểu diễn và mô phỏng các hệ thống tài chính phức tạp, đặt nền tảng cho các mô hình dự báo có thể giải thích được thảo luận trong luận án này.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Ngoài ra, Khi học máy trở thành trọng tâm trong mô hình tài chính, khả năng giải thích dần trở nên quan trọng hơn. Các quyết định tài chính tác động đến danh mục đầu tư, rủi ro và nhiều yêu cầu khác. Do đó, các bên liên quan không chỉ yêu cầu tính chính xác mà còn yêu cầu sự rõ ràng về cách các mô hình đưa ra dự đoán. AI có thể giải thích (XAI) mang lại sự minh bạch này .</a:t>
            </a:r>
          </a:p>
          <a:p>
            <a:endParaRPr lang="en-US"/>
          </a:p>
          <a:p>
            <a:r>
              <a:rPr lang="en-US"/>
              <a:t>Các kỹ thuật như LIME, SHAP,  gán điểm quan trọng cho các yếu tố đầu vào, trong khi các mô hình attention-based và LLMs làm nổi bật những đặc điểm nào ảnh hưởng đến kết quả. Những cơ chế này mở ra "hộp đen" của học sâu, giúp các quyết định trở nên dễ hiểu.</a:t>
            </a:r>
          </a:p>
          <a:p>
            <a:endParaRPr lang="en-US"/>
          </a:p>
          <a:p>
            <a:r>
              <a:rPr lang="en-US"/>
              <a:t>Không chỉ là một thước đo về tính tuân thủ, khả năng giải thích còn thúc đẩy niềm tin. Các nhà phân tích và nhà đầu tư có thể xác thực các quyết định, phát hiện sai lệch và tinh chỉnh các chiến lược. Luận án này tích hợp XAI trực tiếp vào kiến trúc của nó, không phải như một ý tưởng phụ mà là một mục tiêu thiết kế cốt lõi.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Để minh họa cho XAI, chúng ta có 2 ví dụ sau</a:t>
            </a:r>
          </a:p>
          <a:p>
            <a:endParaRPr lang="en-US"/>
          </a:p>
          <a:p>
            <a:r>
              <a:rPr lang="en-US"/>
              <a:t>Ở ví dụ bên trái, chúng ta có thể thấy một nghiên cứu đề xuất mô hình sử dụng ngôn ngữ tự nhiên để phân tích tác động của các thông tin thực tế lên giá cổ phiếu AAPL. Mô hình không chỉ đưa ra dự đoán về chiều hướng biến động – tăng hay giảm – mà còn cung cấp giải thích ngắn gọn cho lý do đằng sau dự đoán đó. Điều này giúp tăng tính minh bạch và đáng tin cậy khi áp dụng vào giao dịch thực tế.</a:t>
            </a:r>
          </a:p>
          <a:p>
            <a:endParaRPr lang="en-US"/>
          </a:p>
          <a:p>
            <a:r>
              <a:rPr lang="en-US"/>
              <a:t>Phía bên phải là ví dụ về phân tích các yếu tố ảnh hưởng đến giá cổ phiếu ở cả thị trường Mỹ (Apple, Tesla) và thị trường Trung Quốc. Các yếu tố như đầu tư mở rộng, chính sách chính phủ, và tin tức tiêu cực đều được mô hình hóa để dự đoán biến động giá kèm theo phần giải thích rõ ràng.</a:t>
            </a:r>
          </a:p>
          <a:p>
            <a:endParaRPr lang="en-US"/>
          </a:p>
          <a:p>
            <a:r>
              <a:rPr lang="en-US"/>
              <a:t>Hai nghiên cứu được trích dẫn ở đây thể hiện xu hướng kết hợp mô hình ngôn ngữ lớn (LLMs) với dữ liệu thị trường tài chính, hướng đến mục tiêu không chỉ dự đoán chính xác mà còn giải thích được quyết định của mô hình – một yêu cầu ngày càng quan trọng trong các hệ thống AI tài chính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Bên trái là kiến trúc tổng quan: PEN (Prediction-Explanation Network) là mô hình dự đoán biến động giá cổ phiếu kết hợp cả tin tức và dữ liệu giá, đồng thời cung cấp khả năng giải thích rõ ràng. Mô hình gồm 4 thành phần chính:</a:t>
            </a:r>
          </a:p>
          <a:p>
            <a:endParaRPr lang="en-US"/>
          </a:p>
          <a:p>
            <a:r>
              <a:rPr lang="en-US"/>
              <a:t>(1) Text Embedding Layer (TEL): dùng Bi-GRU để biến văn bản mỗi ngày thành vector đặc trưng.</a:t>
            </a:r>
          </a:p>
          <a:p>
            <a:r>
              <a:rPr lang="en-US"/>
              <a:t>(2) Shared Representation Learning (SRL) – trung tâm mô hình – gồm ba đơn vị:</a:t>
            </a:r>
          </a:p>
          <a:p>
            <a:endParaRPr lang="en-US"/>
          </a:p>
          <a:p>
            <a:r>
              <a:rPr lang="en-US"/>
              <a:t>TSU chọn lọc tin tức quan trọng (tạo Vector of Salience),</a:t>
            </a:r>
          </a:p>
          <a:p>
            <a:endParaRPr lang="en-US"/>
          </a:p>
          <a:p>
            <a:r>
              <a:rPr lang="en-US"/>
              <a:t>TMU lưu trữ thông tin văn bản theo thời gian,</a:t>
            </a:r>
          </a:p>
          <a:p>
            <a:endParaRPr lang="en-US"/>
          </a:p>
          <a:p>
            <a:r>
              <a:rPr lang="en-US"/>
              <a:t>IFU kết hợp văn bản và giá để tạo biểu diễn chung ht.</a:t>
            </a:r>
          </a:p>
          <a:p>
            <a:r>
              <a:rPr lang="en-US"/>
              <a:t>(3) Deep Recurrent Generation (DRG) dùng VAE để sinh biến tiềm ẩn zt và dự đoán hướng biến động.</a:t>
            </a:r>
          </a:p>
          <a:p>
            <a:r>
              <a:rPr lang="en-US"/>
              <a:t>(4) Temporal Attention Prediction (TAP) tổng hợp dự đoán qua nhiều ngày bằng attention theo thời gian.</a:t>
            </a:r>
          </a:p>
          <a:p>
            <a:endParaRPr lang="en-US"/>
          </a:p>
          <a:p>
            <a:r>
              <a:rPr lang="en-US"/>
              <a:t>VoS không chỉ giúp mô hình tập trung vào tin tức quan trọng mà còn cung cấp giải thích rõ ràng cho từng dự đoán.</a:t>
            </a:r>
          </a:p>
          <a:p>
            <a:endParaRPr lang="en-US"/>
          </a:p>
          <a:p>
            <a:r>
              <a:rPr lang="en-US"/>
              <a:t>Điểm nổi bật của mô hình này là cơ chế lọc văn bản thông minh, sinh ra vector VoS</a:t>
            </a:r>
          </a:p>
          <a:p>
            <a:r>
              <a:rPr lang="en-US"/>
              <a:t> giúp mô hình chú ý đúng vào lý do thật sự dẫn đến biến động giá — thứ mà mô hình trước đó không làm được, tạo nên sự cân bằng giữa hiệu quả dự đoán và khả năng giải thích – điều rất cần thiết khi áp dụng AI vào các lĩnh vực tài chính nhạy cảm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Tuy nhiên trong quá trình tìm hiểu, em nhận ra mô hình PEN này có 1 vài điểm hạn chế như sau</a:t>
            </a:r>
          </a:p>
          <a:p>
            <a:r>
              <a:rPr lang="en-US"/>
              <a:t>Đầu tiên, Vector of Salience (VoS) hiện tại chỉ học từ tương quan giữa embedding văn bản &amp; giá. Những văn bản “có vẻ giống” các văn bản từng ảnh hưởng giá vẫn có thể bị gán trọng số cao, dù không phải nguyên nhân thật sự.</a:t>
            </a:r>
          </a:p>
          <a:p>
            <a:endParaRPr lang="en-US"/>
          </a:p>
          <a:p>
            <a:r>
              <a:rPr lang="en-US"/>
              <a:t>SRL hiện tại chỉ học shared representation giữa embedding văn bản &amp; giá. Nhưng Có văn bản gây ảnh hưởng giá (causal)</a:t>
            </a:r>
          </a:p>
          <a:p>
            <a:r>
              <a:rPr lang="en-US"/>
              <a:t>, Có văn bản chỉ phản ánh hậu quả (responsive) → cũng có embedding tương quan cao nhưng không hữu ích để dự đoán.</a:t>
            </a:r>
          </a:p>
          <a:p>
            <a:endParaRPr lang="en-US"/>
          </a:p>
          <a:p>
            <a:r>
              <a:rPr lang="en-US"/>
              <a:t>Cuối cùng, mô hình đang thiếu sự ổn định khi thiếu một cơ chế lọc khi thị trường biến động mạnh.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Cốt lõi của luận án này là kiến trúc CDP-PEN mới - Mạng lưới Dự đoán-Giải thích Nhân quả và Đường dẫn Kép. Mô hình này giải quyết thách thức trong việc tích hợp dữ liệu tin tức phi cấu trúc vào dự đoán tài chính mà vẫn duy trì khả năng diễn giải và độ tin cậy.</a:t>
            </a:r>
          </a:p>
          <a:p>
            <a:endParaRPr lang="en-US"/>
          </a:p>
          <a:p>
            <a:r>
              <a:rPr lang="en-US"/>
              <a:t>Đầu tiên, Đơn vị Chọn Văn bản Nhân quả (Ca-TSU) cô lập các văn bản tin tức có khả năng ảnh hưởng đến hành vi thị trường, lọc bỏ nội dung mô tả hoặc phản ứng gây nhiễu. Điều này cho phép mô hình tập trung vào các tín hiệu chủ động.</a:t>
            </a:r>
          </a:p>
          <a:p>
            <a:endParaRPr lang="en-US"/>
          </a:p>
          <a:p>
            <a:r>
              <a:rPr lang="en-US"/>
              <a:t>Tiếp theo, mô-đun Học Biểu diễn Chia sẻ Đường dẫn Kép (DP-SRL) phân tách rõ ràng các đường dẫn nhân quả và phản ứng - điều này cho phép mô hình nắm bắt cả động lực dự đoán và phản ánh của hành vi thị trường.</a:t>
            </a:r>
          </a:p>
          <a:p>
            <a:endParaRPr lang="en-US"/>
          </a:p>
          <a:p>
            <a:r>
              <a:rPr lang="en-US"/>
              <a:t>Cuối cùng, cơ chế Hợp nhất Nhận thức Biến động sử dụng các điều kiện thị trường để điều chỉnh mức độ liên quan của từng nguồn dữ liệu. Nó đảm bảo rằng trong các giai đoạn biến động cao, dữ liệu có tác động sẽ được chú trọng hơn, cải thiện cả tính ổn định và hiểu biết sâu sắc.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Kết quả thí nghiệm cho thấy các framework đề xuất đều thể hiện tốt hơn từ 2-3% so với mô hình gốc, cho thấy tiềm năng phát triển và ứng dụng thực tiễn.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Ý tưởng: xây attention head chuyên để đo khả năng “là nguyên nhân”</a:t>
            </a:r>
          </a:p>
          <a:p>
            <a:endParaRPr lang="en-US"/>
          </a:p>
          <a:p>
            <a:r>
              <a:rPr lang="en-US"/>
              <a:t>tanh giúp "chuẩn hóa" và làm mượt (squash) đầu vào kᵢ + b vào khoảng (–1, 1). Điều này giúp:</a:t>
            </a:r>
          </a:p>
          <a:p>
            <a:endParaRPr lang="en-US"/>
          </a:p>
          <a:p>
            <a:r>
              <a:rPr lang="en-US"/>
              <a:t>Giảm nguy cơ exploding gradient khi qᵢ và kᵢ có giá trị lớn</a:t>
            </a:r>
          </a:p>
          <a:p>
            <a:endParaRPr lang="en-US"/>
          </a:p>
          <a:p>
            <a:r>
              <a:rPr lang="en-US"/>
              <a:t>Giới hạn ảnh hưởng của các giá trị bất thường (outliers)</a:t>
            </a:r>
          </a:p>
          <a:p>
            <a:endParaRPr lang="en-US"/>
          </a:p>
          <a:p>
            <a:r>
              <a:rPr lang="en-US"/>
              <a:t>Cải thiện độ ổn định khi training</a:t>
            </a:r>
          </a:p>
          <a:p>
            <a:endParaRPr lang="en-US"/>
          </a:p>
          <a:p>
            <a:r>
              <a:rPr lang="en-US"/>
              <a:t>Softmax là chuẩn trong cơ chế attention – giúp attention dễ học, dễ tối ưu, và tích hợp tốt với gradient descent.</a:t>
            </a:r>
          </a:p>
          <a:p>
            <a:endParaRPr lang="en-US"/>
          </a:p>
          <a:p>
            <a:r>
              <a:rPr lang="en-US"/>
              <a:t>αᵢ phản ánh mức độ tin tưởng rằng văn bản i có tính chất “nguyên nhân” → nên cần nằm trong [0, 1] và có tổng bằng 1 → softmax là lựa chọn tự nhiên.</a:t>
            </a:r>
          </a:p>
          <a:p>
            <a:endParaRPr lang="en-US"/>
          </a:p>
          <a:p>
            <a:r>
              <a:rPr lang="en-US"/>
              <a:t>tanh cũng tạo tính phi tuyến (non-linearity) giúp mô hình học được quan hệ phức tạp hơn giữa query và key.</a:t>
            </a:r>
          </a:p>
          <a:p>
            <a:endParaRPr lang="en-US"/>
          </a:p>
          <a:p>
            <a:r>
              <a:rPr lang="en-US"/>
              <a:t>- Tách riêng 2 vector chiếu (projection): qi = WQ ei (vect. nội dung), ki = WK ei (vect. nguyên nhân)</a:t>
            </a:r>
          </a:p>
          <a:p>
            <a:endParaRPr lang="en-US"/>
          </a:p>
          <a:p>
            <a:r>
              <a:rPr lang="en-US"/>
              <a:t>Ý nghĩa:</a:t>
            </a:r>
          </a:p>
          <a:p>
            <a:r>
              <a:rPr lang="en-US"/>
              <a:t>Việc dùng hai projection khác nhau cho cùng một văn bản ei cho phép mô hình học được hai không gian:</a:t>
            </a:r>
          </a:p>
          <a:p>
            <a:r>
              <a:rPr lang="en-US"/>
              <a:t>  — qi nắm bắt đặc trưng ngữ nghĩa nội dung (content semantics)</a:t>
            </a:r>
          </a:p>
          <a:p>
            <a:r>
              <a:rPr lang="en-US"/>
              <a:t>  — ki đặc trưng cho vai trò "gây ảnh hưởng" (causal salience)</a:t>
            </a:r>
          </a:p>
          <a:p>
            <a:r>
              <a:rPr lang="en-US"/>
              <a:t>⇒ Giúp mô hình phân biệt giữa văn bản “trông có vẻ quan trọng” và văn bản “thực sự là nguyên nhân”.</a:t>
            </a:r>
          </a:p>
          <a:p>
            <a:endParaRPr lang="en-US"/>
          </a:p>
          <a:p>
            <a:r>
              <a:rPr lang="en-US"/>
              <a:t>- Tính causal score bằng cơ chế attention riêng:</a:t>
            </a:r>
          </a:p>
          <a:p>
            <a:r>
              <a:rPr lang="en-US"/>
              <a:t>Ý nghĩa:</a:t>
            </a:r>
          </a:p>
          <a:p>
            <a:endParaRPr lang="en-US"/>
          </a:p>
          <a:p>
            <a:r>
              <a:rPr lang="en-US"/>
              <a:t>Cơ chế này học cách ánh xạ một câu (ci) đến một “câu hỏi ngầm” về việc liệu nó có đóng vai trò dẫn đến thay đổi giá không.</a:t>
            </a:r>
          </a:p>
          <a:p>
            <a:endParaRPr lang="en-US"/>
          </a:p>
          <a:p>
            <a:r>
              <a:rPr lang="en-US"/>
              <a:t>Tương tự như cách CausalBERT hoặc Q-Deformer tạo attention chuyên biệt để học nguyên nhân.</a:t>
            </a:r>
          </a:p>
          <a:p>
            <a:r>
              <a:rPr lang="en-US"/>
              <a:t>⇒ Đây không phải attention thông thường (dựa vào ht–1), mà là causal-specific attention.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DRG dùng để mô hình hóa sự bất định (khó đoán, ngẫu nhiên) của thị trường tài chính theo thời gian. Mỗi ngày thị trường có thể dao động theo nhiều kịch bản khác nhau.</a:t>
            </a:r>
          </a:p>
          <a:p>
            <a:r>
              <a:rPr lang="en-US"/>
              <a:t> Không thể dùng một vector “chắc chắn” để mô tả thị trường — cần dùng phân phối xác suất. DRG dùng kỹ thuật VAE + GRU để: Học ra các biến ẩn ngẫu nhiên thay vì giá trị cố định. Cập nhật chuỗi trạng thái thị trường qua thời gian</a:t>
            </a:r>
          </a:p>
          <a:p>
            <a:endParaRPr lang="en-US"/>
          </a:p>
          <a:p>
            <a:r>
              <a:rPr lang="en-US"/>
              <a:t> Thị trường hôm nay có thể bị ảnh hưởng bởi các sự kiện từ nhiều ngày trước (chứ không chỉ hôm qua). → TAP giúp mô hình chọn lọc thông tin trong quá khứ ngày nào còn ảnh hưởng, ngày nào nên bỏ qua. “Nên nhớ điều gì từ quá khứ để ra quyết định hôm nay."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E_q</a:t>
            </a:r>
            <a:r>
              <a:rPr lang="en-US" dirty="0"/>
              <a:t>: </a:t>
            </a:r>
            <a:r>
              <a:rPr lang="en-US" dirty="0" err="1"/>
              <a:t>một</a:t>
            </a:r>
            <a:r>
              <a:rPr lang="en-US" dirty="0"/>
              <a:t> </a:t>
            </a:r>
            <a:r>
              <a:rPr lang="en-US" dirty="0" err="1"/>
              <a:t>thuật</a:t>
            </a:r>
            <a:r>
              <a:rPr lang="en-US" dirty="0"/>
              <a:t> </a:t>
            </a:r>
            <a:r>
              <a:rPr lang="en-US" dirty="0" err="1"/>
              <a:t>ngữ</a:t>
            </a:r>
            <a:r>
              <a:rPr lang="en-US" dirty="0"/>
              <a:t> </a:t>
            </a:r>
            <a:r>
              <a:rPr lang="en-US" dirty="0" err="1"/>
              <a:t>tái</a:t>
            </a:r>
            <a:r>
              <a:rPr lang="en-US" dirty="0"/>
              <a:t> </a:t>
            </a:r>
            <a:r>
              <a:rPr lang="en-US" dirty="0" err="1"/>
              <a:t>cấu</a:t>
            </a:r>
            <a:r>
              <a:rPr lang="en-US" dirty="0"/>
              <a:t> </a:t>
            </a:r>
            <a:r>
              <a:rPr lang="en-US" dirty="0" err="1"/>
              <a:t>trúc</a:t>
            </a:r>
            <a:r>
              <a:rPr lang="en-US" dirty="0"/>
              <a:t> </a:t>
            </a:r>
            <a:r>
              <a:rPr lang="en-US" dirty="0" err="1"/>
              <a:t>khuyến</a:t>
            </a:r>
            <a:r>
              <a:rPr lang="en-US" dirty="0"/>
              <a:t> </a:t>
            </a:r>
            <a:r>
              <a:rPr lang="en-US" dirty="0" err="1"/>
              <a:t>khích</a:t>
            </a:r>
            <a:r>
              <a:rPr lang="en-US" dirty="0"/>
              <a:t> </a:t>
            </a:r>
            <a:r>
              <a:rPr lang="en-US" dirty="0" err="1"/>
              <a:t>bộ</a:t>
            </a:r>
            <a:r>
              <a:rPr lang="en-US" dirty="0"/>
              <a:t> </a:t>
            </a:r>
            <a:r>
              <a:rPr lang="en-US" dirty="0" err="1"/>
              <a:t>giải</a:t>
            </a:r>
            <a:r>
              <a:rPr lang="en-US" dirty="0"/>
              <a:t> </a:t>
            </a:r>
            <a:r>
              <a:rPr lang="en-US" dirty="0" err="1"/>
              <a:t>mã</a:t>
            </a:r>
            <a:r>
              <a:rPr lang="en-US" dirty="0"/>
              <a:t> </a:t>
            </a:r>
            <a:r>
              <a:rPr lang="en-US" dirty="0" err="1"/>
              <a:t>mô</a:t>
            </a:r>
            <a:r>
              <a:rPr lang="en-US" dirty="0"/>
              <a:t> </a:t>
            </a:r>
            <a:r>
              <a:rPr lang="en-US" dirty="0" err="1"/>
              <a:t>hình</a:t>
            </a:r>
            <a:r>
              <a:rPr lang="en-US" dirty="0"/>
              <a:t> </a:t>
            </a:r>
            <a:r>
              <a:rPr lang="en-US" dirty="0" err="1"/>
              <a:t>hóa</a:t>
            </a:r>
            <a:r>
              <a:rPr lang="en-US" dirty="0"/>
              <a:t> </a:t>
            </a:r>
            <a:r>
              <a:rPr lang="en-US" dirty="0" err="1"/>
              <a:t>dữ</a:t>
            </a:r>
            <a:r>
              <a:rPr lang="en-US" dirty="0"/>
              <a:t> </a:t>
            </a:r>
            <a:r>
              <a:rPr lang="en-US" dirty="0" err="1"/>
              <a:t>liệu</a:t>
            </a:r>
            <a:r>
              <a:rPr lang="en-US" dirty="0"/>
              <a:t> </a:t>
            </a:r>
            <a:r>
              <a:rPr lang="en-US" dirty="0" err="1"/>
              <a:t>chính</a:t>
            </a:r>
            <a:r>
              <a:rPr lang="en-US" dirty="0"/>
              <a:t> </a:t>
            </a:r>
            <a:r>
              <a:rPr lang="en-US" dirty="0" err="1"/>
              <a:t>xác</a:t>
            </a:r>
            <a:r>
              <a:rPr lang="en-US" dirty="0"/>
              <a:t> </a:t>
            </a:r>
            <a:r>
              <a:rPr lang="en-US" dirty="0" err="1"/>
              <a:t>và</a:t>
            </a:r>
            <a:r>
              <a:rPr lang="en-US" dirty="0"/>
              <a:t> KL: </a:t>
            </a:r>
            <a:r>
              <a:rPr lang="en-US" dirty="0" err="1"/>
              <a:t>một</a:t>
            </a:r>
            <a:r>
              <a:rPr lang="en-US" dirty="0"/>
              <a:t> </a:t>
            </a:r>
            <a:r>
              <a:rPr lang="en-US" dirty="0" err="1"/>
              <a:t>thuật</a:t>
            </a:r>
            <a:r>
              <a:rPr lang="en-US" dirty="0"/>
              <a:t> </a:t>
            </a:r>
            <a:r>
              <a:rPr lang="en-US" dirty="0" err="1"/>
              <a:t>ngữ</a:t>
            </a:r>
            <a:r>
              <a:rPr lang="en-US" dirty="0"/>
              <a:t> </a:t>
            </a:r>
            <a:r>
              <a:rPr lang="en-US" dirty="0" err="1"/>
              <a:t>chính</a:t>
            </a:r>
            <a:r>
              <a:rPr lang="en-US" dirty="0"/>
              <a:t> </a:t>
            </a:r>
            <a:r>
              <a:rPr lang="en-US" dirty="0" err="1"/>
              <a:t>quy</a:t>
            </a:r>
            <a:r>
              <a:rPr lang="en-US" dirty="0"/>
              <a:t> </a:t>
            </a:r>
            <a:r>
              <a:rPr lang="en-US" dirty="0" err="1"/>
              <a:t>hóa</a:t>
            </a:r>
            <a:r>
              <a:rPr lang="en-US" dirty="0"/>
              <a:t> </a:t>
            </a:r>
            <a:r>
              <a:rPr lang="en-US" dirty="0" err="1"/>
              <a:t>đẩy</a:t>
            </a:r>
            <a:r>
              <a:rPr lang="en-US" dirty="0"/>
              <a:t> </a:t>
            </a:r>
            <a:r>
              <a:rPr lang="en-US" dirty="0" err="1"/>
              <a:t>qϕ</a:t>
            </a:r>
            <a:r>
              <a:rPr lang="en-US" dirty="0"/>
              <a:t>(z | x) </a:t>
            </a:r>
            <a:r>
              <a:rPr lang="en-US" dirty="0" err="1"/>
              <a:t>về</a:t>
            </a:r>
            <a:r>
              <a:rPr lang="en-US" dirty="0"/>
              <a:t> </a:t>
            </a:r>
            <a:r>
              <a:rPr lang="en-US" dirty="0" err="1"/>
              <a:t>phía</a:t>
            </a:r>
            <a:r>
              <a:rPr lang="en-US" dirty="0"/>
              <a:t> </a:t>
            </a:r>
            <a:r>
              <a:rPr lang="en-US" dirty="0" err="1"/>
              <a:t>trước</a:t>
            </a:r>
            <a:r>
              <a:rPr lang="en-US" dirty="0"/>
              <a:t> </a:t>
            </a:r>
            <a:r>
              <a:rPr lang="en-US" dirty="0" err="1"/>
              <a:t>đơn</a:t>
            </a:r>
            <a:r>
              <a:rPr lang="en-US" dirty="0"/>
              <a:t> </a:t>
            </a:r>
            <a:r>
              <a:rPr lang="en-US" dirty="0" err="1"/>
              <a:t>giản</a:t>
            </a:r>
            <a:r>
              <a:rPr lang="en-US" dirty="0"/>
              <a:t> p(z) = N(0,I). Do </a:t>
            </a:r>
            <a:r>
              <a:rPr lang="en-US" dirty="0" err="1"/>
              <a:t>đó</a:t>
            </a:r>
            <a:r>
              <a:rPr lang="en-US" dirty="0"/>
              <a:t>, </a:t>
            </a:r>
            <a:r>
              <a:rPr lang="en-US" dirty="0" err="1"/>
              <a:t>việc</a:t>
            </a:r>
            <a:r>
              <a:rPr lang="en-US" dirty="0"/>
              <a:t> </a:t>
            </a:r>
            <a:r>
              <a:rPr lang="en-US" dirty="0" err="1"/>
              <a:t>tối</a:t>
            </a:r>
            <a:r>
              <a:rPr lang="en-US" dirty="0"/>
              <a:t> </a:t>
            </a:r>
            <a:r>
              <a:rPr lang="en-US" dirty="0" err="1"/>
              <a:t>đa</a:t>
            </a:r>
            <a:r>
              <a:rPr lang="en-US" dirty="0"/>
              <a:t> </a:t>
            </a:r>
            <a:r>
              <a:rPr lang="en-US" dirty="0" err="1"/>
              <a:t>hóa</a:t>
            </a:r>
            <a:r>
              <a:rPr lang="en-US" dirty="0"/>
              <a:t> L </a:t>
            </a:r>
            <a:r>
              <a:rPr lang="en-US" dirty="0" err="1"/>
              <a:t>dạy</a:t>
            </a:r>
            <a:r>
              <a:rPr lang="en-US" dirty="0"/>
              <a:t> </a:t>
            </a:r>
            <a:r>
              <a:rPr lang="en-US" dirty="0" err="1"/>
              <a:t>bộ</a:t>
            </a:r>
            <a:r>
              <a:rPr lang="en-US" dirty="0"/>
              <a:t> </a:t>
            </a:r>
            <a:r>
              <a:rPr lang="en-US" dirty="0" err="1"/>
              <a:t>giải</a:t>
            </a:r>
            <a:r>
              <a:rPr lang="en-US" dirty="0"/>
              <a:t> </a:t>
            </a:r>
            <a:r>
              <a:rPr lang="en-US" dirty="0" err="1"/>
              <a:t>mã</a:t>
            </a:r>
            <a:r>
              <a:rPr lang="en-US" dirty="0"/>
              <a:t> </a:t>
            </a:r>
            <a:r>
              <a:rPr lang="en-US" dirty="0" err="1"/>
              <a:t>tạo</a:t>
            </a:r>
            <a:r>
              <a:rPr lang="en-US" dirty="0"/>
              <a:t> </a:t>
            </a:r>
            <a:r>
              <a:rPr lang="en-US" dirty="0" err="1"/>
              <a:t>dữ</a:t>
            </a:r>
            <a:r>
              <a:rPr lang="en-US" dirty="0"/>
              <a:t> </a:t>
            </a:r>
            <a:r>
              <a:rPr lang="en-US" dirty="0" err="1"/>
              <a:t>liệu</a:t>
            </a:r>
            <a:r>
              <a:rPr lang="en-US" dirty="0"/>
              <a:t> </a:t>
            </a:r>
            <a:r>
              <a:rPr lang="en-US" dirty="0" err="1"/>
              <a:t>thực</a:t>
            </a:r>
            <a:r>
              <a:rPr lang="en-US" dirty="0"/>
              <a:t> </a:t>
            </a:r>
            <a:r>
              <a:rPr lang="en-US" dirty="0" err="1"/>
              <a:t>tế</a:t>
            </a:r>
            <a:r>
              <a:rPr lang="en-US" dirty="0"/>
              <a:t> </a:t>
            </a:r>
            <a:r>
              <a:rPr lang="en-US" dirty="0" err="1"/>
              <a:t>trong</a:t>
            </a:r>
            <a:r>
              <a:rPr lang="en-US" dirty="0"/>
              <a:t> </a:t>
            </a:r>
            <a:r>
              <a:rPr lang="en-US" dirty="0" err="1"/>
              <a:t>khi</a:t>
            </a:r>
            <a:r>
              <a:rPr lang="en-US" dirty="0"/>
              <a:t> </a:t>
            </a:r>
            <a:r>
              <a:rPr lang="en-US" dirty="0" err="1"/>
              <a:t>vẫn</a:t>
            </a:r>
            <a:r>
              <a:rPr lang="en-US" dirty="0"/>
              <a:t> </a:t>
            </a:r>
            <a:r>
              <a:rPr lang="en-US" dirty="0" err="1"/>
              <a:t>giữ</a:t>
            </a:r>
            <a:r>
              <a:rPr lang="en-US" dirty="0"/>
              <a:t> </a:t>
            </a:r>
            <a:r>
              <a:rPr lang="en-US" dirty="0" err="1"/>
              <a:t>cho</a:t>
            </a:r>
            <a:r>
              <a:rPr lang="en-US" dirty="0"/>
              <a:t> </a:t>
            </a:r>
            <a:r>
              <a:rPr lang="en-US" dirty="0" err="1"/>
              <a:t>không</a:t>
            </a:r>
            <a:r>
              <a:rPr lang="en-US" dirty="0"/>
              <a:t> </a:t>
            </a:r>
            <a:r>
              <a:rPr lang="en-US" dirty="0" err="1"/>
              <a:t>gian</a:t>
            </a:r>
            <a:r>
              <a:rPr lang="en-US" dirty="0"/>
              <a:t> </a:t>
            </a:r>
            <a:r>
              <a:rPr lang="en-US" dirty="0" err="1"/>
              <a:t>tiềm</a:t>
            </a:r>
            <a:r>
              <a:rPr lang="en-US" dirty="0"/>
              <a:t> </a:t>
            </a:r>
            <a:r>
              <a:rPr lang="en-US" dirty="0" err="1"/>
              <a:t>ẩn</a:t>
            </a:r>
            <a:r>
              <a:rPr lang="en-US" dirty="0"/>
              <a:t> </a:t>
            </a:r>
            <a:r>
              <a:rPr lang="en-US" dirty="0" err="1"/>
              <a:t>hoạt</a:t>
            </a:r>
            <a:r>
              <a:rPr lang="en-US" dirty="0"/>
              <a:t> </a:t>
            </a:r>
            <a:r>
              <a:rPr lang="en-US" dirty="0" err="1"/>
              <a:t>động</a:t>
            </a:r>
            <a:r>
              <a:rPr lang="en-US" dirty="0"/>
              <a:t> </a:t>
            </a:r>
            <a:r>
              <a:rPr lang="en-US" dirty="0" err="1"/>
              <a:t>tốt</a:t>
            </a:r>
            <a:r>
              <a:rPr lang="en-US" dirty="0"/>
              <a:t>.</a:t>
            </a:r>
          </a:p>
          <a:p>
            <a:endParaRPr lang="en-US" dirty="0"/>
          </a:p>
          <a:p>
            <a:r>
              <a:rPr lang="en-US" dirty="0"/>
              <a:t>omega, alpha </a:t>
            </a:r>
            <a:r>
              <a:rPr lang="en-US" dirty="0" err="1"/>
              <a:t>là</a:t>
            </a:r>
            <a:r>
              <a:rPr lang="en-US" dirty="0"/>
              <a:t> </a:t>
            </a:r>
            <a:r>
              <a:rPr lang="en-US" dirty="0" err="1"/>
              <a:t>các</a:t>
            </a:r>
            <a:r>
              <a:rPr lang="en-US" dirty="0"/>
              <a:t> vector attention </a:t>
            </a:r>
            <a:r>
              <a:rPr lang="en-US" dirty="0" err="1"/>
              <a:t>đã</a:t>
            </a:r>
            <a:r>
              <a:rPr lang="en-US" dirty="0"/>
              <a:t> </a:t>
            </a:r>
            <a:r>
              <a:rPr lang="en-US" dirty="0" err="1"/>
              <a:t>chuẩn</a:t>
            </a:r>
            <a:r>
              <a:rPr lang="en-US" dirty="0"/>
              <a:t> </a:t>
            </a:r>
            <a:r>
              <a:rPr lang="en-US" dirty="0" err="1"/>
              <a:t>hóa</a:t>
            </a:r>
            <a:r>
              <a:rPr lang="en-US" dirty="0"/>
              <a:t> (clipped &amp; </a:t>
            </a:r>
            <a:r>
              <a:rPr lang="en-US" dirty="0" err="1"/>
              <a:t>softmax</a:t>
            </a:r>
            <a:r>
              <a:rPr lang="en-US" dirty="0"/>
              <a:t>).</a:t>
            </a:r>
          </a:p>
          <a:p>
            <a:endParaRPr lang="en-US" dirty="0"/>
          </a:p>
          <a:p>
            <a:r>
              <a:rPr lang="en-US" dirty="0" err="1"/>
              <a:t>L_consistency</a:t>
            </a:r>
            <a:r>
              <a:rPr lang="en-US" dirty="0"/>
              <a:t>: Jensen-Shannon divergence, </a:t>
            </a:r>
            <a:r>
              <a:rPr lang="en-US" dirty="0" err="1"/>
              <a:t>đo</a:t>
            </a:r>
            <a:r>
              <a:rPr lang="en-US" dirty="0"/>
              <a:t> </a:t>
            </a:r>
            <a:r>
              <a:rPr lang="en-US" dirty="0" err="1"/>
              <a:t>khoảng</a:t>
            </a:r>
            <a:r>
              <a:rPr lang="en-US" dirty="0"/>
              <a:t> </a:t>
            </a:r>
            <a:r>
              <a:rPr lang="en-US" dirty="0" err="1"/>
              <a:t>cách</a:t>
            </a:r>
            <a:r>
              <a:rPr lang="en-US" dirty="0"/>
              <a:t> </a:t>
            </a:r>
            <a:r>
              <a:rPr lang="en-US" dirty="0" err="1"/>
              <a:t>giữa</a:t>
            </a:r>
            <a:r>
              <a:rPr lang="en-US" dirty="0"/>
              <a:t> </a:t>
            </a:r>
            <a:r>
              <a:rPr lang="en-US" dirty="0" err="1"/>
              <a:t>hai</a:t>
            </a:r>
            <a:r>
              <a:rPr lang="en-US" dirty="0"/>
              <a:t> </a:t>
            </a:r>
            <a:r>
              <a:rPr lang="en-US" dirty="0" err="1"/>
              <a:t>phân</a:t>
            </a:r>
            <a:r>
              <a:rPr lang="en-US" dirty="0"/>
              <a:t> </a:t>
            </a:r>
            <a:r>
              <a:rPr lang="en-US" dirty="0" err="1"/>
              <a:t>phối</a:t>
            </a:r>
            <a:r>
              <a:rPr lang="en-US" dirty="0"/>
              <a:t> </a:t>
            </a:r>
            <a:r>
              <a:rPr lang="en-US" dirty="0" err="1"/>
              <a:t>xác</a:t>
            </a:r>
            <a:r>
              <a:rPr lang="en-US" dirty="0"/>
              <a:t> </a:t>
            </a:r>
            <a:r>
              <a:rPr lang="en-US" dirty="0" err="1"/>
              <a:t>suất</a:t>
            </a:r>
            <a:r>
              <a:rPr lang="en-US" dirty="0"/>
              <a:t>.</a:t>
            </a:r>
          </a:p>
          <a:p>
            <a:endParaRPr lang="en-US" dirty="0"/>
          </a:p>
          <a:p>
            <a:r>
              <a:rPr lang="en-US" dirty="0"/>
              <a:t>M: Trung </a:t>
            </a:r>
            <a:r>
              <a:rPr lang="en-US" dirty="0" err="1"/>
              <a:t>bình</a:t>
            </a:r>
            <a:r>
              <a:rPr lang="en-US" dirty="0"/>
              <a:t> </a:t>
            </a:r>
            <a:r>
              <a:rPr lang="en-US" dirty="0" err="1"/>
              <a:t>của</a:t>
            </a:r>
            <a:r>
              <a:rPr lang="en-US" dirty="0"/>
              <a:t> </a:t>
            </a:r>
            <a:r>
              <a:rPr lang="en-US" dirty="0" err="1"/>
              <a:t>hai</a:t>
            </a:r>
            <a:r>
              <a:rPr lang="en-US" dirty="0"/>
              <a:t> attention vector</a:t>
            </a:r>
          </a:p>
          <a:p>
            <a:endParaRPr lang="en-US" dirty="0"/>
          </a:p>
          <a:p>
            <a:r>
              <a:rPr lang="en-US" dirty="0"/>
              <a:t> Ý </a:t>
            </a:r>
            <a:r>
              <a:rPr lang="en-US" dirty="0" err="1"/>
              <a:t>nghĩa</a:t>
            </a:r>
            <a:r>
              <a:rPr lang="en-US" dirty="0"/>
              <a:t>:</a:t>
            </a:r>
          </a:p>
          <a:p>
            <a:r>
              <a:rPr lang="en-US" dirty="0" err="1"/>
              <a:t>Nếu</a:t>
            </a:r>
            <a:r>
              <a:rPr lang="en-US" dirty="0"/>
              <a:t> omega </a:t>
            </a:r>
            <a:r>
              <a:rPr lang="en-US" dirty="0" err="1"/>
              <a:t>và</a:t>
            </a:r>
            <a:r>
              <a:rPr lang="en-US" dirty="0"/>
              <a:t> alpha </a:t>
            </a:r>
            <a:r>
              <a:rPr lang="en-US" dirty="0" err="1"/>
              <a:t>giống</a:t>
            </a:r>
            <a:r>
              <a:rPr lang="en-US" dirty="0"/>
              <a:t> </a:t>
            </a:r>
            <a:r>
              <a:rPr lang="en-US" dirty="0" err="1"/>
              <a:t>nhau</a:t>
            </a:r>
            <a:r>
              <a:rPr lang="en-US" dirty="0"/>
              <a:t>, </a:t>
            </a:r>
            <a:r>
              <a:rPr lang="en-US" dirty="0" err="1"/>
              <a:t>thì</a:t>
            </a:r>
            <a:r>
              <a:rPr lang="en-US" dirty="0"/>
              <a:t> </a:t>
            </a:r>
            <a:r>
              <a:rPr lang="en-US" dirty="0" err="1"/>
              <a:t>L_consistency</a:t>
            </a:r>
            <a:r>
              <a:rPr lang="en-US" dirty="0"/>
              <a:t> </a:t>
            </a:r>
            <a:r>
              <a:rPr lang="en-US" dirty="0" err="1"/>
              <a:t>xấp</a:t>
            </a:r>
            <a:r>
              <a:rPr lang="en-US" dirty="0"/>
              <a:t> </a:t>
            </a:r>
            <a:r>
              <a:rPr lang="en-US" dirty="0" err="1"/>
              <a:t>xỉ</a:t>
            </a:r>
            <a:r>
              <a:rPr lang="en-US" dirty="0"/>
              <a:t> 0 → attention </a:t>
            </a:r>
            <a:r>
              <a:rPr lang="en-US" dirty="0" err="1"/>
              <a:t>từ</a:t>
            </a:r>
            <a:r>
              <a:rPr lang="en-US" dirty="0"/>
              <a:t> </a:t>
            </a:r>
            <a:r>
              <a:rPr lang="en-US" dirty="0" err="1"/>
              <a:t>hai</a:t>
            </a:r>
            <a:r>
              <a:rPr lang="en-US" dirty="0"/>
              <a:t> </a:t>
            </a:r>
            <a:r>
              <a:rPr lang="en-US" dirty="0" err="1"/>
              <a:t>hướng</a:t>
            </a:r>
            <a:r>
              <a:rPr lang="en-US" dirty="0"/>
              <a:t> </a:t>
            </a:r>
            <a:r>
              <a:rPr lang="en-US" dirty="0" err="1"/>
              <a:t>đồng</a:t>
            </a:r>
            <a:r>
              <a:rPr lang="en-US" dirty="0"/>
              <a:t> </a:t>
            </a:r>
            <a:r>
              <a:rPr lang="en-US" dirty="0" err="1"/>
              <a:t>thuận</a:t>
            </a:r>
            <a:r>
              <a:rPr lang="en-US" dirty="0"/>
              <a:t>.</a:t>
            </a:r>
          </a:p>
          <a:p>
            <a:endParaRPr lang="en-US" dirty="0"/>
          </a:p>
          <a:p>
            <a:r>
              <a:rPr lang="en-US" dirty="0" err="1"/>
              <a:t>Nếu</a:t>
            </a:r>
            <a:r>
              <a:rPr lang="en-US" dirty="0"/>
              <a:t> </a:t>
            </a:r>
            <a:r>
              <a:rPr lang="en-US" dirty="0" err="1"/>
              <a:t>chúng</a:t>
            </a:r>
            <a:r>
              <a:rPr lang="en-US" dirty="0"/>
              <a:t> </a:t>
            </a:r>
            <a:r>
              <a:rPr lang="en-US" dirty="0" err="1"/>
              <a:t>khác</a:t>
            </a:r>
            <a:r>
              <a:rPr lang="en-US" dirty="0"/>
              <a:t> </a:t>
            </a:r>
            <a:r>
              <a:rPr lang="en-US" dirty="0" err="1"/>
              <a:t>nhau</a:t>
            </a:r>
            <a:r>
              <a:rPr lang="en-US" dirty="0"/>
              <a:t>, </a:t>
            </a:r>
            <a:r>
              <a:rPr lang="en-US" dirty="0" err="1"/>
              <a:t>thì</a:t>
            </a:r>
            <a:r>
              <a:rPr lang="en-US" dirty="0"/>
              <a:t> loss </a:t>
            </a:r>
            <a:r>
              <a:rPr lang="en-US" dirty="0" err="1"/>
              <a:t>tăng</a:t>
            </a:r>
            <a:r>
              <a:rPr lang="en-US" dirty="0"/>
              <a:t> → model </a:t>
            </a:r>
            <a:r>
              <a:rPr lang="en-US" dirty="0" err="1"/>
              <a:t>bị</a:t>
            </a:r>
            <a:r>
              <a:rPr lang="en-US" dirty="0"/>
              <a:t> </a:t>
            </a:r>
            <a:r>
              <a:rPr lang="en-US" dirty="0" err="1"/>
              <a:t>phạt</a:t>
            </a:r>
            <a:r>
              <a:rPr lang="en-US" dirty="0"/>
              <a:t> </a:t>
            </a:r>
            <a:r>
              <a:rPr lang="en-US" dirty="0" err="1"/>
              <a:t>vì</a:t>
            </a:r>
            <a:r>
              <a:rPr lang="en-US" dirty="0"/>
              <a:t> </a:t>
            </a:r>
            <a:r>
              <a:rPr lang="en-US" dirty="0" err="1"/>
              <a:t>thiếu</a:t>
            </a:r>
            <a:r>
              <a:rPr lang="en-US" dirty="0"/>
              <a:t> </a:t>
            </a:r>
            <a:r>
              <a:rPr lang="en-US" dirty="0" err="1"/>
              <a:t>đồng</a:t>
            </a:r>
            <a:r>
              <a:rPr lang="en-US" dirty="0"/>
              <a:t> </a:t>
            </a:r>
            <a:r>
              <a:rPr lang="en-US" dirty="0" err="1"/>
              <a:t>bộ</a:t>
            </a:r>
            <a:r>
              <a:rPr lang="en-US" dirty="0"/>
              <a:t> </a:t>
            </a:r>
            <a:r>
              <a:rPr lang="en-US" dirty="0" err="1"/>
              <a:t>giữa</a:t>
            </a:r>
            <a:r>
              <a:rPr lang="en-US" dirty="0"/>
              <a:t> </a:t>
            </a:r>
            <a:r>
              <a:rPr lang="en-US" dirty="0" err="1"/>
              <a:t>nội</a:t>
            </a:r>
            <a:r>
              <a:rPr lang="en-US" dirty="0"/>
              <a:t> dung </a:t>
            </a:r>
            <a:r>
              <a:rPr lang="en-US" dirty="0" err="1"/>
              <a:t>và</a:t>
            </a:r>
            <a:r>
              <a:rPr lang="en-US" dirty="0"/>
              <a:t> </a:t>
            </a:r>
            <a:r>
              <a:rPr lang="en-US" dirty="0" err="1"/>
              <a:t>nhân</a:t>
            </a:r>
            <a:r>
              <a:rPr lang="en-US" dirty="0"/>
              <a:t> </a:t>
            </a:r>
            <a:r>
              <a:rPr lang="en-US" dirty="0" err="1"/>
              <a:t>quả</a:t>
            </a:r>
            <a:r>
              <a:rPr lang="en-US" dirty="0"/>
              <a:t>.</a:t>
            </a:r>
          </a:p>
          <a:p>
            <a:endParaRPr lang="en-US" dirty="0"/>
          </a:p>
          <a:p>
            <a:r>
              <a:rPr lang="en-US" dirty="0"/>
              <a:t>Clipping &amp; normalization </a:t>
            </a:r>
            <a:r>
              <a:rPr lang="en-US" dirty="0" err="1"/>
              <a:t>được</a:t>
            </a:r>
            <a:r>
              <a:rPr lang="en-US" dirty="0"/>
              <a:t> </a:t>
            </a:r>
            <a:r>
              <a:rPr lang="en-US" dirty="0" err="1"/>
              <a:t>dùng</a:t>
            </a:r>
            <a:r>
              <a:rPr lang="en-US" dirty="0"/>
              <a:t> </a:t>
            </a:r>
            <a:r>
              <a:rPr lang="en-US" dirty="0" err="1"/>
              <a:t>để</a:t>
            </a:r>
            <a:r>
              <a:rPr lang="en-US" dirty="0"/>
              <a:t> </a:t>
            </a:r>
            <a:r>
              <a:rPr lang="en-US" dirty="0" err="1"/>
              <a:t>đảm</a:t>
            </a:r>
            <a:r>
              <a:rPr lang="en-US" dirty="0"/>
              <a:t> </a:t>
            </a:r>
            <a:r>
              <a:rPr lang="en-US" dirty="0" err="1"/>
              <a:t>bảo</a:t>
            </a:r>
            <a:r>
              <a:rPr lang="en-US" dirty="0"/>
              <a:t>:</a:t>
            </a:r>
          </a:p>
          <a:p>
            <a:endParaRPr lang="en-US" dirty="0"/>
          </a:p>
          <a:p>
            <a:r>
              <a:rPr lang="en-US" dirty="0" err="1"/>
              <a:t>omega_i</a:t>
            </a:r>
            <a:r>
              <a:rPr lang="en-US" dirty="0"/>
              <a:t>, </a:t>
            </a:r>
            <a:r>
              <a:rPr lang="en-US" dirty="0" err="1"/>
              <a:t>alpha_i</a:t>
            </a:r>
            <a:r>
              <a:rPr lang="en-US" dirty="0"/>
              <a:t> in (0,1)</a:t>
            </a:r>
          </a:p>
          <a:p>
            <a:endParaRPr lang="en-US" dirty="0"/>
          </a:p>
          <a:p>
            <a:r>
              <a:rPr lang="en-US" dirty="0" err="1"/>
              <a:t>Tránh</a:t>
            </a:r>
            <a:r>
              <a:rPr lang="en-US" dirty="0"/>
              <a:t> </a:t>
            </a:r>
            <a:r>
              <a:rPr lang="en-US" dirty="0" err="1"/>
              <a:t>trị</a:t>
            </a:r>
            <a:r>
              <a:rPr lang="en-US" dirty="0"/>
              <a:t> </a:t>
            </a:r>
            <a:r>
              <a:rPr lang="en-US" dirty="0" err="1"/>
              <a:t>số</a:t>
            </a:r>
            <a:r>
              <a:rPr lang="en-US" dirty="0"/>
              <a:t> </a:t>
            </a:r>
            <a:r>
              <a:rPr lang="en-US" dirty="0" err="1"/>
              <a:t>cực</a:t>
            </a:r>
            <a:r>
              <a:rPr lang="en-US" dirty="0"/>
              <a:t> </a:t>
            </a:r>
            <a:r>
              <a:rPr lang="en-US" dirty="0" err="1"/>
              <a:t>đoan</a:t>
            </a:r>
            <a:r>
              <a:rPr lang="en-US" dirty="0"/>
              <a:t> </a:t>
            </a:r>
            <a:r>
              <a:rPr lang="en-US" dirty="0" err="1"/>
              <a:t>gây</a:t>
            </a:r>
            <a:r>
              <a:rPr lang="en-US" dirty="0"/>
              <a:t> </a:t>
            </a:r>
            <a:r>
              <a:rPr lang="en-US" dirty="0" err="1"/>
              <a:t>bất</a:t>
            </a:r>
            <a:r>
              <a:rPr lang="en-US" dirty="0"/>
              <a:t> </a:t>
            </a:r>
            <a:r>
              <a:rPr lang="en-US" dirty="0" err="1"/>
              <a:t>ổn</a:t>
            </a:r>
            <a:r>
              <a:rPr lang="en-US" dirty="0"/>
              <a:t> </a:t>
            </a:r>
            <a:r>
              <a:rPr lang="en-US" dirty="0" err="1"/>
              <a:t>số</a:t>
            </a:r>
            <a:r>
              <a:rPr lang="en-US" dirty="0"/>
              <a:t> </a:t>
            </a:r>
            <a:r>
              <a:rPr lang="en-US" dirty="0" err="1"/>
              <a:t>học</a:t>
            </a:r>
            <a:r>
              <a:rPr lang="en-US" dirty="0"/>
              <a:t> </a:t>
            </a:r>
            <a:r>
              <a:rPr lang="en-US" dirty="0" err="1"/>
              <a:t>trong</a:t>
            </a:r>
            <a:r>
              <a:rPr lang="en-US" dirty="0"/>
              <a:t> log.</a:t>
            </a:r>
          </a:p>
          <a:p>
            <a:endParaRPr lang="en-US" dirty="0"/>
          </a:p>
          <a:p>
            <a:r>
              <a:rPr lang="en-US" dirty="0"/>
              <a:t> </a:t>
            </a:r>
            <a:r>
              <a:rPr lang="en-US" dirty="0" err="1"/>
              <a:t>Entrophy</a:t>
            </a:r>
            <a:r>
              <a:rPr lang="en-US" dirty="0"/>
              <a:t> loss: </a:t>
            </a:r>
            <a:r>
              <a:rPr lang="en-US" dirty="0" err="1"/>
              <a:t>Khuyến</a:t>
            </a:r>
            <a:r>
              <a:rPr lang="en-US" dirty="0"/>
              <a:t> </a:t>
            </a:r>
            <a:r>
              <a:rPr lang="en-US" dirty="0" err="1"/>
              <a:t>khích</a:t>
            </a:r>
            <a:r>
              <a:rPr lang="en-US" dirty="0"/>
              <a:t> </a:t>
            </a:r>
            <a:r>
              <a:rPr lang="en-US" dirty="0" err="1"/>
              <a:t>phân</a:t>
            </a:r>
            <a:r>
              <a:rPr lang="en-US" dirty="0"/>
              <a:t> </a:t>
            </a:r>
            <a:r>
              <a:rPr lang="en-US" dirty="0" err="1"/>
              <a:t>bổ</a:t>
            </a:r>
            <a:r>
              <a:rPr lang="en-US" dirty="0"/>
              <a:t> attention </a:t>
            </a:r>
            <a:r>
              <a:rPr lang="en-US" dirty="0" err="1"/>
              <a:t>đa</a:t>
            </a:r>
            <a:r>
              <a:rPr lang="en-US" dirty="0"/>
              <a:t> </a:t>
            </a:r>
            <a:r>
              <a:rPr lang="en-US" dirty="0" err="1"/>
              <a:t>dạng</a:t>
            </a:r>
            <a:r>
              <a:rPr lang="en-US" dirty="0"/>
              <a:t>.</a:t>
            </a:r>
          </a:p>
          <a:p>
            <a:endParaRPr lang="en-US" dirty="0"/>
          </a:p>
          <a:p>
            <a:r>
              <a:rPr lang="en-US" dirty="0"/>
              <a:t>Entropy </a:t>
            </a:r>
            <a:r>
              <a:rPr lang="en-US" dirty="0" err="1"/>
              <a:t>cao</a:t>
            </a:r>
            <a:r>
              <a:rPr lang="en-US" dirty="0"/>
              <a:t> → attention </a:t>
            </a:r>
            <a:r>
              <a:rPr lang="en-US" dirty="0" err="1"/>
              <a:t>được</a:t>
            </a:r>
            <a:r>
              <a:rPr lang="en-US" dirty="0"/>
              <a:t> </a:t>
            </a:r>
            <a:r>
              <a:rPr lang="en-US" dirty="0" err="1"/>
              <a:t>phân</a:t>
            </a:r>
            <a:r>
              <a:rPr lang="en-US" dirty="0"/>
              <a:t> </a:t>
            </a:r>
            <a:r>
              <a:rPr lang="en-US" dirty="0" err="1"/>
              <a:t>tán</a:t>
            </a:r>
            <a:r>
              <a:rPr lang="en-US" dirty="0"/>
              <a:t> </a:t>
            </a:r>
            <a:r>
              <a:rPr lang="en-US" dirty="0" err="1"/>
              <a:t>đều</a:t>
            </a:r>
            <a:r>
              <a:rPr lang="en-US" dirty="0"/>
              <a:t> </a:t>
            </a:r>
            <a:r>
              <a:rPr lang="en-US" dirty="0" err="1"/>
              <a:t>hơn</a:t>
            </a:r>
            <a:r>
              <a:rPr lang="en-US" dirty="0"/>
              <a:t> </a:t>
            </a:r>
            <a:r>
              <a:rPr lang="en-US" dirty="0" err="1"/>
              <a:t>trên</a:t>
            </a:r>
            <a:r>
              <a:rPr lang="en-US" dirty="0"/>
              <a:t> </a:t>
            </a:r>
            <a:r>
              <a:rPr lang="en-US" dirty="0" err="1"/>
              <a:t>các</a:t>
            </a:r>
            <a:r>
              <a:rPr lang="en-US" dirty="0"/>
              <a:t> </a:t>
            </a:r>
            <a:r>
              <a:rPr lang="en-US" dirty="0" err="1"/>
              <a:t>văn</a:t>
            </a:r>
            <a:r>
              <a:rPr lang="en-US" dirty="0"/>
              <a:t> </a:t>
            </a:r>
            <a:r>
              <a:rPr lang="en-US" dirty="0" err="1"/>
              <a:t>bản</a:t>
            </a:r>
            <a:r>
              <a:rPr lang="en-US" dirty="0"/>
              <a:t>.</a:t>
            </a:r>
          </a:p>
          <a:p>
            <a:endParaRPr lang="en-US" dirty="0"/>
          </a:p>
          <a:p>
            <a:r>
              <a:rPr lang="en-US" dirty="0" err="1"/>
              <a:t>Giảm</a:t>
            </a:r>
            <a:r>
              <a:rPr lang="en-US" dirty="0"/>
              <a:t> overfitting, </a:t>
            </a:r>
            <a:r>
              <a:rPr lang="en-US" dirty="0" err="1"/>
              <a:t>giúp</a:t>
            </a:r>
            <a:r>
              <a:rPr lang="en-US" dirty="0"/>
              <a:t> </a:t>
            </a:r>
            <a:r>
              <a:rPr lang="en-US" dirty="0" err="1"/>
              <a:t>mô</a:t>
            </a:r>
            <a:r>
              <a:rPr lang="en-US" dirty="0"/>
              <a:t> </a:t>
            </a:r>
            <a:r>
              <a:rPr lang="en-US" dirty="0" err="1"/>
              <a:t>hình</a:t>
            </a:r>
            <a:r>
              <a:rPr lang="en-US" dirty="0"/>
              <a:t> </a:t>
            </a:r>
            <a:r>
              <a:rPr lang="en-US" dirty="0" err="1"/>
              <a:t>không</a:t>
            </a:r>
            <a:r>
              <a:rPr lang="en-US" dirty="0"/>
              <a:t> </a:t>
            </a:r>
            <a:r>
              <a:rPr lang="en-US" dirty="0" err="1"/>
              <a:t>chỉ</a:t>
            </a:r>
            <a:r>
              <a:rPr lang="en-US" dirty="0"/>
              <a:t> </a:t>
            </a:r>
            <a:r>
              <a:rPr lang="en-US" dirty="0" err="1"/>
              <a:t>dựa</a:t>
            </a:r>
            <a:r>
              <a:rPr lang="en-US" dirty="0"/>
              <a:t> </a:t>
            </a:r>
            <a:r>
              <a:rPr lang="en-US" dirty="0" err="1"/>
              <a:t>vào</a:t>
            </a:r>
            <a:r>
              <a:rPr lang="en-US" dirty="0"/>
              <a:t> 1 </a:t>
            </a:r>
            <a:r>
              <a:rPr lang="en-US" dirty="0" err="1"/>
              <a:t>câu</a:t>
            </a:r>
            <a:r>
              <a:rPr lang="en-US" dirty="0"/>
              <a:t> tin </a:t>
            </a:r>
            <a:r>
              <a:rPr lang="en-US" dirty="0" err="1"/>
              <a:t>cụ</a:t>
            </a:r>
            <a:r>
              <a:rPr lang="en-US" dirty="0"/>
              <a:t> </a:t>
            </a:r>
            <a:r>
              <a:rPr lang="en-US" dirty="0" err="1"/>
              <a:t>thể</a:t>
            </a:r>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Đơn vị Lựa chọn Văn bản Nhân quả là một cải tiến quan trọng trong luận án này. Không giống như các mô hình chú ý cơ bản vốn liên hệ tin tức với biến động giá, Ca-TSU tiến xa hơn một bước—nó chỉ lọc những tin tức có khả năng gây ra biến động giá. Đầu ra là một Vector Nhân quả, gán điểm quan trọng cho từng tin tức, giúp tập trung mô hình vào các yếu tố đầu vào có ý nghĩa.</a:t>
            </a:r>
          </a:p>
          <a:p>
            <a:endParaRPr lang="en-US"/>
          </a:p>
          <a:p>
            <a:r>
              <a:rPr lang="en-US"/>
              <a:t> We choose these two datasets because</a:t>
            </a:r>
          </a:p>
          <a:p>
            <a:r>
              <a:rPr lang="en-US"/>
              <a:t> 1) they span two distinct</a:t>
            </a:r>
          </a:p>
          <a:p>
            <a:r>
              <a:rPr lang="en-US"/>
              <a:t> time periods; </a:t>
            </a:r>
          </a:p>
          <a:p>
            <a:r>
              <a:rPr lang="en-US"/>
              <a:t>2) ACL18 is for individual stocks while DJIA</a:t>
            </a:r>
          </a:p>
          <a:p>
            <a:r>
              <a:rPr lang="en-US"/>
              <a:t> is for stock market indices; </a:t>
            </a:r>
          </a:p>
          <a:p>
            <a:r>
              <a:rPr lang="en-US"/>
              <a:t>3) they include two completely</a:t>
            </a:r>
          </a:p>
          <a:p>
            <a:r>
              <a:rPr lang="en-US"/>
              <a:t> different types of text data: news articles and social media</a:t>
            </a:r>
          </a:p>
          <a:p>
            <a:r>
              <a:rPr lang="en-US"/>
              <a:t> posts (tweets). </a:t>
            </a:r>
          </a:p>
          <a:p>
            <a:endParaRPr lang="en-US"/>
          </a:p>
          <a:p>
            <a:r>
              <a:rPr lang="en-US"/>
              <a:t>Kết quả thí nghiệm đã khẳng định cho điều đó khi giúp mô hình cải thiện accuracy khoảng 2%. Ngoài ra, Tính giải thích cũng được đảm bảo khi Ca-TSU có khả năng pick được 1-2 text thực sự liên quan trong khi mô hình gốc cần 3-5 text để thực hiện dự đoán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TMU sử dụng LSTM để cập nhật bộ nhớ theo thời gian với cổng quên ft và cổng ra ot để điều chỉnh thông tin chảy vào và ra khỏi tế bào.</a:t>
            </a:r>
          </a:p>
          <a:p>
            <a:endParaRPr lang="en-US"/>
          </a:p>
          <a:p>
            <a:r>
              <a:rPr lang="en-US"/>
              <a:t>Giải thích đơn giản:</a:t>
            </a:r>
          </a:p>
          <a:p>
            <a:endParaRPr lang="en-US"/>
          </a:p>
          <a:p>
            <a:r>
              <a:rPr lang="en-US"/>
              <a:t>p_t: Dữ liệu giá gốc cho ngày $t$.</a:t>
            </a:r>
          </a:p>
          <a:p>
            <a:r>
              <a:rPr lang="en-US"/>
              <a:t>l_t: Tóm tắt văn bản cho ngày $t$.</a:t>
            </a:r>
          </a:p>
          <a:p>
            <a:r>
              <a:rPr lang="en-US"/>
              <a:t>{proj}(l_t): Một phép biến đổi chuyển đổi tóm tắt văn bản sang định dạng tương thích với dữ liệu giá.</a:t>
            </a:r>
          </a:p>
          <a:p>
            <a:r>
              <a:rPr lang="en-US"/>
              <a:t>{gate}_{c2r}: Trọng số quyết định lượng thông tin văn bản cần đưa vào đường dẫn giá. {gate}_{c2r} cao nghĩa là văn bản có ảnh hưởng lớn đến đường dẫn giá.</a:t>
            </a:r>
          </a:p>
          <a:p>
            <a:endParaRPr lang="en-US"/>
          </a:p>
          <a:p>
            <a:r>
              <a:rPr lang="en-US"/>
              <a:t>Kết quả, p_t^{{enhanced}}, là một biểu diễn giá được cải thiện, tích hợp thông tin chi tiết về tin tức, giúp đường dẫn giá nhận biết các sự kiện liên quan.</a:t>
            </a:r>
          </a:p>
          <a:p>
            <a:endParaRPr lang="en-US"/>
          </a:p>
          <a:p>
            <a:r>
              <a:rPr lang="en-US"/>
              <a:t>Ví dụ: Nếu một bài báo về thu nhập của một công ty ($l_t$) cho thấy một đợt tăng giá lớn, cổng có thể cho phép tin tức này tác động đến đường dẫn giá, điều chỉnh dự đoán của nó để tính đến sự kiện tin tức.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Sigmoid: Biểu diễn "attention mềm" (soft gating), Dễ học, dễ điều chỉnh qua tham số tuyến tính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Tổng tổn thất ($\mathcal{L}_{\text{total}}$) kết hợp các yếu tố sau:</a:t>
            </a:r>
          </a:p>
          <a:p>
            <a:endParaRPr lang="en-US"/>
          </a:p>
          <a:p>
            <a:r>
              <a:rPr lang="en-US"/>
              <a:t>$\mathcal{L}_{\text{pred}}$ đảm bảo mô hình dự đoán chính xác giá cổ phiếu.</a:t>
            </a:r>
          </a:p>
          <a:p>
            <a:r>
              <a:rPr lang="en-US"/>
              <a:t>$\mathcal{L}_{\text{expt}}$ đảm bảo sự tập trung của mô hình (ví dụ: tin tức nào mà mô hình tập trung vào) là rõ ràng và không quá tập trung vào một yếu tố.</a:t>
            </a:r>
          </a:p>
          <a:p>
            <a:endParaRPr lang="en-US"/>
          </a:p>
          <a:p>
            <a:r>
              <a:rPr lang="en-US"/>
              <a:t>Tại sao điều này quan trọng: Sự cân bằng này đảm bảo mô hình vừa chính xác (tốt trong việc dự đoán giá cổ phiếu) vừa có thể diễn giải được (bạn có thể thấy tin tức nào đã ảnh hưởng đến dự đoán). Bộ điều chỉnh chính quy ngăn mô hình trở nên quá phức tạp hoặc tập trung vào các chi tiết không liên quan.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Mạng lưới gating hoạt động như một người ra quyết định. Nó xem xét mức độ biến động của thị trường ($\sigma_t$), đo lường mức độ bất ổn của giá tại thời điểm $t$.</a:t>
            </a:r>
          </a:p>
          <a:p>
            <a:endParaRPr lang="en-US"/>
          </a:p>
          <a:p>
            <a:r>
              <a:rPr lang="en-US"/>
              <a:t>Dựa trên $\sigma_t$, mạng lưới gating gán trọng số cho từng đường giá, quyết định mức độ đóng góp của từng đường giá vào dự đoán cuối cùng. Ví dụ: nếu thị trường biến động mạnh ($\sigma_t$ cao), nó có thể tăng trọng số cho các đường giá văn bản vì tin tức gây ra những biến động giá lớn.</a:t>
            </a:r>
          </a:p>
          <a:p>
            <a:r>
              <a:rPr lang="en-US"/>
              <a:t>Đầu ra cuối cùng là một trạng thái hợp nhất kết hợp cả ba đường dẫn, được sử dụng để dự đoán biến động giá cổ phiếu.</a:t>
            </a:r>
          </a:p>
          <a:p>
            <a:endParaRPr lang="en-US"/>
          </a:p>
          <a:p>
            <a:r>
              <a:rPr lang="en-US"/>
              <a:t>Tại sao điều này quan trọng: Thiết lập này cho phép mô hình thích ứng linh hoạt. Nếu thị trường bình lặng, nó tin tưởng hơn vào xu hướng giá; nếu hỗn loạn, nó dựa vào tin tức.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Mạng lưới gating hoạt động như một người ra quyết định. Nó xem xét mức độ biến động của thị trường ($\sigma_t$), đo lường mức độ bất ổn của giá tại thời điểm $t$.</a:t>
            </a:r>
          </a:p>
          <a:p>
            <a:endParaRPr lang="en-US"/>
          </a:p>
          <a:p>
            <a:r>
              <a:rPr lang="en-US"/>
              <a:t>Dựa trên $\sigma_t$, mạng lưới gating gán trọng số cho từng đường giá, quyết định mức độ đóng góp của từng đường giá vào dự đoán cuối cùng. Ví dụ: nếu thị trường biến động mạnh ($\sigma_t$ cao), nó có thể tăng trọng số cho các đường giá văn bản vì tin tức gây ra những biến động giá lớn.</a:t>
            </a:r>
          </a:p>
          <a:p>
            <a:r>
              <a:rPr lang="en-US"/>
              <a:t>Đầu ra cuối cùng là một trạng thái hợp nhất kết hợp cả ba đường dẫn, được sử dụng để dự đoán biến động giá cổ phiếu.</a:t>
            </a:r>
          </a:p>
          <a:p>
            <a:endParaRPr lang="en-US"/>
          </a:p>
          <a:p>
            <a:r>
              <a:rPr lang="en-US"/>
              <a:t>Tại sao điều này quan trọng: Thiết lập này cho phép mô hình thích ứng linh hoạt. Nếu thị trường bình lặng, nó tin tưởng hơn vào xu hướng giá; nếu hỗn loạn, nó dựa vào tin tức.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Tại mỗi thời điểm, mô hình sẽ đánh giá mức độ biến động của thị trường — cái mà chúng tôi gọi là 𝜎_𝑡. Từ đó, chúng tôi tính một hệ số 𝛼_𝑡 tỷ lệ thuận với độ biến động này. Và tại sao lại dùng hàm </a:t>
            </a:r>
          </a:p>
          <a:p>
            <a:r>
              <a:rPr lang="en-US"/>
              <a:t>exp? Vì đây là một hàm giảm rất nhanh — nghĩa là khi thị trường càng biến động mạnh, thì trọng số 𝑤_𝑡 mô hình gán cho dữ liệu ở thời điểm đó sẽ càng nhỏ. Điều này giúp mô hình không bị lệch hoặc học nhầm từ những thời điểm quá nhiễu loạn. Ngược lại, khi thị trường ổn định, trọng số cao sẽ giúp mô hình học kỹ hơn từ những tín hiệu đáng tin cậ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Mặc dù hiệu quả, mô hình vẫn có một số hạn chế: cần dữ liệu văn bản được gán nhãn — đôi khi tốn kém và nhiễu; phụ thuộc vào proxy đo biến động — nếu sai có thể giảm độ chính xác; chỉ thử trên một số bộ data nên chưa chắc đã khái quát;  là nguy cơ overfitting nếu không kiểm soát tốt mạng gating và cuối cùng là tốn khá nhiều thời gian thử nghiệm</a:t>
            </a:r>
          </a:p>
          <a:p>
            <a:endParaRPr lang="en-US"/>
          </a:p>
          <a:p>
            <a:r>
              <a:rPr lang="en-US"/>
              <a:t>Hướng mở gồm: tích hợp mô hình biến động như GARCH hoặc mạng học volatility để thay cho chỉ báo thủ công; dùng reinforcement learning để cổng thích ứng theo thời gian thực; mở rộng sang nhiều loại tài sản khác; và giảm phụ thuộc vào dữ liệu gán nhãn nhờ học bán giám sát hoặc không giám sát.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8.sv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8.sv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8.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1.gif"/><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41.jpeg"/><Relationship Id="rId5" Type="http://schemas.openxmlformats.org/officeDocument/2006/relationships/image" Target="../media/image40.png"/><Relationship Id="rId4" Type="http://schemas.openxmlformats.org/officeDocument/2006/relationships/image" Target="../media/image39.jpeg"/></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3.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51.svg"/><Relationship Id="rId5" Type="http://schemas.openxmlformats.org/officeDocument/2006/relationships/image" Target="../media/image50.png"/><Relationship Id="rId4" Type="http://schemas.openxmlformats.org/officeDocument/2006/relationships/image" Target="../media/image49.png"/></Relationships>
</file>

<file path=ppt/slides/_rels/slide2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56.png"/><Relationship Id="rId4" Type="http://schemas.openxmlformats.org/officeDocument/2006/relationships/image" Target="../media/image55.png"/></Relationships>
</file>

<file path=ppt/slides/_rels/slide2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58.png"/></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61.gif"/><Relationship Id="rId5" Type="http://schemas.openxmlformats.org/officeDocument/2006/relationships/image" Target="../media/image60.gif"/><Relationship Id="rId4" Type="http://schemas.openxmlformats.org/officeDocument/2006/relationships/image" Target="../media/image59.png"/></Relationships>
</file>

<file path=ppt/slides/_rels/slide2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63.png"/></Relationships>
</file>

<file path=ppt/slides/_rels/slide3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65.png"/></Relationships>
</file>

<file path=ppt/slides/_rels/slide3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gif"/><Relationship Id="rId1" Type="http://schemas.openxmlformats.org/officeDocument/2006/relationships/slideLayout" Target="../slideLayouts/slideLayout7.xml"/><Relationship Id="rId6" Type="http://schemas.openxmlformats.org/officeDocument/2006/relationships/image" Target="../media/image70.svg"/><Relationship Id="rId5" Type="http://schemas.openxmlformats.org/officeDocument/2006/relationships/image" Target="../media/image69.png"/><Relationship Id="rId4" Type="http://schemas.openxmlformats.org/officeDocument/2006/relationships/image" Target="../media/image68.svg"/></Relationships>
</file>

<file path=ppt/slides/_rels/slide3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72.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233339" y="-108543"/>
            <a:ext cx="6273090" cy="10551089"/>
            <a:chOff x="0" y="0"/>
            <a:chExt cx="971866" cy="1634640"/>
          </a:xfrm>
        </p:grpSpPr>
        <p:sp>
          <p:nvSpPr>
            <p:cNvPr id="3" name="Freeform 3"/>
            <p:cNvSpPr/>
            <p:nvPr/>
          </p:nvSpPr>
          <p:spPr>
            <a:xfrm>
              <a:off x="0" y="0"/>
              <a:ext cx="971866" cy="1634640"/>
            </a:xfrm>
            <a:custGeom>
              <a:avLst/>
              <a:gdLst/>
              <a:ahLst/>
              <a:cxnLst/>
              <a:rect l="l" t="t" r="r" b="b"/>
              <a:pathLst>
                <a:path w="971866" h="1634640">
                  <a:moveTo>
                    <a:pt x="0" y="0"/>
                  </a:moveTo>
                  <a:lnTo>
                    <a:pt x="971866" y="0"/>
                  </a:lnTo>
                  <a:lnTo>
                    <a:pt x="971866" y="1634640"/>
                  </a:lnTo>
                  <a:lnTo>
                    <a:pt x="0" y="1634640"/>
                  </a:lnTo>
                  <a:close/>
                </a:path>
              </a:pathLst>
            </a:custGeom>
            <a:blipFill>
              <a:blip r:embed="rId3"/>
              <a:stretch>
                <a:fillRect l="-13614" r="-150693"/>
              </a:stretch>
            </a:blipFill>
          </p:spPr>
          <p:txBody>
            <a:bodyPr/>
            <a:lstStyle/>
            <a:p>
              <a:endParaRPr lang="en-US"/>
            </a:p>
          </p:txBody>
        </p:sp>
      </p:grpSp>
      <p:grpSp>
        <p:nvGrpSpPr>
          <p:cNvPr id="4" name="Group 4"/>
          <p:cNvGrpSpPr/>
          <p:nvPr/>
        </p:nvGrpSpPr>
        <p:grpSpPr>
          <a:xfrm>
            <a:off x="0" y="2899783"/>
            <a:ext cx="12233339" cy="3786767"/>
            <a:chOff x="0" y="0"/>
            <a:chExt cx="3221949" cy="997338"/>
          </a:xfrm>
        </p:grpSpPr>
        <p:sp>
          <p:nvSpPr>
            <p:cNvPr id="5" name="Freeform 5"/>
            <p:cNvSpPr/>
            <p:nvPr/>
          </p:nvSpPr>
          <p:spPr>
            <a:xfrm>
              <a:off x="0" y="0"/>
              <a:ext cx="3221949" cy="997338"/>
            </a:xfrm>
            <a:custGeom>
              <a:avLst/>
              <a:gdLst/>
              <a:ahLst/>
              <a:cxnLst/>
              <a:rect l="l" t="t" r="r" b="b"/>
              <a:pathLst>
                <a:path w="3221949" h="997338">
                  <a:moveTo>
                    <a:pt x="0" y="0"/>
                  </a:moveTo>
                  <a:lnTo>
                    <a:pt x="3221949" y="0"/>
                  </a:lnTo>
                  <a:lnTo>
                    <a:pt x="3221949" y="997338"/>
                  </a:lnTo>
                  <a:lnTo>
                    <a:pt x="0" y="997338"/>
                  </a:lnTo>
                  <a:close/>
                </a:path>
              </a:pathLst>
            </a:custGeom>
            <a:solidFill>
              <a:srgbClr val="122029"/>
            </a:solidFill>
          </p:spPr>
          <p:txBody>
            <a:bodyPr/>
            <a:lstStyle/>
            <a:p>
              <a:endParaRPr lang="en-US"/>
            </a:p>
          </p:txBody>
        </p:sp>
        <p:sp>
          <p:nvSpPr>
            <p:cNvPr id="6" name="TextBox 6"/>
            <p:cNvSpPr txBox="1"/>
            <p:nvPr/>
          </p:nvSpPr>
          <p:spPr>
            <a:xfrm>
              <a:off x="0" y="-57150"/>
              <a:ext cx="3221949" cy="1054488"/>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rot="-5021307">
            <a:off x="6724868" y="4567186"/>
            <a:ext cx="11014109" cy="1199632"/>
            <a:chOff x="0" y="0"/>
            <a:chExt cx="2900835" cy="315952"/>
          </a:xfrm>
        </p:grpSpPr>
        <p:sp>
          <p:nvSpPr>
            <p:cNvPr id="8" name="Freeform 8"/>
            <p:cNvSpPr/>
            <p:nvPr/>
          </p:nvSpPr>
          <p:spPr>
            <a:xfrm>
              <a:off x="0" y="0"/>
              <a:ext cx="2900835" cy="315952"/>
            </a:xfrm>
            <a:custGeom>
              <a:avLst/>
              <a:gdLst/>
              <a:ahLst/>
              <a:cxnLst/>
              <a:rect l="l" t="t" r="r" b="b"/>
              <a:pathLst>
                <a:path w="2900835" h="315952">
                  <a:moveTo>
                    <a:pt x="0" y="0"/>
                  </a:moveTo>
                  <a:lnTo>
                    <a:pt x="2900835" y="0"/>
                  </a:lnTo>
                  <a:lnTo>
                    <a:pt x="2900835" y="315952"/>
                  </a:lnTo>
                  <a:lnTo>
                    <a:pt x="0" y="315952"/>
                  </a:lnTo>
                  <a:close/>
                </a:path>
              </a:pathLst>
            </a:custGeom>
            <a:solidFill>
              <a:srgbClr val="2B485F"/>
            </a:solidFill>
          </p:spPr>
          <p:txBody>
            <a:bodyPr/>
            <a:lstStyle/>
            <a:p>
              <a:endParaRPr lang="en-US"/>
            </a:p>
          </p:txBody>
        </p:sp>
        <p:sp>
          <p:nvSpPr>
            <p:cNvPr id="9" name="TextBox 9"/>
            <p:cNvSpPr txBox="1"/>
            <p:nvPr/>
          </p:nvSpPr>
          <p:spPr>
            <a:xfrm>
              <a:off x="0" y="-57150"/>
              <a:ext cx="2900835" cy="373102"/>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1028700" y="2946530"/>
            <a:ext cx="9823489" cy="1593086"/>
          </a:xfrm>
          <a:prstGeom prst="rect">
            <a:avLst/>
          </a:prstGeom>
        </p:spPr>
        <p:txBody>
          <a:bodyPr lIns="0" tIns="0" rIns="0" bIns="0" rtlCol="0" anchor="t">
            <a:spAutoFit/>
          </a:bodyPr>
          <a:lstStyle/>
          <a:p>
            <a:pPr algn="l">
              <a:lnSpc>
                <a:spcPts val="12331"/>
              </a:lnSpc>
              <a:spcBef>
                <a:spcPct val="0"/>
              </a:spcBef>
            </a:pPr>
            <a:r>
              <a:rPr lang="en-US" sz="8807" b="1">
                <a:solidFill>
                  <a:srgbClr val="FFFFFF"/>
                </a:solidFill>
                <a:latin typeface="Poppins Ultra-Bold"/>
                <a:ea typeface="Poppins Ultra-Bold"/>
                <a:cs typeface="Poppins Ultra-Bold"/>
                <a:sym typeface="Poppins Ultra-Bold"/>
              </a:rPr>
              <a:t>Thesis Defense</a:t>
            </a:r>
          </a:p>
        </p:txBody>
      </p:sp>
      <p:sp>
        <p:nvSpPr>
          <p:cNvPr id="11" name="TextBox 11"/>
          <p:cNvSpPr txBox="1"/>
          <p:nvPr/>
        </p:nvSpPr>
        <p:spPr>
          <a:xfrm>
            <a:off x="1028700" y="7388529"/>
            <a:ext cx="9823489" cy="566420"/>
          </a:xfrm>
          <a:prstGeom prst="rect">
            <a:avLst/>
          </a:prstGeom>
        </p:spPr>
        <p:txBody>
          <a:bodyPr lIns="0" tIns="0" rIns="0" bIns="0" rtlCol="0" anchor="t">
            <a:spAutoFit/>
          </a:bodyPr>
          <a:lstStyle/>
          <a:p>
            <a:pPr algn="l">
              <a:lnSpc>
                <a:spcPts val="4480"/>
              </a:lnSpc>
              <a:spcBef>
                <a:spcPct val="0"/>
              </a:spcBef>
            </a:pPr>
            <a:r>
              <a:rPr lang="en-US" sz="3200" b="1">
                <a:solidFill>
                  <a:srgbClr val="000000"/>
                </a:solidFill>
                <a:latin typeface="Poppins Bold"/>
                <a:ea typeface="Poppins Bold"/>
                <a:cs typeface="Poppins Bold"/>
                <a:sym typeface="Poppins Bold"/>
              </a:rPr>
              <a:t>Advisor</a:t>
            </a:r>
            <a:r>
              <a:rPr lang="en-US" sz="3200">
                <a:solidFill>
                  <a:srgbClr val="000000"/>
                </a:solidFill>
                <a:latin typeface="Poppins"/>
                <a:ea typeface="Poppins"/>
                <a:cs typeface="Poppins"/>
                <a:sym typeface="Poppins"/>
              </a:rPr>
              <a:t>: MSc. Tran Van Quy, Faculty of IT, HCMUS</a:t>
            </a:r>
          </a:p>
        </p:txBody>
      </p:sp>
      <p:sp>
        <p:nvSpPr>
          <p:cNvPr id="12" name="TextBox 12"/>
          <p:cNvSpPr txBox="1"/>
          <p:nvPr/>
        </p:nvSpPr>
        <p:spPr>
          <a:xfrm>
            <a:off x="1028700" y="1495016"/>
            <a:ext cx="3883627" cy="566420"/>
          </a:xfrm>
          <a:prstGeom prst="rect">
            <a:avLst/>
          </a:prstGeom>
        </p:spPr>
        <p:txBody>
          <a:bodyPr lIns="0" tIns="0" rIns="0" bIns="0" rtlCol="0" anchor="t">
            <a:spAutoFit/>
          </a:bodyPr>
          <a:lstStyle/>
          <a:p>
            <a:pPr algn="l">
              <a:lnSpc>
                <a:spcPts val="4480"/>
              </a:lnSpc>
              <a:spcBef>
                <a:spcPct val="0"/>
              </a:spcBef>
            </a:pPr>
            <a:r>
              <a:rPr lang="en-US" sz="3200">
                <a:solidFill>
                  <a:srgbClr val="000000"/>
                </a:solidFill>
                <a:latin typeface="Poppins"/>
                <a:ea typeface="Poppins"/>
                <a:cs typeface="Poppins"/>
                <a:sym typeface="Poppins"/>
              </a:rPr>
              <a:t>28th July, 2025</a:t>
            </a:r>
          </a:p>
        </p:txBody>
      </p:sp>
      <p:sp>
        <p:nvSpPr>
          <p:cNvPr id="13" name="TextBox 13"/>
          <p:cNvSpPr txBox="1"/>
          <p:nvPr/>
        </p:nvSpPr>
        <p:spPr>
          <a:xfrm>
            <a:off x="1028700" y="4623329"/>
            <a:ext cx="10156666" cy="1334318"/>
          </a:xfrm>
          <a:prstGeom prst="rect">
            <a:avLst/>
          </a:prstGeom>
        </p:spPr>
        <p:txBody>
          <a:bodyPr lIns="0" tIns="0" rIns="0" bIns="0" rtlCol="0" anchor="t">
            <a:spAutoFit/>
          </a:bodyPr>
          <a:lstStyle/>
          <a:p>
            <a:pPr algn="l">
              <a:lnSpc>
                <a:spcPts val="5178"/>
              </a:lnSpc>
              <a:spcBef>
                <a:spcPct val="0"/>
              </a:spcBef>
            </a:pPr>
            <a:r>
              <a:rPr lang="en-US" sz="3698" b="1" spc="233">
                <a:solidFill>
                  <a:srgbClr val="FFFFFF"/>
                </a:solidFill>
                <a:latin typeface="Poppins Bold"/>
                <a:ea typeface="Poppins Bold"/>
                <a:cs typeface="Poppins Bold"/>
                <a:sym typeface="Poppins Bold"/>
              </a:rPr>
              <a:t>ASSESSING THE IMPACT OF NEWS DATA ON STOCK TREND PREDICTION MODELS</a:t>
            </a:r>
          </a:p>
        </p:txBody>
      </p:sp>
      <p:grpSp>
        <p:nvGrpSpPr>
          <p:cNvPr id="14" name="Group 14"/>
          <p:cNvGrpSpPr/>
          <p:nvPr/>
        </p:nvGrpSpPr>
        <p:grpSpPr>
          <a:xfrm>
            <a:off x="1028700" y="9793427"/>
            <a:ext cx="631414" cy="625617"/>
            <a:chOff x="0" y="0"/>
            <a:chExt cx="166298" cy="164772"/>
          </a:xfrm>
        </p:grpSpPr>
        <p:sp>
          <p:nvSpPr>
            <p:cNvPr id="15" name="Freeform 15"/>
            <p:cNvSpPr/>
            <p:nvPr/>
          </p:nvSpPr>
          <p:spPr>
            <a:xfrm>
              <a:off x="0" y="0"/>
              <a:ext cx="166298" cy="164772"/>
            </a:xfrm>
            <a:custGeom>
              <a:avLst/>
              <a:gdLst/>
              <a:ahLst/>
              <a:cxnLst/>
              <a:rect l="l" t="t" r="r" b="b"/>
              <a:pathLst>
                <a:path w="166298" h="164772">
                  <a:moveTo>
                    <a:pt x="0" y="0"/>
                  </a:moveTo>
                  <a:lnTo>
                    <a:pt x="166298" y="0"/>
                  </a:lnTo>
                  <a:lnTo>
                    <a:pt x="166298" y="164772"/>
                  </a:lnTo>
                  <a:lnTo>
                    <a:pt x="0" y="164772"/>
                  </a:lnTo>
                  <a:close/>
                </a:path>
              </a:pathLst>
            </a:custGeom>
            <a:solidFill>
              <a:srgbClr val="86B4C4"/>
            </a:solidFill>
          </p:spPr>
          <p:txBody>
            <a:bodyPr/>
            <a:lstStyle/>
            <a:p>
              <a:endParaRPr lang="en-US"/>
            </a:p>
          </p:txBody>
        </p:sp>
        <p:sp>
          <p:nvSpPr>
            <p:cNvPr id="16" name="TextBox 16"/>
            <p:cNvSpPr txBox="1"/>
            <p:nvPr/>
          </p:nvSpPr>
          <p:spPr>
            <a:xfrm>
              <a:off x="0" y="-57150"/>
              <a:ext cx="166298" cy="221922"/>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1660114" y="9793427"/>
            <a:ext cx="631414" cy="625617"/>
            <a:chOff x="0" y="0"/>
            <a:chExt cx="166298" cy="164772"/>
          </a:xfrm>
        </p:grpSpPr>
        <p:sp>
          <p:nvSpPr>
            <p:cNvPr id="18" name="Freeform 18"/>
            <p:cNvSpPr/>
            <p:nvPr/>
          </p:nvSpPr>
          <p:spPr>
            <a:xfrm>
              <a:off x="0" y="0"/>
              <a:ext cx="166298" cy="164772"/>
            </a:xfrm>
            <a:custGeom>
              <a:avLst/>
              <a:gdLst/>
              <a:ahLst/>
              <a:cxnLst/>
              <a:rect l="l" t="t" r="r" b="b"/>
              <a:pathLst>
                <a:path w="166298" h="164772">
                  <a:moveTo>
                    <a:pt x="0" y="0"/>
                  </a:moveTo>
                  <a:lnTo>
                    <a:pt x="166298" y="0"/>
                  </a:lnTo>
                  <a:lnTo>
                    <a:pt x="166298" y="164772"/>
                  </a:lnTo>
                  <a:lnTo>
                    <a:pt x="0" y="164772"/>
                  </a:lnTo>
                  <a:close/>
                </a:path>
              </a:pathLst>
            </a:custGeom>
            <a:solidFill>
              <a:srgbClr val="598196"/>
            </a:solidFill>
          </p:spPr>
          <p:txBody>
            <a:bodyPr/>
            <a:lstStyle/>
            <a:p>
              <a:endParaRPr lang="en-US"/>
            </a:p>
          </p:txBody>
        </p:sp>
        <p:sp>
          <p:nvSpPr>
            <p:cNvPr id="19" name="TextBox 19"/>
            <p:cNvSpPr txBox="1"/>
            <p:nvPr/>
          </p:nvSpPr>
          <p:spPr>
            <a:xfrm>
              <a:off x="0" y="-57150"/>
              <a:ext cx="166298" cy="221922"/>
            </a:xfrm>
            <a:prstGeom prst="rect">
              <a:avLst/>
            </a:prstGeom>
          </p:spPr>
          <p:txBody>
            <a:bodyPr lIns="50800" tIns="50800" rIns="50800" bIns="50800" rtlCol="0" anchor="ctr"/>
            <a:lstStyle/>
            <a:p>
              <a:pPr algn="ctr">
                <a:lnSpc>
                  <a:spcPts val="2659"/>
                </a:lnSpc>
                <a:spcBef>
                  <a:spcPct val="0"/>
                </a:spcBef>
              </a:pPr>
              <a:endParaRPr/>
            </a:p>
          </p:txBody>
        </p:sp>
      </p:grpSp>
      <p:grpSp>
        <p:nvGrpSpPr>
          <p:cNvPr id="20" name="Group 20"/>
          <p:cNvGrpSpPr/>
          <p:nvPr/>
        </p:nvGrpSpPr>
        <p:grpSpPr>
          <a:xfrm>
            <a:off x="2291527" y="9793427"/>
            <a:ext cx="631414" cy="625617"/>
            <a:chOff x="0" y="0"/>
            <a:chExt cx="166298" cy="164772"/>
          </a:xfrm>
        </p:grpSpPr>
        <p:sp>
          <p:nvSpPr>
            <p:cNvPr id="21" name="Freeform 21"/>
            <p:cNvSpPr/>
            <p:nvPr/>
          </p:nvSpPr>
          <p:spPr>
            <a:xfrm>
              <a:off x="0" y="0"/>
              <a:ext cx="166298" cy="164772"/>
            </a:xfrm>
            <a:custGeom>
              <a:avLst/>
              <a:gdLst/>
              <a:ahLst/>
              <a:cxnLst/>
              <a:rect l="l" t="t" r="r" b="b"/>
              <a:pathLst>
                <a:path w="166298" h="164772">
                  <a:moveTo>
                    <a:pt x="0" y="0"/>
                  </a:moveTo>
                  <a:lnTo>
                    <a:pt x="166298" y="0"/>
                  </a:lnTo>
                  <a:lnTo>
                    <a:pt x="166298" y="164772"/>
                  </a:lnTo>
                  <a:lnTo>
                    <a:pt x="0" y="164772"/>
                  </a:lnTo>
                  <a:close/>
                </a:path>
              </a:pathLst>
            </a:custGeom>
            <a:solidFill>
              <a:srgbClr val="2B485F"/>
            </a:solidFill>
          </p:spPr>
          <p:txBody>
            <a:bodyPr/>
            <a:lstStyle/>
            <a:p>
              <a:endParaRPr lang="en-US"/>
            </a:p>
          </p:txBody>
        </p:sp>
        <p:sp>
          <p:nvSpPr>
            <p:cNvPr id="22" name="TextBox 22"/>
            <p:cNvSpPr txBox="1"/>
            <p:nvPr/>
          </p:nvSpPr>
          <p:spPr>
            <a:xfrm>
              <a:off x="0" y="-57150"/>
              <a:ext cx="166298" cy="221922"/>
            </a:xfrm>
            <a:prstGeom prst="rect">
              <a:avLst/>
            </a:prstGeom>
          </p:spPr>
          <p:txBody>
            <a:bodyPr lIns="50800" tIns="50800" rIns="50800" bIns="50800" rtlCol="0" anchor="ctr"/>
            <a:lstStyle/>
            <a:p>
              <a:pPr algn="ctr">
                <a:lnSpc>
                  <a:spcPts val="2659"/>
                </a:lnSpc>
                <a:spcBef>
                  <a:spcPct val="0"/>
                </a:spcBef>
              </a:pPr>
              <a:endParaRPr/>
            </a:p>
          </p:txBody>
        </p:sp>
      </p:grpSp>
      <p:grpSp>
        <p:nvGrpSpPr>
          <p:cNvPr id="23" name="Group 23"/>
          <p:cNvGrpSpPr/>
          <p:nvPr/>
        </p:nvGrpSpPr>
        <p:grpSpPr>
          <a:xfrm>
            <a:off x="2922941" y="9793427"/>
            <a:ext cx="631414" cy="625617"/>
            <a:chOff x="0" y="0"/>
            <a:chExt cx="166298" cy="164772"/>
          </a:xfrm>
        </p:grpSpPr>
        <p:sp>
          <p:nvSpPr>
            <p:cNvPr id="24" name="Freeform 24"/>
            <p:cNvSpPr/>
            <p:nvPr/>
          </p:nvSpPr>
          <p:spPr>
            <a:xfrm>
              <a:off x="0" y="0"/>
              <a:ext cx="166298" cy="164772"/>
            </a:xfrm>
            <a:custGeom>
              <a:avLst/>
              <a:gdLst/>
              <a:ahLst/>
              <a:cxnLst/>
              <a:rect l="l" t="t" r="r" b="b"/>
              <a:pathLst>
                <a:path w="166298" h="164772">
                  <a:moveTo>
                    <a:pt x="0" y="0"/>
                  </a:moveTo>
                  <a:lnTo>
                    <a:pt x="166298" y="0"/>
                  </a:lnTo>
                  <a:lnTo>
                    <a:pt x="166298" y="164772"/>
                  </a:lnTo>
                  <a:lnTo>
                    <a:pt x="0" y="164772"/>
                  </a:lnTo>
                  <a:close/>
                </a:path>
              </a:pathLst>
            </a:custGeom>
            <a:solidFill>
              <a:srgbClr val="2B485F"/>
            </a:solidFill>
          </p:spPr>
          <p:txBody>
            <a:bodyPr/>
            <a:lstStyle/>
            <a:p>
              <a:endParaRPr lang="en-US"/>
            </a:p>
          </p:txBody>
        </p:sp>
        <p:sp>
          <p:nvSpPr>
            <p:cNvPr id="25" name="TextBox 25"/>
            <p:cNvSpPr txBox="1"/>
            <p:nvPr/>
          </p:nvSpPr>
          <p:spPr>
            <a:xfrm>
              <a:off x="0" y="-57150"/>
              <a:ext cx="166298" cy="221922"/>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26"/>
          <p:cNvSpPr txBox="1"/>
          <p:nvPr/>
        </p:nvSpPr>
        <p:spPr>
          <a:xfrm>
            <a:off x="1028700" y="8548116"/>
            <a:ext cx="9234292" cy="566420"/>
          </a:xfrm>
          <a:prstGeom prst="rect">
            <a:avLst/>
          </a:prstGeom>
        </p:spPr>
        <p:txBody>
          <a:bodyPr lIns="0" tIns="0" rIns="0" bIns="0" rtlCol="0" anchor="t">
            <a:spAutoFit/>
          </a:bodyPr>
          <a:lstStyle/>
          <a:p>
            <a:pPr algn="l">
              <a:lnSpc>
                <a:spcPts val="4480"/>
              </a:lnSpc>
              <a:spcBef>
                <a:spcPct val="0"/>
              </a:spcBef>
            </a:pPr>
            <a:r>
              <a:rPr lang="en-US" sz="3200" b="1">
                <a:solidFill>
                  <a:srgbClr val="000000"/>
                </a:solidFill>
                <a:latin typeface="Poppins Bold"/>
                <a:ea typeface="Poppins Bold"/>
                <a:cs typeface="Poppins Bold"/>
                <a:sym typeface="Poppins Bold"/>
              </a:rPr>
              <a:t>Presentor</a:t>
            </a:r>
            <a:r>
              <a:rPr lang="en-US" sz="3200">
                <a:solidFill>
                  <a:srgbClr val="000000"/>
                </a:solidFill>
                <a:latin typeface="Poppins"/>
                <a:ea typeface="Poppins"/>
                <a:cs typeface="Poppins"/>
                <a:sym typeface="Poppins"/>
              </a:rPr>
              <a:t>: Ho Sy Kien, Bachelor of CS, HCMUS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011510" y="3491114"/>
            <a:ext cx="7247790" cy="4847876"/>
            <a:chOff x="0" y="0"/>
            <a:chExt cx="1122872" cy="751063"/>
          </a:xfrm>
        </p:grpSpPr>
        <p:sp>
          <p:nvSpPr>
            <p:cNvPr id="3" name="Freeform 3"/>
            <p:cNvSpPr/>
            <p:nvPr/>
          </p:nvSpPr>
          <p:spPr>
            <a:xfrm>
              <a:off x="0" y="0"/>
              <a:ext cx="1122872" cy="751063"/>
            </a:xfrm>
            <a:custGeom>
              <a:avLst/>
              <a:gdLst/>
              <a:ahLst/>
              <a:cxnLst/>
              <a:rect l="l" t="t" r="r" b="b"/>
              <a:pathLst>
                <a:path w="1122872" h="751063">
                  <a:moveTo>
                    <a:pt x="42727" y="0"/>
                  </a:moveTo>
                  <a:lnTo>
                    <a:pt x="1080145" y="0"/>
                  </a:lnTo>
                  <a:cubicBezTo>
                    <a:pt x="1103743" y="0"/>
                    <a:pt x="1122872" y="19130"/>
                    <a:pt x="1122872" y="42727"/>
                  </a:cubicBezTo>
                  <a:lnTo>
                    <a:pt x="1122872" y="708336"/>
                  </a:lnTo>
                  <a:cubicBezTo>
                    <a:pt x="1122872" y="719668"/>
                    <a:pt x="1118371" y="730535"/>
                    <a:pt x="1110358" y="738548"/>
                  </a:cubicBezTo>
                  <a:cubicBezTo>
                    <a:pt x="1102345" y="746561"/>
                    <a:pt x="1091477" y="751063"/>
                    <a:pt x="1080145" y="751063"/>
                  </a:cubicBezTo>
                  <a:lnTo>
                    <a:pt x="42727" y="751063"/>
                  </a:lnTo>
                  <a:cubicBezTo>
                    <a:pt x="31395" y="751063"/>
                    <a:pt x="20527" y="746561"/>
                    <a:pt x="12514" y="738548"/>
                  </a:cubicBezTo>
                  <a:cubicBezTo>
                    <a:pt x="4502" y="730535"/>
                    <a:pt x="0" y="719668"/>
                    <a:pt x="0" y="708336"/>
                  </a:cubicBezTo>
                  <a:lnTo>
                    <a:pt x="0" y="42727"/>
                  </a:lnTo>
                  <a:cubicBezTo>
                    <a:pt x="0" y="31395"/>
                    <a:pt x="4502" y="20527"/>
                    <a:pt x="12514" y="12514"/>
                  </a:cubicBezTo>
                  <a:cubicBezTo>
                    <a:pt x="20527" y="4502"/>
                    <a:pt x="31395" y="0"/>
                    <a:pt x="42727" y="0"/>
                  </a:cubicBezTo>
                  <a:close/>
                </a:path>
              </a:pathLst>
            </a:custGeom>
            <a:blipFill>
              <a:blip r:embed="rId3"/>
              <a:stretch>
                <a:fillRect l="-3627" r="-3627"/>
              </a:stretch>
            </a:blipFill>
          </p:spPr>
          <p:txBody>
            <a:bodyPr/>
            <a:lstStyle/>
            <a:p>
              <a:endParaRPr lang="en-US"/>
            </a:p>
          </p:txBody>
        </p:sp>
      </p:grpSp>
      <p:grpSp>
        <p:nvGrpSpPr>
          <p:cNvPr id="4" name="Group 4"/>
          <p:cNvGrpSpPr/>
          <p:nvPr/>
        </p:nvGrpSpPr>
        <p:grpSpPr>
          <a:xfrm>
            <a:off x="1957135" y="1028700"/>
            <a:ext cx="11204639" cy="1543050"/>
            <a:chOff x="0" y="0"/>
            <a:chExt cx="2951016" cy="406400"/>
          </a:xfrm>
        </p:grpSpPr>
        <p:sp>
          <p:nvSpPr>
            <p:cNvPr id="5" name="Freeform 5"/>
            <p:cNvSpPr/>
            <p:nvPr/>
          </p:nvSpPr>
          <p:spPr>
            <a:xfrm>
              <a:off x="0" y="0"/>
              <a:ext cx="2951016" cy="406400"/>
            </a:xfrm>
            <a:custGeom>
              <a:avLst/>
              <a:gdLst/>
              <a:ahLst/>
              <a:cxnLst/>
              <a:rect l="l" t="t" r="r" b="b"/>
              <a:pathLst>
                <a:path w="2951016" h="406400">
                  <a:moveTo>
                    <a:pt x="0" y="0"/>
                  </a:moveTo>
                  <a:lnTo>
                    <a:pt x="2951016" y="0"/>
                  </a:lnTo>
                  <a:lnTo>
                    <a:pt x="2951016" y="406400"/>
                  </a:lnTo>
                  <a:lnTo>
                    <a:pt x="0" y="406400"/>
                  </a:lnTo>
                  <a:close/>
                </a:path>
              </a:pathLst>
            </a:custGeom>
            <a:solidFill>
              <a:srgbClr val="122029"/>
            </a:solidFill>
          </p:spPr>
          <p:txBody>
            <a:bodyPr/>
            <a:lstStyle/>
            <a:p>
              <a:endParaRPr lang="en-US"/>
            </a:p>
          </p:txBody>
        </p:sp>
        <p:sp>
          <p:nvSpPr>
            <p:cNvPr id="6" name="TextBox 6"/>
            <p:cNvSpPr txBox="1"/>
            <p:nvPr/>
          </p:nvSpPr>
          <p:spPr>
            <a:xfrm>
              <a:off x="0" y="-57150"/>
              <a:ext cx="2951016"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rot="-7668865">
            <a:off x="9718812" y="-318717"/>
            <a:ext cx="4868099" cy="1199632"/>
            <a:chOff x="0" y="0"/>
            <a:chExt cx="1282133" cy="315952"/>
          </a:xfrm>
        </p:grpSpPr>
        <p:sp>
          <p:nvSpPr>
            <p:cNvPr id="8" name="Freeform 8"/>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9" name="TextBox 9"/>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10"/>
          <p:cNvGrpSpPr/>
          <p:nvPr/>
        </p:nvGrpSpPr>
        <p:grpSpPr>
          <a:xfrm>
            <a:off x="1028700" y="1028700"/>
            <a:ext cx="697472" cy="1543050"/>
            <a:chOff x="0" y="0"/>
            <a:chExt cx="183696" cy="406400"/>
          </a:xfrm>
        </p:grpSpPr>
        <p:sp>
          <p:nvSpPr>
            <p:cNvPr id="11" name="Freeform 11"/>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12" name="TextBox 12"/>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2554559" y="980120"/>
            <a:ext cx="9598302" cy="1411611"/>
          </a:xfrm>
          <a:prstGeom prst="rect">
            <a:avLst/>
          </a:prstGeom>
        </p:spPr>
        <p:txBody>
          <a:bodyPr lIns="0" tIns="0" rIns="0" bIns="0" rtlCol="0" anchor="t">
            <a:spAutoFit/>
          </a:bodyPr>
          <a:lstStyle/>
          <a:p>
            <a:pPr algn="l">
              <a:lnSpc>
                <a:spcPts val="10919"/>
              </a:lnSpc>
              <a:spcBef>
                <a:spcPct val="0"/>
              </a:spcBef>
            </a:pPr>
            <a:r>
              <a:rPr lang="en-US" sz="7799" b="1">
                <a:solidFill>
                  <a:srgbClr val="FFFFFF"/>
                </a:solidFill>
                <a:latin typeface="Poppins Ultra-Bold"/>
                <a:ea typeface="Poppins Ultra-Bold"/>
                <a:cs typeface="Poppins Ultra-Bold"/>
                <a:sym typeface="Poppins Ultra-Bold"/>
              </a:rPr>
              <a:t>Introduction</a:t>
            </a:r>
          </a:p>
        </p:txBody>
      </p:sp>
      <p:sp>
        <p:nvSpPr>
          <p:cNvPr id="14" name="TextBox 14"/>
          <p:cNvSpPr txBox="1"/>
          <p:nvPr/>
        </p:nvSpPr>
        <p:spPr>
          <a:xfrm>
            <a:off x="7391492" y="8886482"/>
            <a:ext cx="3505017" cy="638861"/>
          </a:xfrm>
          <a:prstGeom prst="rect">
            <a:avLst/>
          </a:prstGeom>
        </p:spPr>
        <p:txBody>
          <a:bodyPr lIns="0" tIns="0" rIns="0" bIns="0" rtlCol="0" anchor="t">
            <a:spAutoFit/>
          </a:bodyPr>
          <a:lstStyle/>
          <a:p>
            <a:pPr algn="l">
              <a:lnSpc>
                <a:spcPts val="5010"/>
              </a:lnSpc>
              <a:spcBef>
                <a:spcPct val="0"/>
              </a:spcBef>
            </a:pPr>
            <a:r>
              <a:rPr lang="en-US" sz="3579" b="1">
                <a:solidFill>
                  <a:srgbClr val="000000"/>
                </a:solidFill>
                <a:latin typeface="Poppins Bold"/>
                <a:ea typeface="Poppins Bold"/>
                <a:cs typeface="Poppins Bold"/>
                <a:sym typeface="Poppins Bold"/>
              </a:rPr>
              <a:t>Stock  market</a:t>
            </a:r>
          </a:p>
        </p:txBody>
      </p:sp>
      <p:grpSp>
        <p:nvGrpSpPr>
          <p:cNvPr id="15" name="Group 15"/>
          <p:cNvGrpSpPr/>
          <p:nvPr/>
        </p:nvGrpSpPr>
        <p:grpSpPr>
          <a:xfrm>
            <a:off x="1028700" y="3491114"/>
            <a:ext cx="7253125" cy="4847931"/>
            <a:chOff x="0" y="0"/>
            <a:chExt cx="1123699" cy="751071"/>
          </a:xfrm>
        </p:grpSpPr>
        <p:sp>
          <p:nvSpPr>
            <p:cNvPr id="16" name="Freeform 16"/>
            <p:cNvSpPr/>
            <p:nvPr/>
          </p:nvSpPr>
          <p:spPr>
            <a:xfrm>
              <a:off x="0" y="0"/>
              <a:ext cx="1123699" cy="751071"/>
            </a:xfrm>
            <a:custGeom>
              <a:avLst/>
              <a:gdLst/>
              <a:ahLst/>
              <a:cxnLst/>
              <a:rect l="l" t="t" r="r" b="b"/>
              <a:pathLst>
                <a:path w="1123699" h="751071">
                  <a:moveTo>
                    <a:pt x="42696" y="0"/>
                  </a:moveTo>
                  <a:lnTo>
                    <a:pt x="1081003" y="0"/>
                  </a:lnTo>
                  <a:cubicBezTo>
                    <a:pt x="1104583" y="0"/>
                    <a:pt x="1123699" y="19115"/>
                    <a:pt x="1123699" y="42696"/>
                  </a:cubicBezTo>
                  <a:lnTo>
                    <a:pt x="1123699" y="708376"/>
                  </a:lnTo>
                  <a:cubicBezTo>
                    <a:pt x="1123699" y="731956"/>
                    <a:pt x="1104583" y="751071"/>
                    <a:pt x="1081003" y="751071"/>
                  </a:cubicBezTo>
                  <a:lnTo>
                    <a:pt x="42696" y="751071"/>
                  </a:lnTo>
                  <a:cubicBezTo>
                    <a:pt x="19115" y="751071"/>
                    <a:pt x="0" y="731956"/>
                    <a:pt x="0" y="708376"/>
                  </a:cubicBezTo>
                  <a:lnTo>
                    <a:pt x="0" y="42696"/>
                  </a:lnTo>
                  <a:cubicBezTo>
                    <a:pt x="0" y="19115"/>
                    <a:pt x="19115" y="0"/>
                    <a:pt x="42696" y="0"/>
                  </a:cubicBezTo>
                  <a:close/>
                </a:path>
              </a:pathLst>
            </a:custGeom>
            <a:blipFill>
              <a:blip r:embed="rId4"/>
              <a:stretch>
                <a:fillRect l="-220" r="-220"/>
              </a:stretch>
            </a:blipFill>
          </p:spPr>
          <p:txBody>
            <a:bodyPr/>
            <a:lstStyle/>
            <a:p>
              <a:endParaRPr 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3732522"/>
            <a:ext cx="9140830" cy="5253778"/>
            <a:chOff x="0" y="0"/>
            <a:chExt cx="1800824" cy="1035040"/>
          </a:xfrm>
        </p:grpSpPr>
        <p:sp>
          <p:nvSpPr>
            <p:cNvPr id="3" name="Freeform 3"/>
            <p:cNvSpPr/>
            <p:nvPr/>
          </p:nvSpPr>
          <p:spPr>
            <a:xfrm>
              <a:off x="0" y="0"/>
              <a:ext cx="1800824" cy="1035040"/>
            </a:xfrm>
            <a:custGeom>
              <a:avLst/>
              <a:gdLst/>
              <a:ahLst/>
              <a:cxnLst/>
              <a:rect l="l" t="t" r="r" b="b"/>
              <a:pathLst>
                <a:path w="1800824" h="1035040">
                  <a:moveTo>
                    <a:pt x="0" y="0"/>
                  </a:moveTo>
                  <a:lnTo>
                    <a:pt x="1800824" y="0"/>
                  </a:lnTo>
                  <a:lnTo>
                    <a:pt x="1800824" y="1035040"/>
                  </a:lnTo>
                  <a:lnTo>
                    <a:pt x="0" y="1035040"/>
                  </a:lnTo>
                  <a:close/>
                </a:path>
              </a:pathLst>
            </a:custGeom>
            <a:blipFill>
              <a:blip r:embed="rId3"/>
              <a:stretch>
                <a:fillRect t="-1721" b="-1721"/>
              </a:stretch>
            </a:blipFill>
          </p:spPr>
          <p:txBody>
            <a:bodyPr/>
            <a:lstStyle/>
            <a:p>
              <a:endParaRPr lang="en-US"/>
            </a:p>
          </p:txBody>
        </p:sp>
      </p:grpSp>
      <p:grpSp>
        <p:nvGrpSpPr>
          <p:cNvPr id="4" name="Group 4"/>
          <p:cNvGrpSpPr/>
          <p:nvPr/>
        </p:nvGrpSpPr>
        <p:grpSpPr>
          <a:xfrm>
            <a:off x="1957135" y="1028700"/>
            <a:ext cx="12144169" cy="1543050"/>
            <a:chOff x="0" y="0"/>
            <a:chExt cx="3198464" cy="406400"/>
          </a:xfrm>
        </p:grpSpPr>
        <p:sp>
          <p:nvSpPr>
            <p:cNvPr id="5" name="Freeform 5"/>
            <p:cNvSpPr/>
            <p:nvPr/>
          </p:nvSpPr>
          <p:spPr>
            <a:xfrm>
              <a:off x="0" y="0"/>
              <a:ext cx="3198464" cy="406400"/>
            </a:xfrm>
            <a:custGeom>
              <a:avLst/>
              <a:gdLst/>
              <a:ahLst/>
              <a:cxnLst/>
              <a:rect l="l" t="t" r="r" b="b"/>
              <a:pathLst>
                <a:path w="3198464" h="406400">
                  <a:moveTo>
                    <a:pt x="0" y="0"/>
                  </a:moveTo>
                  <a:lnTo>
                    <a:pt x="3198464" y="0"/>
                  </a:lnTo>
                  <a:lnTo>
                    <a:pt x="3198464" y="406400"/>
                  </a:lnTo>
                  <a:lnTo>
                    <a:pt x="0" y="406400"/>
                  </a:lnTo>
                  <a:close/>
                </a:path>
              </a:pathLst>
            </a:custGeom>
            <a:solidFill>
              <a:srgbClr val="122029"/>
            </a:solidFill>
          </p:spPr>
          <p:txBody>
            <a:bodyPr/>
            <a:lstStyle/>
            <a:p>
              <a:endParaRPr lang="en-US"/>
            </a:p>
          </p:txBody>
        </p:sp>
        <p:sp>
          <p:nvSpPr>
            <p:cNvPr id="6" name="TextBox 6"/>
            <p:cNvSpPr txBox="1"/>
            <p:nvPr/>
          </p:nvSpPr>
          <p:spPr>
            <a:xfrm>
              <a:off x="0" y="-57150"/>
              <a:ext cx="3198464"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rot="-7668865">
            <a:off x="10596467" y="-318717"/>
            <a:ext cx="4868099" cy="1199632"/>
            <a:chOff x="0" y="0"/>
            <a:chExt cx="1282133" cy="315952"/>
          </a:xfrm>
        </p:grpSpPr>
        <p:sp>
          <p:nvSpPr>
            <p:cNvPr id="8" name="Freeform 8"/>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9" name="TextBox 9"/>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10"/>
          <p:cNvGrpSpPr/>
          <p:nvPr/>
        </p:nvGrpSpPr>
        <p:grpSpPr>
          <a:xfrm>
            <a:off x="1028700" y="1028700"/>
            <a:ext cx="697472" cy="1543050"/>
            <a:chOff x="0" y="0"/>
            <a:chExt cx="183696" cy="406400"/>
          </a:xfrm>
        </p:grpSpPr>
        <p:sp>
          <p:nvSpPr>
            <p:cNvPr id="11" name="Freeform 11"/>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12" name="TextBox 12"/>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2411241" y="999170"/>
            <a:ext cx="10983711" cy="1319534"/>
          </a:xfrm>
          <a:prstGeom prst="rect">
            <a:avLst/>
          </a:prstGeom>
        </p:spPr>
        <p:txBody>
          <a:bodyPr lIns="0" tIns="0" rIns="0" bIns="0" rtlCol="0" anchor="t">
            <a:spAutoFit/>
          </a:bodyPr>
          <a:lstStyle/>
          <a:p>
            <a:pPr algn="l">
              <a:lnSpc>
                <a:spcPts val="10219"/>
              </a:lnSpc>
              <a:spcBef>
                <a:spcPct val="0"/>
              </a:spcBef>
            </a:pPr>
            <a:r>
              <a:rPr lang="en-US" sz="7299" b="1">
                <a:solidFill>
                  <a:srgbClr val="FFFFFF"/>
                </a:solidFill>
                <a:latin typeface="Poppins Ultra-Bold"/>
                <a:ea typeface="Poppins Ultra-Bold"/>
                <a:cs typeface="Poppins Ultra-Bold"/>
                <a:sym typeface="Poppins Ultra-Bold"/>
              </a:rPr>
              <a:t>Research Motivation</a:t>
            </a:r>
          </a:p>
        </p:txBody>
      </p:sp>
      <p:sp>
        <p:nvSpPr>
          <p:cNvPr id="14" name="TextBox 14"/>
          <p:cNvSpPr txBox="1"/>
          <p:nvPr/>
        </p:nvSpPr>
        <p:spPr>
          <a:xfrm>
            <a:off x="11064331" y="3665847"/>
            <a:ext cx="7082962" cy="6137275"/>
          </a:xfrm>
          <a:prstGeom prst="rect">
            <a:avLst/>
          </a:prstGeom>
        </p:spPr>
        <p:txBody>
          <a:bodyPr lIns="0" tIns="0" rIns="0" bIns="0" rtlCol="0" anchor="t">
            <a:spAutoFit/>
          </a:bodyPr>
          <a:lstStyle/>
          <a:p>
            <a:pPr marL="539749" lvl="1" indent="-269875" algn="l">
              <a:lnSpc>
                <a:spcPts val="3499"/>
              </a:lnSpc>
              <a:buFont typeface="Arial"/>
              <a:buChar char="•"/>
            </a:pPr>
            <a:r>
              <a:rPr lang="en-US" sz="2499" b="1">
                <a:solidFill>
                  <a:srgbClr val="000000"/>
                </a:solidFill>
                <a:latin typeface="Poppins Bold"/>
                <a:ea typeface="Poppins Bold"/>
                <a:cs typeface="Poppins Bold"/>
                <a:sym typeface="Poppins Bold"/>
              </a:rPr>
              <a:t>Market Complexity</a:t>
            </a:r>
            <a:r>
              <a:rPr lang="en-US" sz="2499">
                <a:solidFill>
                  <a:srgbClr val="000000"/>
                </a:solidFill>
                <a:latin typeface="Poppins"/>
                <a:ea typeface="Poppins"/>
                <a:cs typeface="Poppins"/>
                <a:sym typeface="Poppins"/>
              </a:rPr>
              <a:t>:  Financial markets are highly dynamic, influenced by sentiment, macroeconomic events, and regulatory changes.</a:t>
            </a:r>
          </a:p>
          <a:p>
            <a:pPr algn="l">
              <a:lnSpc>
                <a:spcPts val="3499"/>
              </a:lnSpc>
            </a:pPr>
            <a:endParaRPr lang="en-US" sz="2499">
              <a:solidFill>
                <a:srgbClr val="000000"/>
              </a:solidFill>
              <a:latin typeface="Poppins"/>
              <a:ea typeface="Poppins"/>
              <a:cs typeface="Poppins"/>
              <a:sym typeface="Poppins"/>
            </a:endParaRPr>
          </a:p>
          <a:p>
            <a:pPr marL="539749" lvl="1" indent="-269875" algn="l">
              <a:lnSpc>
                <a:spcPts val="3499"/>
              </a:lnSpc>
              <a:buFont typeface="Arial"/>
              <a:buChar char="•"/>
            </a:pPr>
            <a:r>
              <a:rPr lang="en-US" sz="2499" b="1">
                <a:solidFill>
                  <a:srgbClr val="000000"/>
                </a:solidFill>
                <a:latin typeface="Poppins Bold"/>
                <a:ea typeface="Poppins Bold"/>
                <a:cs typeface="Poppins Bold"/>
                <a:sym typeface="Poppins Bold"/>
              </a:rPr>
              <a:t>News-Driven Volatility:</a:t>
            </a:r>
            <a:r>
              <a:rPr lang="en-US" sz="2499">
                <a:solidFill>
                  <a:srgbClr val="000000"/>
                </a:solidFill>
                <a:latin typeface="Poppins"/>
                <a:ea typeface="Poppins"/>
                <a:cs typeface="Poppins"/>
                <a:sym typeface="Poppins"/>
              </a:rPr>
              <a:t>  Unexpected news events trigger abrupt shifts in asset prices, a phenomenon inadequately captured by traditional models.</a:t>
            </a:r>
          </a:p>
          <a:p>
            <a:pPr algn="l">
              <a:lnSpc>
                <a:spcPts val="3499"/>
              </a:lnSpc>
            </a:pPr>
            <a:endParaRPr lang="en-US" sz="2499">
              <a:solidFill>
                <a:srgbClr val="000000"/>
              </a:solidFill>
              <a:latin typeface="Poppins"/>
              <a:ea typeface="Poppins"/>
              <a:cs typeface="Poppins"/>
              <a:sym typeface="Poppins"/>
            </a:endParaRPr>
          </a:p>
          <a:p>
            <a:pPr marL="539749" lvl="1" indent="-269875" algn="l">
              <a:lnSpc>
                <a:spcPts val="3499"/>
              </a:lnSpc>
              <a:buFont typeface="Arial"/>
              <a:buChar char="•"/>
            </a:pPr>
            <a:r>
              <a:rPr lang="en-US" sz="2499" b="1">
                <a:solidFill>
                  <a:srgbClr val="000000"/>
                </a:solidFill>
                <a:latin typeface="Poppins Bold"/>
                <a:ea typeface="Poppins Bold"/>
                <a:cs typeface="Poppins Bold"/>
                <a:sym typeface="Poppins Bold"/>
              </a:rPr>
              <a:t>AI &amp; Data Explosion:</a:t>
            </a:r>
            <a:r>
              <a:rPr lang="en-US" sz="2499">
                <a:solidFill>
                  <a:srgbClr val="000000"/>
                </a:solidFill>
                <a:latin typeface="Poppins"/>
                <a:ea typeface="Poppins"/>
                <a:cs typeface="Poppins"/>
                <a:sym typeface="Poppins"/>
              </a:rPr>
              <a:t>  Advances in NLP and generative AI enable scalable processing of unstructured financial news for market prediction.</a:t>
            </a:r>
          </a:p>
        </p:txBody>
      </p:sp>
      <p:sp>
        <p:nvSpPr>
          <p:cNvPr id="15" name="TextBox 15"/>
          <p:cNvSpPr txBox="1"/>
          <p:nvPr/>
        </p:nvSpPr>
        <p:spPr>
          <a:xfrm>
            <a:off x="1028700" y="2694865"/>
            <a:ext cx="16408524" cy="891952"/>
          </a:xfrm>
          <a:prstGeom prst="rect">
            <a:avLst/>
          </a:prstGeom>
        </p:spPr>
        <p:txBody>
          <a:bodyPr lIns="0" tIns="0" rIns="0" bIns="0" rtlCol="0" anchor="t">
            <a:spAutoFit/>
          </a:bodyPr>
          <a:lstStyle/>
          <a:p>
            <a:pPr algn="l">
              <a:lnSpc>
                <a:spcPts val="6997"/>
              </a:lnSpc>
              <a:spcBef>
                <a:spcPct val="0"/>
              </a:spcBef>
            </a:pPr>
            <a:r>
              <a:rPr lang="en-US" sz="4998" b="1">
                <a:solidFill>
                  <a:srgbClr val="86B4C4"/>
                </a:solidFill>
                <a:latin typeface="Poppins Ultra-Bold"/>
                <a:ea typeface="Poppins Ultra-Bold"/>
                <a:cs typeface="Poppins Ultra-Bold"/>
                <a:sym typeface="Poppins Ultra-Bold"/>
              </a:rPr>
              <a:t>Why News Data Matters in Financial Forecasting</a:t>
            </a:r>
          </a:p>
        </p:txBody>
      </p:sp>
      <p:sp>
        <p:nvSpPr>
          <p:cNvPr id="16" name="TextBox 16"/>
          <p:cNvSpPr txBox="1"/>
          <p:nvPr/>
        </p:nvSpPr>
        <p:spPr>
          <a:xfrm>
            <a:off x="2010036" y="9201150"/>
            <a:ext cx="7222927" cy="325755"/>
          </a:xfrm>
          <a:prstGeom prst="rect">
            <a:avLst/>
          </a:prstGeom>
        </p:spPr>
        <p:txBody>
          <a:bodyPr lIns="0" tIns="0" rIns="0" bIns="0" rtlCol="0" anchor="t">
            <a:spAutoFit/>
          </a:bodyPr>
          <a:lstStyle/>
          <a:p>
            <a:pPr algn="ctr">
              <a:lnSpc>
                <a:spcPts val="2520"/>
              </a:lnSpc>
              <a:spcBef>
                <a:spcPct val="0"/>
              </a:spcBef>
            </a:pPr>
            <a:r>
              <a:rPr lang="en-US" sz="1800" i="1">
                <a:solidFill>
                  <a:srgbClr val="000000"/>
                </a:solidFill>
                <a:latin typeface="Poppins Italics"/>
                <a:ea typeface="Poppins Italics"/>
                <a:cs typeface="Poppins Italics"/>
                <a:sym typeface="Poppins Italics"/>
              </a:rPr>
              <a:t> Source: MARKETWATCH, GETTY IMAGES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57135" y="1028700"/>
            <a:ext cx="11204639" cy="1543050"/>
            <a:chOff x="0" y="0"/>
            <a:chExt cx="2951016" cy="406400"/>
          </a:xfrm>
        </p:grpSpPr>
        <p:sp>
          <p:nvSpPr>
            <p:cNvPr id="3" name="Freeform 3"/>
            <p:cNvSpPr/>
            <p:nvPr/>
          </p:nvSpPr>
          <p:spPr>
            <a:xfrm>
              <a:off x="0" y="0"/>
              <a:ext cx="2951016" cy="406400"/>
            </a:xfrm>
            <a:custGeom>
              <a:avLst/>
              <a:gdLst/>
              <a:ahLst/>
              <a:cxnLst/>
              <a:rect l="l" t="t" r="r" b="b"/>
              <a:pathLst>
                <a:path w="2951016" h="406400">
                  <a:moveTo>
                    <a:pt x="0" y="0"/>
                  </a:moveTo>
                  <a:lnTo>
                    <a:pt x="2951016" y="0"/>
                  </a:lnTo>
                  <a:lnTo>
                    <a:pt x="2951016" y="406400"/>
                  </a:lnTo>
                  <a:lnTo>
                    <a:pt x="0" y="406400"/>
                  </a:lnTo>
                  <a:close/>
                </a:path>
              </a:pathLst>
            </a:custGeom>
            <a:solidFill>
              <a:srgbClr val="122029"/>
            </a:solidFill>
          </p:spPr>
          <p:txBody>
            <a:bodyPr/>
            <a:lstStyle/>
            <a:p>
              <a:endParaRPr lang="en-US"/>
            </a:p>
          </p:txBody>
        </p:sp>
        <p:sp>
          <p:nvSpPr>
            <p:cNvPr id="4" name="TextBox 4"/>
            <p:cNvSpPr txBox="1"/>
            <p:nvPr/>
          </p:nvSpPr>
          <p:spPr>
            <a:xfrm>
              <a:off x="0" y="-57150"/>
              <a:ext cx="2951016"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7668865">
            <a:off x="9718812" y="-318717"/>
            <a:ext cx="4868099" cy="1199632"/>
            <a:chOff x="0" y="0"/>
            <a:chExt cx="1282133" cy="315952"/>
          </a:xfrm>
        </p:grpSpPr>
        <p:sp>
          <p:nvSpPr>
            <p:cNvPr id="6" name="Freeform 6"/>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7" name="TextBox 7"/>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28700" y="1028700"/>
            <a:ext cx="697472" cy="1543050"/>
            <a:chOff x="0" y="0"/>
            <a:chExt cx="183696" cy="406400"/>
          </a:xfrm>
        </p:grpSpPr>
        <p:sp>
          <p:nvSpPr>
            <p:cNvPr id="9" name="Freeform 9"/>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10" name="TextBox 10"/>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1377436" y="3284945"/>
            <a:ext cx="1200424" cy="1200424"/>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8196"/>
            </a:solidFill>
          </p:spPr>
          <p:txBody>
            <a:bodyPr/>
            <a:lstStyle/>
            <a:p>
              <a:endParaRPr lang="en-US"/>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3013315" y="3304133"/>
            <a:ext cx="10412744" cy="1609725"/>
          </a:xfrm>
          <a:prstGeom prst="rect">
            <a:avLst/>
          </a:prstGeom>
        </p:spPr>
        <p:txBody>
          <a:bodyPr lIns="0" tIns="0" rIns="0" bIns="0" rtlCol="0" anchor="t">
            <a:spAutoFit/>
          </a:bodyPr>
          <a:lstStyle/>
          <a:p>
            <a:pPr algn="l">
              <a:lnSpc>
                <a:spcPts val="4200"/>
              </a:lnSpc>
              <a:spcBef>
                <a:spcPct val="0"/>
              </a:spcBef>
            </a:pPr>
            <a:r>
              <a:rPr lang="en-US" sz="3000" b="1">
                <a:solidFill>
                  <a:srgbClr val="598196"/>
                </a:solidFill>
                <a:latin typeface="Poppins Bold"/>
                <a:ea typeface="Poppins Bold"/>
                <a:cs typeface="Poppins Bold"/>
                <a:sym typeface="Poppins Bold"/>
              </a:rPr>
              <a:t>Information-Price Gap</a:t>
            </a:r>
            <a:r>
              <a:rPr lang="en-US" sz="3000">
                <a:solidFill>
                  <a:srgbClr val="000000"/>
                </a:solidFill>
                <a:latin typeface="Poppins"/>
                <a:ea typeface="Poppins"/>
                <a:cs typeface="Poppins"/>
                <a:sym typeface="Poppins"/>
              </a:rPr>
              <a:t>: </a:t>
            </a:r>
          </a:p>
          <a:p>
            <a:pPr algn="l">
              <a:lnSpc>
                <a:spcPts val="4200"/>
              </a:lnSpc>
              <a:spcBef>
                <a:spcPct val="0"/>
              </a:spcBef>
            </a:pPr>
            <a:r>
              <a:rPr lang="en-US" sz="3000">
                <a:solidFill>
                  <a:srgbClr val="000000"/>
                </a:solidFill>
                <a:latin typeface="Poppins"/>
                <a:ea typeface="Poppins"/>
                <a:cs typeface="Poppins"/>
                <a:sym typeface="Poppins"/>
              </a:rPr>
              <a:t>Existing models inadequately capture pre-price public sentiment and news impact.</a:t>
            </a:r>
          </a:p>
        </p:txBody>
      </p:sp>
      <p:sp>
        <p:nvSpPr>
          <p:cNvPr id="15" name="TextBox 15"/>
          <p:cNvSpPr txBox="1"/>
          <p:nvPr/>
        </p:nvSpPr>
        <p:spPr>
          <a:xfrm>
            <a:off x="2554559" y="1035683"/>
            <a:ext cx="9746345" cy="1319534"/>
          </a:xfrm>
          <a:prstGeom prst="rect">
            <a:avLst/>
          </a:prstGeom>
        </p:spPr>
        <p:txBody>
          <a:bodyPr lIns="0" tIns="0" rIns="0" bIns="0" rtlCol="0" anchor="t">
            <a:spAutoFit/>
          </a:bodyPr>
          <a:lstStyle/>
          <a:p>
            <a:pPr algn="l">
              <a:lnSpc>
                <a:spcPts val="10219"/>
              </a:lnSpc>
              <a:spcBef>
                <a:spcPct val="0"/>
              </a:spcBef>
            </a:pPr>
            <a:r>
              <a:rPr lang="en-US" sz="7299" b="1">
                <a:solidFill>
                  <a:srgbClr val="FFFFFF"/>
                </a:solidFill>
                <a:latin typeface="Poppins Ultra-Bold"/>
                <a:ea typeface="Poppins Ultra-Bold"/>
                <a:cs typeface="Poppins Ultra-Bold"/>
                <a:sym typeface="Poppins Ultra-Bold"/>
              </a:rPr>
              <a:t>Research Problems</a:t>
            </a:r>
          </a:p>
        </p:txBody>
      </p:sp>
      <p:sp>
        <p:nvSpPr>
          <p:cNvPr id="16" name="TextBox 16"/>
          <p:cNvSpPr txBox="1"/>
          <p:nvPr/>
        </p:nvSpPr>
        <p:spPr>
          <a:xfrm>
            <a:off x="8627936" y="5322664"/>
            <a:ext cx="9546944" cy="1609725"/>
          </a:xfrm>
          <a:prstGeom prst="rect">
            <a:avLst/>
          </a:prstGeom>
        </p:spPr>
        <p:txBody>
          <a:bodyPr lIns="0" tIns="0" rIns="0" bIns="0" rtlCol="0" anchor="t">
            <a:spAutoFit/>
          </a:bodyPr>
          <a:lstStyle/>
          <a:p>
            <a:pPr algn="l">
              <a:lnSpc>
                <a:spcPts val="4200"/>
              </a:lnSpc>
              <a:spcBef>
                <a:spcPct val="0"/>
              </a:spcBef>
            </a:pPr>
            <a:r>
              <a:rPr lang="en-US" sz="3000" b="1">
                <a:solidFill>
                  <a:srgbClr val="2B485F"/>
                </a:solidFill>
                <a:latin typeface="Poppins Bold"/>
                <a:ea typeface="Poppins Bold"/>
                <a:cs typeface="Poppins Bold"/>
                <a:sym typeface="Poppins Bold"/>
              </a:rPr>
              <a:t>Noise in Textual Data</a:t>
            </a:r>
            <a:r>
              <a:rPr lang="en-US" sz="3000">
                <a:solidFill>
                  <a:srgbClr val="2B485F"/>
                </a:solidFill>
                <a:latin typeface="Poppins"/>
                <a:ea typeface="Poppins"/>
                <a:cs typeface="Poppins"/>
                <a:sym typeface="Poppins"/>
              </a:rPr>
              <a:t>:</a:t>
            </a:r>
            <a:r>
              <a:rPr lang="en-US" sz="3000">
                <a:solidFill>
                  <a:srgbClr val="000000"/>
                </a:solidFill>
                <a:latin typeface="Poppins"/>
                <a:ea typeface="Poppins"/>
                <a:cs typeface="Poppins"/>
                <a:sym typeface="Poppins"/>
              </a:rPr>
              <a:t> </a:t>
            </a:r>
          </a:p>
          <a:p>
            <a:pPr algn="l">
              <a:lnSpc>
                <a:spcPts val="4200"/>
              </a:lnSpc>
              <a:spcBef>
                <a:spcPct val="0"/>
              </a:spcBef>
            </a:pPr>
            <a:r>
              <a:rPr lang="en-US" sz="3000">
                <a:solidFill>
                  <a:srgbClr val="000000"/>
                </a:solidFill>
                <a:latin typeface="Poppins"/>
                <a:ea typeface="Poppins"/>
                <a:cs typeface="Poppins"/>
                <a:sym typeface="Poppins"/>
              </a:rPr>
              <a:t>Not all news content is predictive—differentiating signal from reactive noise is nontrivial.</a:t>
            </a:r>
          </a:p>
        </p:txBody>
      </p:sp>
      <p:grpSp>
        <p:nvGrpSpPr>
          <p:cNvPr id="17" name="Group 17"/>
          <p:cNvGrpSpPr/>
          <p:nvPr/>
        </p:nvGrpSpPr>
        <p:grpSpPr>
          <a:xfrm>
            <a:off x="6989269" y="5303477"/>
            <a:ext cx="1200424" cy="1200424"/>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485F"/>
            </a:solidFill>
          </p:spPr>
          <p:txBody>
            <a:bodyPr/>
            <a:lstStyle/>
            <a:p>
              <a:endParaRPr lang="en-US"/>
            </a:p>
          </p:txBody>
        </p:sp>
        <p:sp>
          <p:nvSpPr>
            <p:cNvPr id="19" name="TextBox 19"/>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8377394" y="9032512"/>
            <a:ext cx="11204639" cy="1543050"/>
            <a:chOff x="0" y="0"/>
            <a:chExt cx="2951016" cy="406400"/>
          </a:xfrm>
        </p:grpSpPr>
        <p:sp>
          <p:nvSpPr>
            <p:cNvPr id="21" name="Freeform 21"/>
            <p:cNvSpPr/>
            <p:nvPr/>
          </p:nvSpPr>
          <p:spPr>
            <a:xfrm>
              <a:off x="0" y="0"/>
              <a:ext cx="2951016" cy="406400"/>
            </a:xfrm>
            <a:custGeom>
              <a:avLst/>
              <a:gdLst/>
              <a:ahLst/>
              <a:cxnLst/>
              <a:rect l="l" t="t" r="r" b="b"/>
              <a:pathLst>
                <a:path w="2951016" h="406400">
                  <a:moveTo>
                    <a:pt x="0" y="0"/>
                  </a:moveTo>
                  <a:lnTo>
                    <a:pt x="2951016" y="0"/>
                  </a:lnTo>
                  <a:lnTo>
                    <a:pt x="2951016" y="406400"/>
                  </a:lnTo>
                  <a:lnTo>
                    <a:pt x="0" y="406400"/>
                  </a:lnTo>
                  <a:close/>
                </a:path>
              </a:pathLst>
            </a:custGeom>
            <a:solidFill>
              <a:srgbClr val="122029"/>
            </a:solidFill>
          </p:spPr>
          <p:txBody>
            <a:bodyPr/>
            <a:lstStyle/>
            <a:p>
              <a:endParaRPr lang="en-US"/>
            </a:p>
          </p:txBody>
        </p:sp>
        <p:sp>
          <p:nvSpPr>
            <p:cNvPr id="22" name="TextBox 22"/>
            <p:cNvSpPr txBox="1"/>
            <p:nvPr/>
          </p:nvSpPr>
          <p:spPr>
            <a:xfrm>
              <a:off x="0" y="-57150"/>
              <a:ext cx="2951016"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23" name="Group 23"/>
          <p:cNvGrpSpPr/>
          <p:nvPr/>
        </p:nvGrpSpPr>
        <p:grpSpPr>
          <a:xfrm rot="-7668865">
            <a:off x="6959868" y="10723348"/>
            <a:ext cx="4868099" cy="1199632"/>
            <a:chOff x="0" y="0"/>
            <a:chExt cx="1282133" cy="315952"/>
          </a:xfrm>
        </p:grpSpPr>
        <p:sp>
          <p:nvSpPr>
            <p:cNvPr id="24" name="Freeform 24"/>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25" name="TextBox 25"/>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26"/>
          <p:cNvSpPr txBox="1"/>
          <p:nvPr/>
        </p:nvSpPr>
        <p:spPr>
          <a:xfrm>
            <a:off x="1473585" y="3330451"/>
            <a:ext cx="1002552" cy="984250"/>
          </a:xfrm>
          <a:prstGeom prst="rect">
            <a:avLst/>
          </a:prstGeom>
        </p:spPr>
        <p:txBody>
          <a:bodyPr lIns="0" tIns="0" rIns="0" bIns="0" rtlCol="0" anchor="t">
            <a:spAutoFit/>
          </a:bodyPr>
          <a:lstStyle/>
          <a:p>
            <a:pPr algn="ctr">
              <a:lnSpc>
                <a:spcPts val="7699"/>
              </a:lnSpc>
            </a:pPr>
            <a:r>
              <a:rPr lang="en-US" sz="5499" b="1">
                <a:solidFill>
                  <a:srgbClr val="FFFFFF"/>
                </a:solidFill>
                <a:latin typeface="Poppins Bold"/>
                <a:ea typeface="Poppins Bold"/>
                <a:cs typeface="Poppins Bold"/>
                <a:sym typeface="Poppins Bold"/>
              </a:rPr>
              <a:t>1</a:t>
            </a:r>
          </a:p>
        </p:txBody>
      </p:sp>
      <p:sp>
        <p:nvSpPr>
          <p:cNvPr id="27" name="TextBox 27"/>
          <p:cNvSpPr txBox="1"/>
          <p:nvPr/>
        </p:nvSpPr>
        <p:spPr>
          <a:xfrm>
            <a:off x="7090993" y="5335364"/>
            <a:ext cx="1002552" cy="984250"/>
          </a:xfrm>
          <a:prstGeom prst="rect">
            <a:avLst/>
          </a:prstGeom>
        </p:spPr>
        <p:txBody>
          <a:bodyPr lIns="0" tIns="0" rIns="0" bIns="0" rtlCol="0" anchor="t">
            <a:spAutoFit/>
          </a:bodyPr>
          <a:lstStyle/>
          <a:p>
            <a:pPr algn="ctr">
              <a:lnSpc>
                <a:spcPts val="7699"/>
              </a:lnSpc>
            </a:pPr>
            <a:r>
              <a:rPr lang="en-US" sz="5499" b="1">
                <a:solidFill>
                  <a:srgbClr val="FFFFFF"/>
                </a:solidFill>
                <a:latin typeface="Poppins Bold"/>
                <a:ea typeface="Poppins Bold"/>
                <a:cs typeface="Poppins Bold"/>
                <a:sym typeface="Poppins Bold"/>
              </a:rPr>
              <a:t>2</a:t>
            </a:r>
          </a:p>
        </p:txBody>
      </p:sp>
      <p:grpSp>
        <p:nvGrpSpPr>
          <p:cNvPr id="28" name="Group 28"/>
          <p:cNvGrpSpPr/>
          <p:nvPr/>
        </p:nvGrpSpPr>
        <p:grpSpPr>
          <a:xfrm>
            <a:off x="1377436" y="7113227"/>
            <a:ext cx="1200424" cy="1200424"/>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2029"/>
            </a:solidFill>
          </p:spPr>
          <p:txBody>
            <a:bodyPr/>
            <a:lstStyle/>
            <a:p>
              <a:endParaRPr lang="en-US"/>
            </a:p>
          </p:txBody>
        </p:sp>
        <p:sp>
          <p:nvSpPr>
            <p:cNvPr id="30" name="TextBox 30"/>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sp>
        <p:nvSpPr>
          <p:cNvPr id="31" name="TextBox 31"/>
          <p:cNvSpPr txBox="1"/>
          <p:nvPr/>
        </p:nvSpPr>
        <p:spPr>
          <a:xfrm>
            <a:off x="3013315" y="7132414"/>
            <a:ext cx="9568759" cy="1609725"/>
          </a:xfrm>
          <a:prstGeom prst="rect">
            <a:avLst/>
          </a:prstGeom>
        </p:spPr>
        <p:txBody>
          <a:bodyPr lIns="0" tIns="0" rIns="0" bIns="0" rtlCol="0" anchor="t">
            <a:spAutoFit/>
          </a:bodyPr>
          <a:lstStyle/>
          <a:p>
            <a:pPr algn="l">
              <a:lnSpc>
                <a:spcPts val="4200"/>
              </a:lnSpc>
              <a:spcBef>
                <a:spcPct val="0"/>
              </a:spcBef>
            </a:pPr>
            <a:r>
              <a:rPr lang="en-US" sz="3000" b="1">
                <a:solidFill>
                  <a:srgbClr val="122029"/>
                </a:solidFill>
                <a:latin typeface="Poppins Bold"/>
                <a:ea typeface="Poppins Bold"/>
                <a:cs typeface="Poppins Bold"/>
                <a:sym typeface="Poppins Bold"/>
              </a:rPr>
              <a:t>Interpretability Crisis:</a:t>
            </a:r>
          </a:p>
          <a:p>
            <a:pPr algn="l">
              <a:lnSpc>
                <a:spcPts val="4200"/>
              </a:lnSpc>
              <a:spcBef>
                <a:spcPct val="0"/>
              </a:spcBef>
            </a:pPr>
            <a:r>
              <a:rPr lang="en-US" sz="3000">
                <a:solidFill>
                  <a:srgbClr val="000000"/>
                </a:solidFill>
                <a:latin typeface="Poppins"/>
                <a:ea typeface="Poppins"/>
                <a:cs typeface="Poppins"/>
                <a:sym typeface="Poppins"/>
              </a:rPr>
              <a:t>Black-box AI models lack transparency, violating regulatory and investor trust expectations.</a:t>
            </a:r>
          </a:p>
        </p:txBody>
      </p:sp>
      <p:sp>
        <p:nvSpPr>
          <p:cNvPr id="32" name="TextBox 32"/>
          <p:cNvSpPr txBox="1"/>
          <p:nvPr/>
        </p:nvSpPr>
        <p:spPr>
          <a:xfrm>
            <a:off x="1473585" y="7158732"/>
            <a:ext cx="1002552" cy="984250"/>
          </a:xfrm>
          <a:prstGeom prst="rect">
            <a:avLst/>
          </a:prstGeom>
        </p:spPr>
        <p:txBody>
          <a:bodyPr lIns="0" tIns="0" rIns="0" bIns="0" rtlCol="0" anchor="t">
            <a:spAutoFit/>
          </a:bodyPr>
          <a:lstStyle/>
          <a:p>
            <a:pPr algn="ctr">
              <a:lnSpc>
                <a:spcPts val="7699"/>
              </a:lnSpc>
            </a:pPr>
            <a:r>
              <a:rPr lang="en-US" sz="5499" b="1">
                <a:solidFill>
                  <a:srgbClr val="FFFFFF"/>
                </a:solidFill>
                <a:latin typeface="Poppins Bold"/>
                <a:ea typeface="Poppins Bold"/>
                <a:cs typeface="Poppins Bold"/>
                <a:sym typeface="Poppins Bold"/>
              </a:rPr>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57135" y="1028700"/>
            <a:ext cx="11204639" cy="1543050"/>
            <a:chOff x="0" y="0"/>
            <a:chExt cx="2951016" cy="406400"/>
          </a:xfrm>
        </p:grpSpPr>
        <p:sp>
          <p:nvSpPr>
            <p:cNvPr id="3" name="Freeform 3"/>
            <p:cNvSpPr/>
            <p:nvPr/>
          </p:nvSpPr>
          <p:spPr>
            <a:xfrm>
              <a:off x="0" y="0"/>
              <a:ext cx="2951016" cy="406400"/>
            </a:xfrm>
            <a:custGeom>
              <a:avLst/>
              <a:gdLst/>
              <a:ahLst/>
              <a:cxnLst/>
              <a:rect l="l" t="t" r="r" b="b"/>
              <a:pathLst>
                <a:path w="2951016" h="406400">
                  <a:moveTo>
                    <a:pt x="0" y="0"/>
                  </a:moveTo>
                  <a:lnTo>
                    <a:pt x="2951016" y="0"/>
                  </a:lnTo>
                  <a:lnTo>
                    <a:pt x="2951016" y="406400"/>
                  </a:lnTo>
                  <a:lnTo>
                    <a:pt x="0" y="406400"/>
                  </a:lnTo>
                  <a:close/>
                </a:path>
              </a:pathLst>
            </a:custGeom>
            <a:solidFill>
              <a:srgbClr val="122029"/>
            </a:solidFill>
          </p:spPr>
          <p:txBody>
            <a:bodyPr/>
            <a:lstStyle/>
            <a:p>
              <a:endParaRPr lang="en-US"/>
            </a:p>
          </p:txBody>
        </p:sp>
        <p:sp>
          <p:nvSpPr>
            <p:cNvPr id="4" name="TextBox 4"/>
            <p:cNvSpPr txBox="1"/>
            <p:nvPr/>
          </p:nvSpPr>
          <p:spPr>
            <a:xfrm>
              <a:off x="0" y="-57150"/>
              <a:ext cx="2951016"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7668865">
            <a:off x="9718812" y="-318717"/>
            <a:ext cx="4868099" cy="1199632"/>
            <a:chOff x="0" y="0"/>
            <a:chExt cx="1282133" cy="315952"/>
          </a:xfrm>
        </p:grpSpPr>
        <p:sp>
          <p:nvSpPr>
            <p:cNvPr id="6" name="Freeform 6"/>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7" name="TextBox 7"/>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28700" y="1028700"/>
            <a:ext cx="697472" cy="1543050"/>
            <a:chOff x="0" y="0"/>
            <a:chExt cx="183696" cy="406400"/>
          </a:xfrm>
        </p:grpSpPr>
        <p:sp>
          <p:nvSpPr>
            <p:cNvPr id="9" name="Freeform 9"/>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10" name="TextBox 10"/>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1852724" y="4005667"/>
            <a:ext cx="2925127" cy="292512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B4C4"/>
            </a:solidFill>
          </p:spPr>
          <p:txBody>
            <a:bodyPr/>
            <a:lstStyle/>
            <a:p>
              <a:endParaRPr lang="en-US"/>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7681437" y="4005667"/>
            <a:ext cx="2925127" cy="292512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8196"/>
            </a:solidFill>
          </p:spPr>
          <p:txBody>
            <a:bodyPr/>
            <a:lstStyle/>
            <a:p>
              <a:endParaRPr lang="en-US"/>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3626267" y="4005667"/>
            <a:ext cx="2925127" cy="2925127"/>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485F"/>
            </a:solidFill>
          </p:spPr>
          <p:txBody>
            <a:bodyPr/>
            <a:lstStyle/>
            <a:p>
              <a:endParaRPr lang="en-US"/>
            </a:p>
          </p:txBody>
        </p:sp>
        <p:sp>
          <p:nvSpPr>
            <p:cNvPr id="19" name="TextBox 19"/>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sp>
        <p:nvSpPr>
          <p:cNvPr id="20" name="Freeform 20"/>
          <p:cNvSpPr/>
          <p:nvPr/>
        </p:nvSpPr>
        <p:spPr>
          <a:xfrm>
            <a:off x="8378516" y="4691083"/>
            <a:ext cx="1549544" cy="1549544"/>
          </a:xfrm>
          <a:custGeom>
            <a:avLst/>
            <a:gdLst/>
            <a:ahLst/>
            <a:cxnLst/>
            <a:rect l="l" t="t" r="r" b="b"/>
            <a:pathLst>
              <a:path w="1549544" h="1549544">
                <a:moveTo>
                  <a:pt x="0" y="0"/>
                </a:moveTo>
                <a:lnTo>
                  <a:pt x="1549544" y="0"/>
                </a:lnTo>
                <a:lnTo>
                  <a:pt x="1549544" y="1549544"/>
                </a:lnTo>
                <a:lnTo>
                  <a:pt x="0" y="154954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1" name="Freeform 21"/>
          <p:cNvSpPr/>
          <p:nvPr/>
        </p:nvSpPr>
        <p:spPr>
          <a:xfrm>
            <a:off x="2554559" y="4612354"/>
            <a:ext cx="1559252" cy="1711754"/>
          </a:xfrm>
          <a:custGeom>
            <a:avLst/>
            <a:gdLst/>
            <a:ahLst/>
            <a:cxnLst/>
            <a:rect l="l" t="t" r="r" b="b"/>
            <a:pathLst>
              <a:path w="1559252" h="1711754">
                <a:moveTo>
                  <a:pt x="0" y="0"/>
                </a:moveTo>
                <a:lnTo>
                  <a:pt x="1559253" y="0"/>
                </a:lnTo>
                <a:lnTo>
                  <a:pt x="1559253" y="1711754"/>
                </a:lnTo>
                <a:lnTo>
                  <a:pt x="0" y="171175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2" name="Freeform 22"/>
          <p:cNvSpPr/>
          <p:nvPr/>
        </p:nvSpPr>
        <p:spPr>
          <a:xfrm>
            <a:off x="14305513" y="4693459"/>
            <a:ext cx="1566635" cy="1549544"/>
          </a:xfrm>
          <a:custGeom>
            <a:avLst/>
            <a:gdLst/>
            <a:ahLst/>
            <a:cxnLst/>
            <a:rect l="l" t="t" r="r" b="b"/>
            <a:pathLst>
              <a:path w="1566635" h="1549544">
                <a:moveTo>
                  <a:pt x="0" y="0"/>
                </a:moveTo>
                <a:lnTo>
                  <a:pt x="1566634" y="0"/>
                </a:lnTo>
                <a:lnTo>
                  <a:pt x="1566634" y="1549544"/>
                </a:lnTo>
                <a:lnTo>
                  <a:pt x="0" y="154954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3" name="TextBox 23"/>
          <p:cNvSpPr txBox="1"/>
          <p:nvPr/>
        </p:nvSpPr>
        <p:spPr>
          <a:xfrm>
            <a:off x="2554559" y="1168081"/>
            <a:ext cx="11564487" cy="1092838"/>
          </a:xfrm>
          <a:prstGeom prst="rect">
            <a:avLst/>
          </a:prstGeom>
        </p:spPr>
        <p:txBody>
          <a:bodyPr lIns="0" tIns="0" rIns="0" bIns="0" rtlCol="0" anchor="t">
            <a:spAutoFit/>
          </a:bodyPr>
          <a:lstStyle/>
          <a:p>
            <a:pPr algn="l">
              <a:lnSpc>
                <a:spcPts val="8539"/>
              </a:lnSpc>
              <a:spcBef>
                <a:spcPct val="0"/>
              </a:spcBef>
            </a:pPr>
            <a:r>
              <a:rPr lang="en-US" sz="6099" b="1">
                <a:solidFill>
                  <a:srgbClr val="FFFFFF"/>
                </a:solidFill>
                <a:latin typeface="Poppins Ultra-Bold"/>
                <a:ea typeface="Poppins Ultra-Bold"/>
                <a:cs typeface="Poppins Ultra-Bold"/>
                <a:sym typeface="Poppins Ultra-Bold"/>
              </a:rPr>
              <a:t>Research Objective</a:t>
            </a:r>
          </a:p>
        </p:txBody>
      </p:sp>
      <p:sp>
        <p:nvSpPr>
          <p:cNvPr id="24" name="TextBox 24"/>
          <p:cNvSpPr txBox="1"/>
          <p:nvPr/>
        </p:nvSpPr>
        <p:spPr>
          <a:xfrm>
            <a:off x="7574607" y="7149869"/>
            <a:ext cx="3157362" cy="441325"/>
          </a:xfrm>
          <a:prstGeom prst="rect">
            <a:avLst/>
          </a:prstGeom>
        </p:spPr>
        <p:txBody>
          <a:bodyPr lIns="0" tIns="0" rIns="0" bIns="0" rtlCol="0" anchor="t">
            <a:spAutoFit/>
          </a:bodyPr>
          <a:lstStyle/>
          <a:p>
            <a:pPr algn="ctr">
              <a:lnSpc>
                <a:spcPts val="3499"/>
              </a:lnSpc>
              <a:spcBef>
                <a:spcPct val="0"/>
              </a:spcBef>
            </a:pPr>
            <a:r>
              <a:rPr lang="en-US" sz="2499" b="1">
                <a:solidFill>
                  <a:srgbClr val="000000"/>
                </a:solidFill>
                <a:latin typeface="Poppins Bold"/>
                <a:ea typeface="Poppins Bold"/>
                <a:cs typeface="Poppins Bold"/>
                <a:sym typeface="Poppins Bold"/>
              </a:rPr>
              <a:t>Hybrid Modeling</a:t>
            </a:r>
          </a:p>
        </p:txBody>
      </p:sp>
      <p:sp>
        <p:nvSpPr>
          <p:cNvPr id="25" name="TextBox 25"/>
          <p:cNvSpPr txBox="1"/>
          <p:nvPr/>
        </p:nvSpPr>
        <p:spPr>
          <a:xfrm>
            <a:off x="1038310" y="7149869"/>
            <a:ext cx="4591751" cy="441325"/>
          </a:xfrm>
          <a:prstGeom prst="rect">
            <a:avLst/>
          </a:prstGeom>
        </p:spPr>
        <p:txBody>
          <a:bodyPr lIns="0" tIns="0" rIns="0" bIns="0" rtlCol="0" anchor="t">
            <a:spAutoFit/>
          </a:bodyPr>
          <a:lstStyle/>
          <a:p>
            <a:pPr algn="ctr">
              <a:lnSpc>
                <a:spcPts val="3499"/>
              </a:lnSpc>
              <a:spcBef>
                <a:spcPct val="0"/>
              </a:spcBef>
            </a:pPr>
            <a:r>
              <a:rPr lang="en-US" sz="2499" b="1">
                <a:solidFill>
                  <a:srgbClr val="000000"/>
                </a:solidFill>
                <a:latin typeface="Poppins Bold"/>
                <a:ea typeface="Poppins Bold"/>
                <a:cs typeface="Poppins Bold"/>
                <a:sym typeface="Poppins Bold"/>
              </a:rPr>
              <a:t>Causal Filtering Mechanism</a:t>
            </a:r>
          </a:p>
        </p:txBody>
      </p:sp>
      <p:sp>
        <p:nvSpPr>
          <p:cNvPr id="26" name="TextBox 26"/>
          <p:cNvSpPr txBox="1"/>
          <p:nvPr/>
        </p:nvSpPr>
        <p:spPr>
          <a:xfrm>
            <a:off x="12706464" y="6956000"/>
            <a:ext cx="4552836" cy="879475"/>
          </a:xfrm>
          <a:prstGeom prst="rect">
            <a:avLst/>
          </a:prstGeom>
        </p:spPr>
        <p:txBody>
          <a:bodyPr lIns="0" tIns="0" rIns="0" bIns="0" rtlCol="0" anchor="t">
            <a:spAutoFit/>
          </a:bodyPr>
          <a:lstStyle/>
          <a:p>
            <a:pPr algn="ctr">
              <a:lnSpc>
                <a:spcPts val="3499"/>
              </a:lnSpc>
              <a:spcBef>
                <a:spcPct val="0"/>
              </a:spcBef>
            </a:pPr>
            <a:r>
              <a:rPr lang="en-US" sz="2499" b="1">
                <a:solidFill>
                  <a:srgbClr val="000000"/>
                </a:solidFill>
                <a:latin typeface="Poppins Bold"/>
                <a:ea typeface="Poppins Bold"/>
                <a:cs typeface="Poppins Bold"/>
                <a:sym typeface="Poppins Bold"/>
              </a:rPr>
              <a:t>Volatility-Aware Explainability</a:t>
            </a:r>
          </a:p>
        </p:txBody>
      </p:sp>
      <p:sp>
        <p:nvSpPr>
          <p:cNvPr id="27" name="TextBox 27"/>
          <p:cNvSpPr txBox="1"/>
          <p:nvPr/>
        </p:nvSpPr>
        <p:spPr>
          <a:xfrm>
            <a:off x="6866701" y="7693982"/>
            <a:ext cx="4573175" cy="1342390"/>
          </a:xfrm>
          <a:prstGeom prst="rect">
            <a:avLst/>
          </a:prstGeom>
        </p:spPr>
        <p:txBody>
          <a:bodyPr lIns="0" tIns="0" rIns="0" bIns="0" rtlCol="0" anchor="t">
            <a:spAutoFit/>
          </a:bodyPr>
          <a:lstStyle/>
          <a:p>
            <a:pPr algn="just">
              <a:lnSpc>
                <a:spcPts val="2659"/>
              </a:lnSpc>
              <a:spcBef>
                <a:spcPct val="0"/>
              </a:spcBef>
            </a:pPr>
            <a:r>
              <a:rPr lang="en-US" sz="1899">
                <a:solidFill>
                  <a:srgbClr val="000000"/>
                </a:solidFill>
                <a:latin typeface="Poppins"/>
                <a:ea typeface="Poppins"/>
                <a:cs typeface="Poppins"/>
                <a:sym typeface="Poppins"/>
              </a:rPr>
              <a:t>Advance model that combine price data with news intergration to improve market foresight. </a:t>
            </a:r>
          </a:p>
          <a:p>
            <a:pPr algn="just">
              <a:lnSpc>
                <a:spcPts val="2659"/>
              </a:lnSpc>
              <a:spcBef>
                <a:spcPct val="0"/>
              </a:spcBef>
            </a:pPr>
            <a:endParaRPr lang="en-US" sz="1899">
              <a:solidFill>
                <a:srgbClr val="000000"/>
              </a:solidFill>
              <a:latin typeface="Poppins"/>
              <a:ea typeface="Poppins"/>
              <a:cs typeface="Poppins"/>
              <a:sym typeface="Poppins"/>
            </a:endParaRPr>
          </a:p>
        </p:txBody>
      </p:sp>
      <p:sp>
        <p:nvSpPr>
          <p:cNvPr id="28" name="TextBox 28"/>
          <p:cNvSpPr txBox="1"/>
          <p:nvPr/>
        </p:nvSpPr>
        <p:spPr>
          <a:xfrm>
            <a:off x="1038310" y="7693982"/>
            <a:ext cx="4573175" cy="1342390"/>
          </a:xfrm>
          <a:prstGeom prst="rect">
            <a:avLst/>
          </a:prstGeom>
        </p:spPr>
        <p:txBody>
          <a:bodyPr lIns="0" tIns="0" rIns="0" bIns="0" rtlCol="0" anchor="t">
            <a:spAutoFit/>
          </a:bodyPr>
          <a:lstStyle/>
          <a:p>
            <a:pPr algn="just">
              <a:lnSpc>
                <a:spcPts val="2659"/>
              </a:lnSpc>
              <a:spcBef>
                <a:spcPct val="0"/>
              </a:spcBef>
            </a:pPr>
            <a:r>
              <a:rPr lang="en-US" sz="1899">
                <a:solidFill>
                  <a:srgbClr val="000000"/>
                </a:solidFill>
                <a:latin typeface="Poppins"/>
                <a:ea typeface="Poppins"/>
                <a:cs typeface="Poppins"/>
                <a:sym typeface="Poppins"/>
              </a:rPr>
              <a:t>Incorporate structured mechanisms to isolate causally relevant textual information, enabling clearer attribution of predictive outcomes</a:t>
            </a:r>
          </a:p>
        </p:txBody>
      </p:sp>
      <p:sp>
        <p:nvSpPr>
          <p:cNvPr id="29" name="TextBox 29"/>
          <p:cNvSpPr txBox="1"/>
          <p:nvPr/>
        </p:nvSpPr>
        <p:spPr>
          <a:xfrm>
            <a:off x="12686125" y="7870205"/>
            <a:ext cx="4573175" cy="1009015"/>
          </a:xfrm>
          <a:prstGeom prst="rect">
            <a:avLst/>
          </a:prstGeom>
        </p:spPr>
        <p:txBody>
          <a:bodyPr lIns="0" tIns="0" rIns="0" bIns="0" rtlCol="0" anchor="t">
            <a:spAutoFit/>
          </a:bodyPr>
          <a:lstStyle/>
          <a:p>
            <a:pPr algn="just">
              <a:lnSpc>
                <a:spcPts val="2659"/>
              </a:lnSpc>
              <a:spcBef>
                <a:spcPct val="0"/>
              </a:spcBef>
            </a:pPr>
            <a:r>
              <a:rPr lang="en-US" sz="1899">
                <a:solidFill>
                  <a:srgbClr val="000000"/>
                </a:solidFill>
                <a:latin typeface="Poppins"/>
                <a:ea typeface="Poppins"/>
                <a:cs typeface="Poppins"/>
                <a:sym typeface="Poppins"/>
              </a:rPr>
              <a:t>Incorporate dynamic fusion and explainable AI (XAI) strategies responsive to market conditions.</a:t>
            </a:r>
          </a:p>
        </p:txBody>
      </p:sp>
      <p:sp>
        <p:nvSpPr>
          <p:cNvPr id="30" name="TextBox 30"/>
          <p:cNvSpPr txBox="1"/>
          <p:nvPr/>
        </p:nvSpPr>
        <p:spPr>
          <a:xfrm>
            <a:off x="1726172" y="2729317"/>
            <a:ext cx="16230600" cy="809625"/>
          </a:xfrm>
          <a:prstGeom prst="rect">
            <a:avLst/>
          </a:prstGeom>
        </p:spPr>
        <p:txBody>
          <a:bodyPr lIns="0" tIns="0" rIns="0" bIns="0" rtlCol="0" anchor="t">
            <a:spAutoFit/>
          </a:bodyPr>
          <a:lstStyle/>
          <a:p>
            <a:pPr algn="l">
              <a:lnSpc>
                <a:spcPts val="6299"/>
              </a:lnSpc>
              <a:spcBef>
                <a:spcPct val="0"/>
              </a:spcBef>
            </a:pPr>
            <a:r>
              <a:rPr lang="en-US" sz="4500" b="1">
                <a:solidFill>
                  <a:srgbClr val="86B4C4"/>
                </a:solidFill>
                <a:latin typeface="Poppins Ultra-Bold"/>
                <a:ea typeface="Poppins Ultra-Bold"/>
                <a:cs typeface="Poppins Ultra-Bold"/>
                <a:sym typeface="Poppins Ultra-Bold"/>
              </a:rPr>
              <a:t>Advancing Interpretability and Predictive Accuracy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57135" y="1028700"/>
            <a:ext cx="11204639" cy="1543050"/>
            <a:chOff x="0" y="0"/>
            <a:chExt cx="2951016" cy="406400"/>
          </a:xfrm>
        </p:grpSpPr>
        <p:sp>
          <p:nvSpPr>
            <p:cNvPr id="3" name="Freeform 3"/>
            <p:cNvSpPr/>
            <p:nvPr/>
          </p:nvSpPr>
          <p:spPr>
            <a:xfrm>
              <a:off x="0" y="0"/>
              <a:ext cx="2951016" cy="406400"/>
            </a:xfrm>
            <a:custGeom>
              <a:avLst/>
              <a:gdLst/>
              <a:ahLst/>
              <a:cxnLst/>
              <a:rect l="l" t="t" r="r" b="b"/>
              <a:pathLst>
                <a:path w="2951016" h="406400">
                  <a:moveTo>
                    <a:pt x="0" y="0"/>
                  </a:moveTo>
                  <a:lnTo>
                    <a:pt x="2951016" y="0"/>
                  </a:lnTo>
                  <a:lnTo>
                    <a:pt x="2951016" y="406400"/>
                  </a:lnTo>
                  <a:lnTo>
                    <a:pt x="0" y="406400"/>
                  </a:lnTo>
                  <a:close/>
                </a:path>
              </a:pathLst>
            </a:custGeom>
            <a:solidFill>
              <a:srgbClr val="122029"/>
            </a:solidFill>
          </p:spPr>
          <p:txBody>
            <a:bodyPr/>
            <a:lstStyle/>
            <a:p>
              <a:endParaRPr lang="en-US"/>
            </a:p>
          </p:txBody>
        </p:sp>
        <p:sp>
          <p:nvSpPr>
            <p:cNvPr id="4" name="TextBox 4"/>
            <p:cNvSpPr txBox="1"/>
            <p:nvPr/>
          </p:nvSpPr>
          <p:spPr>
            <a:xfrm>
              <a:off x="0" y="-57150"/>
              <a:ext cx="2951016"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7668865">
            <a:off x="9718812" y="-318717"/>
            <a:ext cx="4868099" cy="1199632"/>
            <a:chOff x="0" y="0"/>
            <a:chExt cx="1282133" cy="315952"/>
          </a:xfrm>
        </p:grpSpPr>
        <p:sp>
          <p:nvSpPr>
            <p:cNvPr id="6" name="Freeform 6"/>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7" name="TextBox 7"/>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28700" y="1028700"/>
            <a:ext cx="697472" cy="1543050"/>
            <a:chOff x="0" y="0"/>
            <a:chExt cx="183696" cy="406400"/>
          </a:xfrm>
        </p:grpSpPr>
        <p:sp>
          <p:nvSpPr>
            <p:cNvPr id="9" name="Freeform 9"/>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10" name="TextBox 10"/>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028700" y="4064397"/>
            <a:ext cx="9576526" cy="4384801"/>
          </a:xfrm>
          <a:prstGeom prst="rect">
            <a:avLst/>
          </a:prstGeom>
        </p:spPr>
        <p:txBody>
          <a:bodyPr lIns="0" tIns="0" rIns="0" bIns="0" rtlCol="0" anchor="t">
            <a:spAutoFit/>
          </a:bodyPr>
          <a:lstStyle/>
          <a:p>
            <a:pPr marL="538679" lvl="1" indent="-269340" algn="l">
              <a:lnSpc>
                <a:spcPts val="3493"/>
              </a:lnSpc>
              <a:buFont typeface="Arial"/>
              <a:buChar char="•"/>
            </a:pPr>
            <a:r>
              <a:rPr lang="en-US" sz="2495" b="1">
                <a:solidFill>
                  <a:srgbClr val="000000"/>
                </a:solidFill>
                <a:latin typeface="Poppins Bold"/>
                <a:ea typeface="Poppins Bold"/>
                <a:cs typeface="Poppins Bold"/>
                <a:sym typeface="Poppins Bold"/>
              </a:rPr>
              <a:t>Traditional Models:</a:t>
            </a:r>
            <a:r>
              <a:rPr lang="en-US" sz="2495">
                <a:solidFill>
                  <a:srgbClr val="000000"/>
                </a:solidFill>
                <a:latin typeface="Poppins"/>
                <a:ea typeface="Poppins"/>
                <a:cs typeface="Poppins"/>
                <a:sym typeface="Poppins"/>
              </a:rPr>
              <a:t> Use ARIMA, moving averages, and technical indicators; assume market stationarity.</a:t>
            </a:r>
          </a:p>
          <a:p>
            <a:pPr algn="l">
              <a:lnSpc>
                <a:spcPts val="3493"/>
              </a:lnSpc>
            </a:pPr>
            <a:endParaRPr lang="en-US" sz="2495">
              <a:solidFill>
                <a:srgbClr val="000000"/>
              </a:solidFill>
              <a:latin typeface="Poppins"/>
              <a:ea typeface="Poppins"/>
              <a:cs typeface="Poppins"/>
              <a:sym typeface="Poppins"/>
            </a:endParaRPr>
          </a:p>
          <a:p>
            <a:pPr marL="538679" lvl="1" indent="-269340" algn="l">
              <a:lnSpc>
                <a:spcPts val="3493"/>
              </a:lnSpc>
              <a:buFont typeface="Arial"/>
              <a:buChar char="•"/>
            </a:pPr>
            <a:r>
              <a:rPr lang="en-US" sz="2495" b="1">
                <a:solidFill>
                  <a:srgbClr val="000000"/>
                </a:solidFill>
                <a:latin typeface="Poppins Bold"/>
                <a:ea typeface="Poppins Bold"/>
                <a:cs typeface="Poppins Bold"/>
                <a:sym typeface="Poppins Bold"/>
              </a:rPr>
              <a:t>Machine Learning Shift:</a:t>
            </a:r>
            <a:r>
              <a:rPr lang="en-US" sz="2495">
                <a:solidFill>
                  <a:srgbClr val="000000"/>
                </a:solidFill>
                <a:latin typeface="Poppins"/>
                <a:ea typeface="Poppins"/>
                <a:cs typeface="Poppins"/>
                <a:sym typeface="Poppins"/>
              </a:rPr>
              <a:t> Adoption of LSTM, GNN, and Transformer models for non-linear dependencies and sequential data.</a:t>
            </a:r>
          </a:p>
          <a:p>
            <a:pPr algn="l">
              <a:lnSpc>
                <a:spcPts val="3493"/>
              </a:lnSpc>
            </a:pPr>
            <a:endParaRPr lang="en-US" sz="2495">
              <a:solidFill>
                <a:srgbClr val="000000"/>
              </a:solidFill>
              <a:latin typeface="Poppins"/>
              <a:ea typeface="Poppins"/>
              <a:cs typeface="Poppins"/>
              <a:sym typeface="Poppins"/>
            </a:endParaRPr>
          </a:p>
          <a:p>
            <a:pPr marL="538679" lvl="1" indent="-269340" algn="l">
              <a:lnSpc>
                <a:spcPts val="3493"/>
              </a:lnSpc>
              <a:buFont typeface="Arial"/>
              <a:buChar char="•"/>
            </a:pPr>
            <a:r>
              <a:rPr lang="en-US" sz="2495" b="1">
                <a:solidFill>
                  <a:srgbClr val="000000"/>
                </a:solidFill>
                <a:latin typeface="Poppins Bold"/>
                <a:ea typeface="Poppins Bold"/>
                <a:cs typeface="Poppins Bold"/>
                <a:sym typeface="Poppins Bold"/>
              </a:rPr>
              <a:t>External Data Integration:</a:t>
            </a:r>
            <a:r>
              <a:rPr lang="en-US" sz="2495">
                <a:solidFill>
                  <a:srgbClr val="000000"/>
                </a:solidFill>
                <a:latin typeface="Poppins"/>
                <a:ea typeface="Poppins"/>
                <a:cs typeface="Poppins"/>
                <a:sym typeface="Poppins"/>
              </a:rPr>
              <a:t>   Emerging trend of incorporating sentiment analysis, and alternative data like news and social media.</a:t>
            </a:r>
          </a:p>
        </p:txBody>
      </p:sp>
      <p:grpSp>
        <p:nvGrpSpPr>
          <p:cNvPr id="12" name="Group 12"/>
          <p:cNvGrpSpPr/>
          <p:nvPr/>
        </p:nvGrpSpPr>
        <p:grpSpPr>
          <a:xfrm>
            <a:off x="10605226" y="3822822"/>
            <a:ext cx="7284065" cy="4718052"/>
            <a:chOff x="0" y="0"/>
            <a:chExt cx="1123699" cy="727845"/>
          </a:xfrm>
        </p:grpSpPr>
        <p:sp>
          <p:nvSpPr>
            <p:cNvPr id="13" name="Freeform 13"/>
            <p:cNvSpPr/>
            <p:nvPr/>
          </p:nvSpPr>
          <p:spPr>
            <a:xfrm>
              <a:off x="0" y="0"/>
              <a:ext cx="1123699" cy="727845"/>
            </a:xfrm>
            <a:custGeom>
              <a:avLst/>
              <a:gdLst/>
              <a:ahLst/>
              <a:cxnLst/>
              <a:rect l="l" t="t" r="r" b="b"/>
              <a:pathLst>
                <a:path w="1123699" h="727845">
                  <a:moveTo>
                    <a:pt x="42514" y="0"/>
                  </a:moveTo>
                  <a:lnTo>
                    <a:pt x="1081185" y="0"/>
                  </a:lnTo>
                  <a:cubicBezTo>
                    <a:pt x="1092460" y="0"/>
                    <a:pt x="1103274" y="4479"/>
                    <a:pt x="1111247" y="12452"/>
                  </a:cubicBezTo>
                  <a:cubicBezTo>
                    <a:pt x="1119220" y="20425"/>
                    <a:pt x="1123699" y="31239"/>
                    <a:pt x="1123699" y="42514"/>
                  </a:cubicBezTo>
                  <a:lnTo>
                    <a:pt x="1123699" y="685331"/>
                  </a:lnTo>
                  <a:cubicBezTo>
                    <a:pt x="1123699" y="708811"/>
                    <a:pt x="1104665" y="727845"/>
                    <a:pt x="1081185" y="727845"/>
                  </a:cubicBezTo>
                  <a:lnTo>
                    <a:pt x="42514" y="727845"/>
                  </a:lnTo>
                  <a:cubicBezTo>
                    <a:pt x="31239" y="727845"/>
                    <a:pt x="20425" y="723366"/>
                    <a:pt x="12452" y="715393"/>
                  </a:cubicBezTo>
                  <a:cubicBezTo>
                    <a:pt x="4479" y="707420"/>
                    <a:pt x="0" y="696606"/>
                    <a:pt x="0" y="685331"/>
                  </a:cubicBezTo>
                  <a:lnTo>
                    <a:pt x="0" y="42514"/>
                  </a:lnTo>
                  <a:cubicBezTo>
                    <a:pt x="0" y="19034"/>
                    <a:pt x="19034" y="0"/>
                    <a:pt x="42514" y="0"/>
                  </a:cubicBezTo>
                  <a:close/>
                </a:path>
              </a:pathLst>
            </a:custGeom>
            <a:blipFill>
              <a:blip r:embed="rId3"/>
              <a:stretch>
                <a:fillRect t="-1368" b="-1368"/>
              </a:stretch>
            </a:blipFill>
          </p:spPr>
          <p:txBody>
            <a:bodyPr/>
            <a:lstStyle/>
            <a:p>
              <a:endParaRPr lang="en-US"/>
            </a:p>
          </p:txBody>
        </p:sp>
      </p:grpSp>
      <p:sp>
        <p:nvSpPr>
          <p:cNvPr id="14" name="TextBox 14"/>
          <p:cNvSpPr txBox="1"/>
          <p:nvPr/>
        </p:nvSpPr>
        <p:spPr>
          <a:xfrm>
            <a:off x="2554559" y="1035683"/>
            <a:ext cx="9746345" cy="1319534"/>
          </a:xfrm>
          <a:prstGeom prst="rect">
            <a:avLst/>
          </a:prstGeom>
        </p:spPr>
        <p:txBody>
          <a:bodyPr lIns="0" tIns="0" rIns="0" bIns="0" rtlCol="0" anchor="t">
            <a:spAutoFit/>
          </a:bodyPr>
          <a:lstStyle/>
          <a:p>
            <a:pPr algn="l">
              <a:lnSpc>
                <a:spcPts val="10219"/>
              </a:lnSpc>
              <a:spcBef>
                <a:spcPct val="0"/>
              </a:spcBef>
            </a:pPr>
            <a:r>
              <a:rPr lang="en-US" sz="7299" b="1">
                <a:solidFill>
                  <a:srgbClr val="FFFFFF"/>
                </a:solidFill>
                <a:latin typeface="Poppins Ultra-Bold"/>
                <a:ea typeface="Poppins Ultra-Bold"/>
                <a:cs typeface="Poppins Ultra-Bold"/>
                <a:sym typeface="Poppins Ultra-Bold"/>
              </a:rPr>
              <a:t>Literature Review</a:t>
            </a:r>
          </a:p>
        </p:txBody>
      </p:sp>
      <p:sp>
        <p:nvSpPr>
          <p:cNvPr id="15" name="TextBox 15"/>
          <p:cNvSpPr txBox="1"/>
          <p:nvPr/>
        </p:nvSpPr>
        <p:spPr>
          <a:xfrm>
            <a:off x="1028700" y="2809652"/>
            <a:ext cx="12678545" cy="901700"/>
          </a:xfrm>
          <a:prstGeom prst="rect">
            <a:avLst/>
          </a:prstGeom>
        </p:spPr>
        <p:txBody>
          <a:bodyPr lIns="0" tIns="0" rIns="0" bIns="0" rtlCol="0" anchor="t">
            <a:spAutoFit/>
          </a:bodyPr>
          <a:lstStyle/>
          <a:p>
            <a:pPr algn="l">
              <a:lnSpc>
                <a:spcPts val="7000"/>
              </a:lnSpc>
              <a:spcBef>
                <a:spcPct val="0"/>
              </a:spcBef>
            </a:pPr>
            <a:r>
              <a:rPr lang="en-US" sz="5000" b="1">
                <a:solidFill>
                  <a:srgbClr val="86B4C4"/>
                </a:solidFill>
                <a:latin typeface="Poppins Ultra-Bold"/>
                <a:ea typeface="Poppins Ultra-Bold"/>
                <a:cs typeface="Poppins Ultra-Bold"/>
                <a:sym typeface="Poppins Ultra-Bold"/>
              </a:rPr>
              <a:t>Evolving Methods and Data Sources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57135" y="1028700"/>
            <a:ext cx="11204639" cy="1543050"/>
            <a:chOff x="0" y="0"/>
            <a:chExt cx="2951016" cy="406400"/>
          </a:xfrm>
        </p:grpSpPr>
        <p:sp>
          <p:nvSpPr>
            <p:cNvPr id="3" name="Freeform 3"/>
            <p:cNvSpPr/>
            <p:nvPr/>
          </p:nvSpPr>
          <p:spPr>
            <a:xfrm>
              <a:off x="0" y="0"/>
              <a:ext cx="2951016" cy="406400"/>
            </a:xfrm>
            <a:custGeom>
              <a:avLst/>
              <a:gdLst/>
              <a:ahLst/>
              <a:cxnLst/>
              <a:rect l="l" t="t" r="r" b="b"/>
              <a:pathLst>
                <a:path w="2951016" h="406400">
                  <a:moveTo>
                    <a:pt x="0" y="0"/>
                  </a:moveTo>
                  <a:lnTo>
                    <a:pt x="2951016" y="0"/>
                  </a:lnTo>
                  <a:lnTo>
                    <a:pt x="2951016" y="406400"/>
                  </a:lnTo>
                  <a:lnTo>
                    <a:pt x="0" y="406400"/>
                  </a:lnTo>
                  <a:close/>
                </a:path>
              </a:pathLst>
            </a:custGeom>
            <a:solidFill>
              <a:srgbClr val="122029"/>
            </a:solidFill>
          </p:spPr>
          <p:txBody>
            <a:bodyPr/>
            <a:lstStyle/>
            <a:p>
              <a:endParaRPr lang="en-US"/>
            </a:p>
          </p:txBody>
        </p:sp>
        <p:sp>
          <p:nvSpPr>
            <p:cNvPr id="4" name="TextBox 4"/>
            <p:cNvSpPr txBox="1"/>
            <p:nvPr/>
          </p:nvSpPr>
          <p:spPr>
            <a:xfrm>
              <a:off x="0" y="-57150"/>
              <a:ext cx="2951016"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7668865">
            <a:off x="9718812" y="-318717"/>
            <a:ext cx="4868099" cy="1199632"/>
            <a:chOff x="0" y="0"/>
            <a:chExt cx="1282133" cy="315952"/>
          </a:xfrm>
        </p:grpSpPr>
        <p:sp>
          <p:nvSpPr>
            <p:cNvPr id="6" name="Freeform 6"/>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7" name="TextBox 7"/>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28700" y="1028700"/>
            <a:ext cx="697472" cy="1543050"/>
            <a:chOff x="0" y="0"/>
            <a:chExt cx="183696" cy="406400"/>
          </a:xfrm>
        </p:grpSpPr>
        <p:sp>
          <p:nvSpPr>
            <p:cNvPr id="9" name="Freeform 9"/>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10" name="TextBox 10"/>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12615885" y="2797719"/>
            <a:ext cx="5469187" cy="6460581"/>
          </a:xfrm>
          <a:custGeom>
            <a:avLst/>
            <a:gdLst/>
            <a:ahLst/>
            <a:cxnLst/>
            <a:rect l="l" t="t" r="r" b="b"/>
            <a:pathLst>
              <a:path w="5469187" h="6460581">
                <a:moveTo>
                  <a:pt x="0" y="0"/>
                </a:moveTo>
                <a:lnTo>
                  <a:pt x="5469187" y="0"/>
                </a:lnTo>
                <a:lnTo>
                  <a:pt x="5469187" y="6460581"/>
                </a:lnTo>
                <a:lnTo>
                  <a:pt x="0" y="6460581"/>
                </a:lnTo>
                <a:lnTo>
                  <a:pt x="0" y="0"/>
                </a:lnTo>
                <a:close/>
              </a:path>
            </a:pathLst>
          </a:custGeom>
          <a:blipFill>
            <a:blip r:embed="rId3"/>
            <a:stretch>
              <a:fillRect/>
            </a:stretch>
          </a:blipFill>
        </p:spPr>
        <p:txBody>
          <a:bodyPr/>
          <a:lstStyle/>
          <a:p>
            <a:endParaRPr lang="en-US"/>
          </a:p>
        </p:txBody>
      </p:sp>
      <p:sp>
        <p:nvSpPr>
          <p:cNvPr id="12" name="TextBox 12"/>
          <p:cNvSpPr txBox="1"/>
          <p:nvPr/>
        </p:nvSpPr>
        <p:spPr>
          <a:xfrm>
            <a:off x="2554559" y="1035683"/>
            <a:ext cx="9845587" cy="1319534"/>
          </a:xfrm>
          <a:prstGeom prst="rect">
            <a:avLst/>
          </a:prstGeom>
        </p:spPr>
        <p:txBody>
          <a:bodyPr lIns="0" tIns="0" rIns="0" bIns="0" rtlCol="0" anchor="t">
            <a:spAutoFit/>
          </a:bodyPr>
          <a:lstStyle/>
          <a:p>
            <a:pPr algn="l">
              <a:lnSpc>
                <a:spcPts val="10219"/>
              </a:lnSpc>
              <a:spcBef>
                <a:spcPct val="0"/>
              </a:spcBef>
            </a:pPr>
            <a:r>
              <a:rPr lang="en-US" sz="7299" b="1">
                <a:solidFill>
                  <a:srgbClr val="FFFFFF"/>
                </a:solidFill>
                <a:latin typeface="Poppins Ultra-Bold"/>
                <a:ea typeface="Poppins Ultra-Bold"/>
                <a:cs typeface="Poppins Ultra-Bold"/>
                <a:sym typeface="Poppins Ultra-Bold"/>
              </a:rPr>
              <a:t>Literature Review</a:t>
            </a:r>
          </a:p>
        </p:txBody>
      </p:sp>
      <p:sp>
        <p:nvSpPr>
          <p:cNvPr id="13" name="TextBox 13"/>
          <p:cNvSpPr txBox="1"/>
          <p:nvPr/>
        </p:nvSpPr>
        <p:spPr>
          <a:xfrm>
            <a:off x="1028700" y="2809652"/>
            <a:ext cx="12678545" cy="901700"/>
          </a:xfrm>
          <a:prstGeom prst="rect">
            <a:avLst/>
          </a:prstGeom>
        </p:spPr>
        <p:txBody>
          <a:bodyPr lIns="0" tIns="0" rIns="0" bIns="0" rtlCol="0" anchor="t">
            <a:spAutoFit/>
          </a:bodyPr>
          <a:lstStyle/>
          <a:p>
            <a:pPr algn="l">
              <a:lnSpc>
                <a:spcPts val="7000"/>
              </a:lnSpc>
              <a:spcBef>
                <a:spcPct val="0"/>
              </a:spcBef>
            </a:pPr>
            <a:r>
              <a:rPr lang="en-US" sz="5000" b="1">
                <a:solidFill>
                  <a:srgbClr val="86B4C4"/>
                </a:solidFill>
                <a:latin typeface="Poppins Ultra-Bold"/>
                <a:ea typeface="Poppins Ultra-Bold"/>
                <a:cs typeface="Poppins Ultra-Bold"/>
                <a:sym typeface="Poppins Ultra-Bold"/>
              </a:rPr>
              <a:t>News Data in Financial Forecasting</a:t>
            </a:r>
          </a:p>
        </p:txBody>
      </p:sp>
      <p:sp>
        <p:nvSpPr>
          <p:cNvPr id="14" name="TextBox 14"/>
          <p:cNvSpPr txBox="1"/>
          <p:nvPr/>
        </p:nvSpPr>
        <p:spPr>
          <a:xfrm>
            <a:off x="1028700" y="3606577"/>
            <a:ext cx="12678545" cy="634999"/>
          </a:xfrm>
          <a:prstGeom prst="rect">
            <a:avLst/>
          </a:prstGeom>
        </p:spPr>
        <p:txBody>
          <a:bodyPr lIns="0" tIns="0" rIns="0" bIns="0" rtlCol="0" anchor="t">
            <a:spAutoFit/>
          </a:bodyPr>
          <a:lstStyle/>
          <a:p>
            <a:pPr algn="l">
              <a:lnSpc>
                <a:spcPts val="4900"/>
              </a:lnSpc>
              <a:spcBef>
                <a:spcPct val="0"/>
              </a:spcBef>
            </a:pPr>
            <a:r>
              <a:rPr lang="en-US" sz="3500">
                <a:solidFill>
                  <a:srgbClr val="2B485F"/>
                </a:solidFill>
                <a:latin typeface="Poppins"/>
                <a:ea typeface="Poppins"/>
                <a:cs typeface="Poppins"/>
                <a:sym typeface="Poppins"/>
              </a:rPr>
              <a:t>Unlocking Sentiment and Event Signals</a:t>
            </a:r>
          </a:p>
        </p:txBody>
      </p:sp>
      <p:sp>
        <p:nvSpPr>
          <p:cNvPr id="15" name="TextBox 15"/>
          <p:cNvSpPr txBox="1"/>
          <p:nvPr/>
        </p:nvSpPr>
        <p:spPr>
          <a:xfrm>
            <a:off x="1028700" y="4434907"/>
            <a:ext cx="9114723" cy="5203428"/>
          </a:xfrm>
          <a:prstGeom prst="rect">
            <a:avLst/>
          </a:prstGeom>
        </p:spPr>
        <p:txBody>
          <a:bodyPr lIns="0" tIns="0" rIns="0" bIns="0" rtlCol="0" anchor="t">
            <a:spAutoFit/>
          </a:bodyPr>
          <a:lstStyle/>
          <a:p>
            <a:pPr marL="581858" lvl="1" indent="-290929" algn="l">
              <a:lnSpc>
                <a:spcPts val="3773"/>
              </a:lnSpc>
              <a:buFont typeface="Arial"/>
              <a:buChar char="•"/>
            </a:pPr>
            <a:r>
              <a:rPr lang="en-US" sz="2695" b="1">
                <a:solidFill>
                  <a:srgbClr val="000000"/>
                </a:solidFill>
                <a:latin typeface="Poppins Bold"/>
                <a:ea typeface="Poppins Bold"/>
                <a:cs typeface="Poppins Bold"/>
                <a:sym typeface="Poppins Bold"/>
              </a:rPr>
              <a:t>Sentiment Extraction:</a:t>
            </a:r>
            <a:r>
              <a:rPr lang="en-US" sz="2695">
                <a:solidFill>
                  <a:srgbClr val="000000"/>
                </a:solidFill>
                <a:latin typeface="Poppins"/>
                <a:ea typeface="Poppins"/>
                <a:cs typeface="Poppins"/>
                <a:sym typeface="Poppins"/>
              </a:rPr>
              <a:t>  NLP tools quantify positive, negative, and neutral tones from financial text sources.</a:t>
            </a:r>
          </a:p>
          <a:p>
            <a:pPr algn="l">
              <a:lnSpc>
                <a:spcPts val="3773"/>
              </a:lnSpc>
            </a:pPr>
            <a:endParaRPr lang="en-US" sz="2695">
              <a:solidFill>
                <a:srgbClr val="000000"/>
              </a:solidFill>
              <a:latin typeface="Poppins"/>
              <a:ea typeface="Poppins"/>
              <a:cs typeface="Poppins"/>
              <a:sym typeface="Poppins"/>
            </a:endParaRPr>
          </a:p>
          <a:p>
            <a:pPr marL="581858" lvl="1" indent="-290929" algn="l">
              <a:lnSpc>
                <a:spcPts val="3773"/>
              </a:lnSpc>
              <a:buFont typeface="Arial"/>
              <a:buChar char="•"/>
            </a:pPr>
            <a:r>
              <a:rPr lang="en-US" sz="2695" b="1">
                <a:solidFill>
                  <a:srgbClr val="000000"/>
                </a:solidFill>
                <a:latin typeface="Poppins Bold"/>
                <a:ea typeface="Poppins Bold"/>
                <a:cs typeface="Poppins Bold"/>
                <a:sym typeface="Poppins Bold"/>
              </a:rPr>
              <a:t>Event-Driven Signals:</a:t>
            </a:r>
            <a:r>
              <a:rPr lang="en-US" sz="2695">
                <a:solidFill>
                  <a:srgbClr val="000000"/>
                </a:solidFill>
                <a:latin typeface="Poppins"/>
                <a:ea typeface="Poppins"/>
                <a:cs typeface="Poppins"/>
                <a:sym typeface="Poppins"/>
              </a:rPr>
              <a:t>  Corporate actions, economic policies, and global events influence short-term volatility.</a:t>
            </a:r>
          </a:p>
          <a:p>
            <a:pPr algn="l">
              <a:lnSpc>
                <a:spcPts val="3773"/>
              </a:lnSpc>
            </a:pPr>
            <a:endParaRPr lang="en-US" sz="2695">
              <a:solidFill>
                <a:srgbClr val="000000"/>
              </a:solidFill>
              <a:latin typeface="Poppins"/>
              <a:ea typeface="Poppins"/>
              <a:cs typeface="Poppins"/>
              <a:sym typeface="Poppins"/>
            </a:endParaRPr>
          </a:p>
          <a:p>
            <a:pPr marL="581858" lvl="1" indent="-290929" algn="l">
              <a:lnSpc>
                <a:spcPts val="3773"/>
              </a:lnSpc>
              <a:buFont typeface="Arial"/>
              <a:buChar char="•"/>
            </a:pPr>
            <a:r>
              <a:rPr lang="en-US" sz="2695" b="1">
                <a:solidFill>
                  <a:srgbClr val="000000"/>
                </a:solidFill>
                <a:latin typeface="Poppins Bold"/>
                <a:ea typeface="Poppins Bold"/>
                <a:cs typeface="Poppins Bold"/>
                <a:sym typeface="Poppins Bold"/>
              </a:rPr>
              <a:t>Predictive Advantage:</a:t>
            </a:r>
            <a:r>
              <a:rPr lang="en-US" sz="2695">
                <a:solidFill>
                  <a:srgbClr val="000000"/>
                </a:solidFill>
                <a:latin typeface="Poppins"/>
                <a:ea typeface="Poppins"/>
                <a:cs typeface="Poppins"/>
                <a:sym typeface="Poppins"/>
              </a:rPr>
              <a:t>  Timely news insights can precede price changes, enhancing foresight when modeled correctly.</a:t>
            </a:r>
          </a:p>
        </p:txBody>
      </p:sp>
      <p:sp>
        <p:nvSpPr>
          <p:cNvPr id="16" name="TextBox 16"/>
          <p:cNvSpPr txBox="1"/>
          <p:nvPr/>
        </p:nvSpPr>
        <p:spPr>
          <a:xfrm>
            <a:off x="11702764" y="9553575"/>
            <a:ext cx="7222927" cy="325755"/>
          </a:xfrm>
          <a:prstGeom prst="rect">
            <a:avLst/>
          </a:prstGeom>
        </p:spPr>
        <p:txBody>
          <a:bodyPr lIns="0" tIns="0" rIns="0" bIns="0" rtlCol="0" anchor="t">
            <a:spAutoFit/>
          </a:bodyPr>
          <a:lstStyle/>
          <a:p>
            <a:pPr algn="ctr">
              <a:lnSpc>
                <a:spcPts val="2520"/>
              </a:lnSpc>
              <a:spcBef>
                <a:spcPct val="0"/>
              </a:spcBef>
            </a:pPr>
            <a:r>
              <a:rPr lang="en-US" sz="1800" i="1">
                <a:solidFill>
                  <a:srgbClr val="000000"/>
                </a:solidFill>
                <a:latin typeface="Poppins Italics"/>
                <a:ea typeface="Poppins Italics"/>
                <a:cs typeface="Poppins Italics"/>
                <a:sym typeface="Poppins Italics"/>
              </a:rPr>
              <a:t>History of NLP models in Finance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57135" y="1028700"/>
            <a:ext cx="13915012" cy="1543050"/>
            <a:chOff x="0" y="0"/>
            <a:chExt cx="3664859" cy="406400"/>
          </a:xfrm>
        </p:grpSpPr>
        <p:sp>
          <p:nvSpPr>
            <p:cNvPr id="3" name="Freeform 3"/>
            <p:cNvSpPr/>
            <p:nvPr/>
          </p:nvSpPr>
          <p:spPr>
            <a:xfrm>
              <a:off x="0" y="0"/>
              <a:ext cx="3664859" cy="406400"/>
            </a:xfrm>
            <a:custGeom>
              <a:avLst/>
              <a:gdLst/>
              <a:ahLst/>
              <a:cxnLst/>
              <a:rect l="l" t="t" r="r" b="b"/>
              <a:pathLst>
                <a:path w="3664859" h="406400">
                  <a:moveTo>
                    <a:pt x="0" y="0"/>
                  </a:moveTo>
                  <a:lnTo>
                    <a:pt x="3664859" y="0"/>
                  </a:lnTo>
                  <a:lnTo>
                    <a:pt x="3664859" y="406400"/>
                  </a:lnTo>
                  <a:lnTo>
                    <a:pt x="0" y="406400"/>
                  </a:lnTo>
                  <a:close/>
                </a:path>
              </a:pathLst>
            </a:custGeom>
            <a:solidFill>
              <a:srgbClr val="122029"/>
            </a:solidFill>
          </p:spPr>
          <p:txBody>
            <a:bodyPr/>
            <a:lstStyle/>
            <a:p>
              <a:endParaRPr lang="en-US"/>
            </a:p>
          </p:txBody>
        </p:sp>
        <p:sp>
          <p:nvSpPr>
            <p:cNvPr id="4" name="TextBox 4"/>
            <p:cNvSpPr txBox="1"/>
            <p:nvPr/>
          </p:nvSpPr>
          <p:spPr>
            <a:xfrm>
              <a:off x="0" y="-57150"/>
              <a:ext cx="3664859"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7668865">
            <a:off x="12431841" y="-318717"/>
            <a:ext cx="4868099" cy="1199632"/>
            <a:chOff x="0" y="0"/>
            <a:chExt cx="1282133" cy="315952"/>
          </a:xfrm>
        </p:grpSpPr>
        <p:sp>
          <p:nvSpPr>
            <p:cNvPr id="6" name="Freeform 6"/>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7" name="TextBox 7"/>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28700" y="1028700"/>
            <a:ext cx="697472" cy="1543050"/>
            <a:chOff x="0" y="0"/>
            <a:chExt cx="183696" cy="406400"/>
          </a:xfrm>
        </p:grpSpPr>
        <p:sp>
          <p:nvSpPr>
            <p:cNvPr id="9" name="Freeform 9"/>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10" name="TextBox 10"/>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8364374" y="4693459"/>
            <a:ext cx="1559252" cy="1711754"/>
          </a:xfrm>
          <a:custGeom>
            <a:avLst/>
            <a:gdLst/>
            <a:ahLst/>
            <a:cxnLst/>
            <a:rect l="l" t="t" r="r" b="b"/>
            <a:pathLst>
              <a:path w="1559252" h="1711754">
                <a:moveTo>
                  <a:pt x="0" y="0"/>
                </a:moveTo>
                <a:lnTo>
                  <a:pt x="1559252" y="0"/>
                </a:lnTo>
                <a:lnTo>
                  <a:pt x="1559252" y="1711754"/>
                </a:lnTo>
                <a:lnTo>
                  <a:pt x="0" y="171175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a:off x="1028700" y="4088093"/>
            <a:ext cx="5430604" cy="3282325"/>
          </a:xfrm>
          <a:custGeom>
            <a:avLst/>
            <a:gdLst/>
            <a:ahLst/>
            <a:cxnLst/>
            <a:rect l="l" t="t" r="r" b="b"/>
            <a:pathLst>
              <a:path w="5430604" h="3282325">
                <a:moveTo>
                  <a:pt x="0" y="0"/>
                </a:moveTo>
                <a:lnTo>
                  <a:pt x="5430604" y="0"/>
                </a:lnTo>
                <a:lnTo>
                  <a:pt x="5430604" y="3282325"/>
                </a:lnTo>
                <a:lnTo>
                  <a:pt x="0" y="3282325"/>
                </a:lnTo>
                <a:lnTo>
                  <a:pt x="0" y="0"/>
                </a:lnTo>
                <a:close/>
              </a:path>
            </a:pathLst>
          </a:custGeom>
          <a:blipFill>
            <a:blip r:embed="rId5"/>
            <a:stretch>
              <a:fillRect l="-3677" r="-3677"/>
            </a:stretch>
          </a:blipFill>
        </p:spPr>
        <p:txBody>
          <a:bodyPr/>
          <a:lstStyle/>
          <a:p>
            <a:endParaRPr lang="en-US"/>
          </a:p>
        </p:txBody>
      </p:sp>
      <p:sp>
        <p:nvSpPr>
          <p:cNvPr id="13" name="Freeform 13"/>
          <p:cNvSpPr/>
          <p:nvPr/>
        </p:nvSpPr>
        <p:spPr>
          <a:xfrm>
            <a:off x="6371419" y="4088093"/>
            <a:ext cx="5835245" cy="3282325"/>
          </a:xfrm>
          <a:custGeom>
            <a:avLst/>
            <a:gdLst/>
            <a:ahLst/>
            <a:cxnLst/>
            <a:rect l="l" t="t" r="r" b="b"/>
            <a:pathLst>
              <a:path w="5835245" h="3282325">
                <a:moveTo>
                  <a:pt x="0" y="0"/>
                </a:moveTo>
                <a:lnTo>
                  <a:pt x="5835246" y="0"/>
                </a:lnTo>
                <a:lnTo>
                  <a:pt x="5835246" y="3282325"/>
                </a:lnTo>
                <a:lnTo>
                  <a:pt x="0" y="3282325"/>
                </a:lnTo>
                <a:lnTo>
                  <a:pt x="0" y="0"/>
                </a:lnTo>
                <a:close/>
              </a:path>
            </a:pathLst>
          </a:custGeom>
          <a:blipFill>
            <a:blip r:embed="rId6"/>
            <a:stretch>
              <a:fillRect/>
            </a:stretch>
          </a:blipFill>
        </p:spPr>
        <p:txBody>
          <a:bodyPr/>
          <a:lstStyle/>
          <a:p>
            <a:endParaRPr lang="en-US"/>
          </a:p>
        </p:txBody>
      </p:sp>
      <p:sp>
        <p:nvSpPr>
          <p:cNvPr id="14" name="Freeform 14"/>
          <p:cNvSpPr/>
          <p:nvPr/>
        </p:nvSpPr>
        <p:spPr>
          <a:xfrm>
            <a:off x="12361674" y="4270304"/>
            <a:ext cx="5260178" cy="3100114"/>
          </a:xfrm>
          <a:custGeom>
            <a:avLst/>
            <a:gdLst/>
            <a:ahLst/>
            <a:cxnLst/>
            <a:rect l="l" t="t" r="r" b="b"/>
            <a:pathLst>
              <a:path w="5260178" h="3100114">
                <a:moveTo>
                  <a:pt x="0" y="0"/>
                </a:moveTo>
                <a:lnTo>
                  <a:pt x="5260178" y="0"/>
                </a:lnTo>
                <a:lnTo>
                  <a:pt x="5260178" y="3100114"/>
                </a:lnTo>
                <a:lnTo>
                  <a:pt x="0" y="3100114"/>
                </a:lnTo>
                <a:lnTo>
                  <a:pt x="0" y="0"/>
                </a:lnTo>
                <a:close/>
              </a:path>
            </a:pathLst>
          </a:custGeom>
          <a:blipFill>
            <a:blip r:embed="rId7"/>
            <a:stretch>
              <a:fillRect/>
            </a:stretch>
          </a:blipFill>
        </p:spPr>
        <p:txBody>
          <a:bodyPr/>
          <a:lstStyle/>
          <a:p>
            <a:endParaRPr lang="en-US"/>
          </a:p>
        </p:txBody>
      </p:sp>
      <p:sp>
        <p:nvSpPr>
          <p:cNvPr id="15" name="TextBox 15"/>
          <p:cNvSpPr txBox="1"/>
          <p:nvPr/>
        </p:nvSpPr>
        <p:spPr>
          <a:xfrm>
            <a:off x="2554559" y="1168081"/>
            <a:ext cx="13762033" cy="1092838"/>
          </a:xfrm>
          <a:prstGeom prst="rect">
            <a:avLst/>
          </a:prstGeom>
        </p:spPr>
        <p:txBody>
          <a:bodyPr lIns="0" tIns="0" rIns="0" bIns="0" rtlCol="0" anchor="t">
            <a:spAutoFit/>
          </a:bodyPr>
          <a:lstStyle/>
          <a:p>
            <a:pPr algn="l">
              <a:lnSpc>
                <a:spcPts val="8539"/>
              </a:lnSpc>
              <a:spcBef>
                <a:spcPct val="0"/>
              </a:spcBef>
            </a:pPr>
            <a:r>
              <a:rPr lang="en-US" sz="6099" b="1">
                <a:solidFill>
                  <a:srgbClr val="FFFFFF"/>
                </a:solidFill>
                <a:latin typeface="Poppins Ultra-Bold"/>
                <a:ea typeface="Poppins Ultra-Bold"/>
                <a:cs typeface="Poppins Ultra-Bold"/>
                <a:sym typeface="Poppins Ultra-Bold"/>
              </a:rPr>
              <a:t>Overview of Generative Models </a:t>
            </a:r>
          </a:p>
        </p:txBody>
      </p:sp>
      <p:sp>
        <p:nvSpPr>
          <p:cNvPr id="16" name="TextBox 16"/>
          <p:cNvSpPr txBox="1"/>
          <p:nvPr/>
        </p:nvSpPr>
        <p:spPr>
          <a:xfrm>
            <a:off x="1467821" y="7326093"/>
            <a:ext cx="4552363" cy="879475"/>
          </a:xfrm>
          <a:prstGeom prst="rect">
            <a:avLst/>
          </a:prstGeom>
        </p:spPr>
        <p:txBody>
          <a:bodyPr lIns="0" tIns="0" rIns="0" bIns="0" rtlCol="0" anchor="t">
            <a:spAutoFit/>
          </a:bodyPr>
          <a:lstStyle/>
          <a:p>
            <a:pPr algn="ctr">
              <a:lnSpc>
                <a:spcPts val="3499"/>
              </a:lnSpc>
              <a:spcBef>
                <a:spcPct val="0"/>
              </a:spcBef>
            </a:pPr>
            <a:r>
              <a:rPr lang="en-US" sz="2499" b="1">
                <a:solidFill>
                  <a:srgbClr val="000000"/>
                </a:solidFill>
                <a:latin typeface="Poppins Bold"/>
                <a:ea typeface="Poppins Bold"/>
                <a:cs typeface="Poppins Bold"/>
                <a:sym typeface="Poppins Bold"/>
              </a:rPr>
              <a:t>Generative Adversarial Networks (GANs)</a:t>
            </a:r>
          </a:p>
        </p:txBody>
      </p:sp>
      <p:sp>
        <p:nvSpPr>
          <p:cNvPr id="17" name="TextBox 17"/>
          <p:cNvSpPr txBox="1"/>
          <p:nvPr/>
        </p:nvSpPr>
        <p:spPr>
          <a:xfrm>
            <a:off x="6993166" y="7326093"/>
            <a:ext cx="4591751" cy="879475"/>
          </a:xfrm>
          <a:prstGeom prst="rect">
            <a:avLst/>
          </a:prstGeom>
        </p:spPr>
        <p:txBody>
          <a:bodyPr lIns="0" tIns="0" rIns="0" bIns="0" rtlCol="0" anchor="t">
            <a:spAutoFit/>
          </a:bodyPr>
          <a:lstStyle/>
          <a:p>
            <a:pPr algn="ctr">
              <a:lnSpc>
                <a:spcPts val="3499"/>
              </a:lnSpc>
              <a:spcBef>
                <a:spcPct val="0"/>
              </a:spcBef>
            </a:pPr>
            <a:r>
              <a:rPr lang="en-US" sz="2499" b="1">
                <a:solidFill>
                  <a:srgbClr val="000000"/>
                </a:solidFill>
                <a:latin typeface="Poppins Bold"/>
                <a:ea typeface="Poppins Bold"/>
                <a:cs typeface="Poppins Bold"/>
                <a:sym typeface="Poppins Bold"/>
              </a:rPr>
              <a:t>Variational Autoencoders (VAEs)</a:t>
            </a:r>
          </a:p>
        </p:txBody>
      </p:sp>
      <p:sp>
        <p:nvSpPr>
          <p:cNvPr id="18" name="TextBox 18"/>
          <p:cNvSpPr txBox="1"/>
          <p:nvPr/>
        </p:nvSpPr>
        <p:spPr>
          <a:xfrm>
            <a:off x="12725514" y="7545168"/>
            <a:ext cx="4552836" cy="441325"/>
          </a:xfrm>
          <a:prstGeom prst="rect">
            <a:avLst/>
          </a:prstGeom>
        </p:spPr>
        <p:txBody>
          <a:bodyPr lIns="0" tIns="0" rIns="0" bIns="0" rtlCol="0" anchor="t">
            <a:spAutoFit/>
          </a:bodyPr>
          <a:lstStyle/>
          <a:p>
            <a:pPr algn="ctr">
              <a:lnSpc>
                <a:spcPts val="3499"/>
              </a:lnSpc>
              <a:spcBef>
                <a:spcPct val="0"/>
              </a:spcBef>
            </a:pPr>
            <a:r>
              <a:rPr lang="en-US" sz="2499" b="1">
                <a:solidFill>
                  <a:srgbClr val="000000"/>
                </a:solidFill>
                <a:latin typeface="Poppins Bold"/>
                <a:ea typeface="Poppins Bold"/>
                <a:cs typeface="Poppins Bold"/>
                <a:sym typeface="Poppins Bold"/>
              </a:rPr>
              <a:t>Application in Finance</a:t>
            </a:r>
          </a:p>
        </p:txBody>
      </p:sp>
      <p:sp>
        <p:nvSpPr>
          <p:cNvPr id="19" name="TextBox 19"/>
          <p:cNvSpPr txBox="1"/>
          <p:nvPr/>
        </p:nvSpPr>
        <p:spPr>
          <a:xfrm>
            <a:off x="1457415" y="8253193"/>
            <a:ext cx="4573175" cy="1009015"/>
          </a:xfrm>
          <a:prstGeom prst="rect">
            <a:avLst/>
          </a:prstGeom>
        </p:spPr>
        <p:txBody>
          <a:bodyPr lIns="0" tIns="0" rIns="0" bIns="0" rtlCol="0" anchor="t">
            <a:spAutoFit/>
          </a:bodyPr>
          <a:lstStyle/>
          <a:p>
            <a:pPr algn="just">
              <a:lnSpc>
                <a:spcPts val="2659"/>
              </a:lnSpc>
              <a:spcBef>
                <a:spcPct val="0"/>
              </a:spcBef>
            </a:pPr>
            <a:r>
              <a:rPr lang="en-US" sz="1899">
                <a:solidFill>
                  <a:srgbClr val="000000"/>
                </a:solidFill>
                <a:latin typeface="Poppins"/>
                <a:ea typeface="Poppins"/>
                <a:cs typeface="Poppins"/>
                <a:sym typeface="Poppins"/>
              </a:rPr>
              <a:t>Use adversarial training to generate realistic synthetic financial time series.</a:t>
            </a:r>
          </a:p>
        </p:txBody>
      </p:sp>
      <p:sp>
        <p:nvSpPr>
          <p:cNvPr id="20" name="TextBox 20"/>
          <p:cNvSpPr txBox="1"/>
          <p:nvPr/>
        </p:nvSpPr>
        <p:spPr>
          <a:xfrm>
            <a:off x="7081295" y="8253193"/>
            <a:ext cx="4573175" cy="1009015"/>
          </a:xfrm>
          <a:prstGeom prst="rect">
            <a:avLst/>
          </a:prstGeom>
        </p:spPr>
        <p:txBody>
          <a:bodyPr lIns="0" tIns="0" rIns="0" bIns="0" rtlCol="0" anchor="t">
            <a:spAutoFit/>
          </a:bodyPr>
          <a:lstStyle/>
          <a:p>
            <a:pPr algn="just">
              <a:lnSpc>
                <a:spcPts val="2659"/>
              </a:lnSpc>
              <a:spcBef>
                <a:spcPct val="0"/>
              </a:spcBef>
            </a:pPr>
            <a:r>
              <a:rPr lang="en-US" sz="1899">
                <a:solidFill>
                  <a:srgbClr val="000000"/>
                </a:solidFill>
                <a:latin typeface="Poppins"/>
                <a:ea typeface="Poppins"/>
                <a:cs typeface="Poppins"/>
                <a:sym typeface="Poppins"/>
              </a:rPr>
              <a:t>Learn latent representations of market data and enable probabilistic reconstruction</a:t>
            </a:r>
          </a:p>
        </p:txBody>
      </p:sp>
      <p:sp>
        <p:nvSpPr>
          <p:cNvPr id="21" name="TextBox 21"/>
          <p:cNvSpPr txBox="1"/>
          <p:nvPr/>
        </p:nvSpPr>
        <p:spPr>
          <a:xfrm>
            <a:off x="12705175" y="8249285"/>
            <a:ext cx="4573175" cy="1009015"/>
          </a:xfrm>
          <a:prstGeom prst="rect">
            <a:avLst/>
          </a:prstGeom>
        </p:spPr>
        <p:txBody>
          <a:bodyPr lIns="0" tIns="0" rIns="0" bIns="0" rtlCol="0" anchor="t">
            <a:spAutoFit/>
          </a:bodyPr>
          <a:lstStyle/>
          <a:p>
            <a:pPr algn="just">
              <a:lnSpc>
                <a:spcPts val="2659"/>
              </a:lnSpc>
              <a:spcBef>
                <a:spcPct val="0"/>
              </a:spcBef>
            </a:pPr>
            <a:r>
              <a:rPr lang="en-US" sz="1899">
                <a:solidFill>
                  <a:srgbClr val="000000"/>
                </a:solidFill>
                <a:latin typeface="Poppins"/>
                <a:ea typeface="Poppins"/>
                <a:cs typeface="Poppins"/>
                <a:sym typeface="Poppins"/>
              </a:rPr>
              <a:t>Simulate realistic market behavior, detect anomalies, and enhance training data diversity.</a:t>
            </a:r>
          </a:p>
        </p:txBody>
      </p:sp>
      <p:sp>
        <p:nvSpPr>
          <p:cNvPr id="22" name="TextBox 22"/>
          <p:cNvSpPr txBox="1"/>
          <p:nvPr/>
        </p:nvSpPr>
        <p:spPr>
          <a:xfrm>
            <a:off x="1726172" y="2729317"/>
            <a:ext cx="16230600" cy="809625"/>
          </a:xfrm>
          <a:prstGeom prst="rect">
            <a:avLst/>
          </a:prstGeom>
        </p:spPr>
        <p:txBody>
          <a:bodyPr lIns="0" tIns="0" rIns="0" bIns="0" rtlCol="0" anchor="t">
            <a:spAutoFit/>
          </a:bodyPr>
          <a:lstStyle/>
          <a:p>
            <a:pPr algn="l">
              <a:lnSpc>
                <a:spcPts val="6299"/>
              </a:lnSpc>
              <a:spcBef>
                <a:spcPct val="0"/>
              </a:spcBef>
            </a:pPr>
            <a:r>
              <a:rPr lang="en-US" sz="4500" b="1">
                <a:solidFill>
                  <a:srgbClr val="86B4C4"/>
                </a:solidFill>
                <a:latin typeface="Poppins Ultra-Bold"/>
                <a:ea typeface="Poppins Ultra-Bold"/>
                <a:cs typeface="Poppins Ultra-Bold"/>
                <a:sym typeface="Poppins Ultra-Bold"/>
              </a:rPr>
              <a:t>Foundations of AI-Driven Financial Forecasting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57135" y="1028700"/>
            <a:ext cx="11204639" cy="1543050"/>
            <a:chOff x="0" y="0"/>
            <a:chExt cx="2951016" cy="406400"/>
          </a:xfrm>
        </p:grpSpPr>
        <p:sp>
          <p:nvSpPr>
            <p:cNvPr id="3" name="Freeform 3"/>
            <p:cNvSpPr/>
            <p:nvPr/>
          </p:nvSpPr>
          <p:spPr>
            <a:xfrm>
              <a:off x="0" y="0"/>
              <a:ext cx="2951016" cy="406400"/>
            </a:xfrm>
            <a:custGeom>
              <a:avLst/>
              <a:gdLst/>
              <a:ahLst/>
              <a:cxnLst/>
              <a:rect l="l" t="t" r="r" b="b"/>
              <a:pathLst>
                <a:path w="2951016" h="406400">
                  <a:moveTo>
                    <a:pt x="0" y="0"/>
                  </a:moveTo>
                  <a:lnTo>
                    <a:pt x="2951016" y="0"/>
                  </a:lnTo>
                  <a:lnTo>
                    <a:pt x="2951016" y="406400"/>
                  </a:lnTo>
                  <a:lnTo>
                    <a:pt x="0" y="406400"/>
                  </a:lnTo>
                  <a:close/>
                </a:path>
              </a:pathLst>
            </a:custGeom>
            <a:solidFill>
              <a:srgbClr val="122029"/>
            </a:solidFill>
          </p:spPr>
          <p:txBody>
            <a:bodyPr/>
            <a:lstStyle/>
            <a:p>
              <a:endParaRPr lang="en-US"/>
            </a:p>
          </p:txBody>
        </p:sp>
        <p:sp>
          <p:nvSpPr>
            <p:cNvPr id="4" name="TextBox 4"/>
            <p:cNvSpPr txBox="1"/>
            <p:nvPr/>
          </p:nvSpPr>
          <p:spPr>
            <a:xfrm>
              <a:off x="0" y="-57150"/>
              <a:ext cx="2951016"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7668865">
            <a:off x="9718812" y="-318717"/>
            <a:ext cx="4868099" cy="1199632"/>
            <a:chOff x="0" y="0"/>
            <a:chExt cx="1282133" cy="315952"/>
          </a:xfrm>
        </p:grpSpPr>
        <p:sp>
          <p:nvSpPr>
            <p:cNvPr id="6" name="Freeform 6"/>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7" name="TextBox 7"/>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28700" y="1028700"/>
            <a:ext cx="697472" cy="1543050"/>
            <a:chOff x="0" y="0"/>
            <a:chExt cx="183696" cy="406400"/>
          </a:xfrm>
        </p:grpSpPr>
        <p:sp>
          <p:nvSpPr>
            <p:cNvPr id="9" name="Freeform 9"/>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10" name="TextBox 10"/>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4615427" y="3956532"/>
            <a:ext cx="9898578" cy="4488739"/>
          </a:xfrm>
          <a:custGeom>
            <a:avLst/>
            <a:gdLst/>
            <a:ahLst/>
            <a:cxnLst/>
            <a:rect l="l" t="t" r="r" b="b"/>
            <a:pathLst>
              <a:path w="9898578" h="4488739">
                <a:moveTo>
                  <a:pt x="0" y="0"/>
                </a:moveTo>
                <a:lnTo>
                  <a:pt x="9898579" y="0"/>
                </a:lnTo>
                <a:lnTo>
                  <a:pt x="9898579" y="4488739"/>
                </a:lnTo>
                <a:lnTo>
                  <a:pt x="0" y="4488739"/>
                </a:lnTo>
                <a:lnTo>
                  <a:pt x="0" y="0"/>
                </a:lnTo>
                <a:close/>
              </a:path>
            </a:pathLst>
          </a:custGeom>
          <a:blipFill>
            <a:blip r:embed="rId3"/>
            <a:stretch>
              <a:fillRect/>
            </a:stretch>
          </a:blipFill>
        </p:spPr>
        <p:txBody>
          <a:bodyPr/>
          <a:lstStyle/>
          <a:p>
            <a:endParaRPr lang="en-US"/>
          </a:p>
        </p:txBody>
      </p:sp>
      <p:sp>
        <p:nvSpPr>
          <p:cNvPr id="12" name="Freeform 12"/>
          <p:cNvSpPr/>
          <p:nvPr/>
        </p:nvSpPr>
        <p:spPr>
          <a:xfrm>
            <a:off x="2160129" y="7263536"/>
            <a:ext cx="2311904" cy="2363470"/>
          </a:xfrm>
          <a:custGeom>
            <a:avLst/>
            <a:gdLst/>
            <a:ahLst/>
            <a:cxnLst/>
            <a:rect l="l" t="t" r="r" b="b"/>
            <a:pathLst>
              <a:path w="2311904" h="2363470">
                <a:moveTo>
                  <a:pt x="0" y="0"/>
                </a:moveTo>
                <a:lnTo>
                  <a:pt x="2311904" y="0"/>
                </a:lnTo>
                <a:lnTo>
                  <a:pt x="2311904" y="2363470"/>
                </a:lnTo>
                <a:lnTo>
                  <a:pt x="0" y="23634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3" name="TextBox 13"/>
          <p:cNvSpPr txBox="1"/>
          <p:nvPr/>
        </p:nvSpPr>
        <p:spPr>
          <a:xfrm>
            <a:off x="2554559" y="1035683"/>
            <a:ext cx="9845587" cy="1319534"/>
          </a:xfrm>
          <a:prstGeom prst="rect">
            <a:avLst/>
          </a:prstGeom>
        </p:spPr>
        <p:txBody>
          <a:bodyPr lIns="0" tIns="0" rIns="0" bIns="0" rtlCol="0" anchor="t">
            <a:spAutoFit/>
          </a:bodyPr>
          <a:lstStyle/>
          <a:p>
            <a:pPr algn="l">
              <a:lnSpc>
                <a:spcPts val="10219"/>
              </a:lnSpc>
              <a:spcBef>
                <a:spcPct val="0"/>
              </a:spcBef>
            </a:pPr>
            <a:r>
              <a:rPr lang="en-US" sz="7299" b="1">
                <a:solidFill>
                  <a:srgbClr val="FFFFFF"/>
                </a:solidFill>
                <a:latin typeface="Poppins Ultra-Bold"/>
                <a:ea typeface="Poppins Ultra-Bold"/>
                <a:cs typeface="Poppins Ultra-Bold"/>
                <a:sym typeface="Poppins Ultra-Bold"/>
              </a:rPr>
              <a:t>Literature Review</a:t>
            </a:r>
          </a:p>
        </p:txBody>
      </p:sp>
      <p:sp>
        <p:nvSpPr>
          <p:cNvPr id="14" name="TextBox 14"/>
          <p:cNvSpPr txBox="1"/>
          <p:nvPr/>
        </p:nvSpPr>
        <p:spPr>
          <a:xfrm>
            <a:off x="1028700" y="2809652"/>
            <a:ext cx="12678545" cy="901700"/>
          </a:xfrm>
          <a:prstGeom prst="rect">
            <a:avLst/>
          </a:prstGeom>
        </p:spPr>
        <p:txBody>
          <a:bodyPr lIns="0" tIns="0" rIns="0" bIns="0" rtlCol="0" anchor="t">
            <a:spAutoFit/>
          </a:bodyPr>
          <a:lstStyle/>
          <a:p>
            <a:pPr algn="l">
              <a:lnSpc>
                <a:spcPts val="7000"/>
              </a:lnSpc>
              <a:spcBef>
                <a:spcPct val="0"/>
              </a:spcBef>
            </a:pPr>
            <a:r>
              <a:rPr lang="en-US" sz="5000" b="1">
                <a:solidFill>
                  <a:srgbClr val="86B4C4"/>
                </a:solidFill>
                <a:latin typeface="Poppins Ultra-Bold"/>
                <a:ea typeface="Poppins Ultra-Bold"/>
                <a:cs typeface="Poppins Ultra-Bold"/>
                <a:sym typeface="Poppins Ultra-Bold"/>
              </a:rPr>
              <a:t>Explainable AI in Stock Prediction</a:t>
            </a:r>
          </a:p>
        </p:txBody>
      </p:sp>
      <p:sp>
        <p:nvSpPr>
          <p:cNvPr id="15" name="TextBox 15"/>
          <p:cNvSpPr txBox="1"/>
          <p:nvPr/>
        </p:nvSpPr>
        <p:spPr>
          <a:xfrm>
            <a:off x="366478" y="4850410"/>
            <a:ext cx="4376163" cy="2194051"/>
          </a:xfrm>
          <a:prstGeom prst="rect">
            <a:avLst/>
          </a:prstGeom>
        </p:spPr>
        <p:txBody>
          <a:bodyPr lIns="0" tIns="0" rIns="0" bIns="0" rtlCol="0" anchor="t">
            <a:spAutoFit/>
          </a:bodyPr>
          <a:lstStyle/>
          <a:p>
            <a:pPr algn="l">
              <a:lnSpc>
                <a:spcPts val="3493"/>
              </a:lnSpc>
            </a:pPr>
            <a:r>
              <a:rPr lang="en-US" sz="2495" b="1">
                <a:solidFill>
                  <a:srgbClr val="000000"/>
                </a:solidFill>
                <a:latin typeface="Poppins Bold"/>
                <a:ea typeface="Poppins Bold"/>
                <a:cs typeface="Poppins Bold"/>
                <a:sym typeface="Poppins Bold"/>
              </a:rPr>
              <a:t>Interpretability Mandates</a:t>
            </a:r>
          </a:p>
          <a:p>
            <a:pPr algn="l">
              <a:lnSpc>
                <a:spcPts val="3493"/>
              </a:lnSpc>
            </a:pPr>
            <a:r>
              <a:rPr lang="en-US" sz="2495">
                <a:solidFill>
                  <a:srgbClr val="000000"/>
                </a:solidFill>
                <a:latin typeface="Poppins"/>
                <a:ea typeface="Poppins"/>
                <a:cs typeface="Poppins"/>
                <a:sym typeface="Poppins"/>
              </a:rPr>
              <a:t>Regulatory and institutional requirements demand model transparency in high-stakes finance.</a:t>
            </a:r>
          </a:p>
        </p:txBody>
      </p:sp>
      <p:sp>
        <p:nvSpPr>
          <p:cNvPr id="16" name="TextBox 16"/>
          <p:cNvSpPr txBox="1"/>
          <p:nvPr/>
        </p:nvSpPr>
        <p:spPr>
          <a:xfrm>
            <a:off x="4962984" y="8566087"/>
            <a:ext cx="8362032" cy="1317751"/>
          </a:xfrm>
          <a:prstGeom prst="rect">
            <a:avLst/>
          </a:prstGeom>
        </p:spPr>
        <p:txBody>
          <a:bodyPr lIns="0" tIns="0" rIns="0" bIns="0" rtlCol="0" anchor="t">
            <a:spAutoFit/>
          </a:bodyPr>
          <a:lstStyle/>
          <a:p>
            <a:pPr algn="l">
              <a:lnSpc>
                <a:spcPts val="3493"/>
              </a:lnSpc>
            </a:pPr>
            <a:r>
              <a:rPr lang="en-US" sz="2495" b="1">
                <a:solidFill>
                  <a:srgbClr val="000000"/>
                </a:solidFill>
                <a:latin typeface="Poppins Bold"/>
                <a:ea typeface="Poppins Bold"/>
                <a:cs typeface="Poppins Bold"/>
                <a:sym typeface="Poppins Bold"/>
              </a:rPr>
              <a:t>XAI Techniques</a:t>
            </a:r>
          </a:p>
          <a:p>
            <a:pPr algn="l">
              <a:lnSpc>
                <a:spcPts val="3493"/>
              </a:lnSpc>
            </a:pPr>
            <a:r>
              <a:rPr lang="en-US" sz="2495">
                <a:solidFill>
                  <a:srgbClr val="000000"/>
                </a:solidFill>
                <a:latin typeface="Poppins"/>
                <a:ea typeface="Poppins"/>
                <a:cs typeface="Poppins"/>
                <a:sym typeface="Poppins"/>
              </a:rPr>
              <a:t>Use LIME, SHAP, attention mechanisms and LLMs to reveal key features influencing predictions.</a:t>
            </a:r>
          </a:p>
        </p:txBody>
      </p:sp>
      <p:sp>
        <p:nvSpPr>
          <p:cNvPr id="17" name="TextBox 17"/>
          <p:cNvSpPr txBox="1"/>
          <p:nvPr/>
        </p:nvSpPr>
        <p:spPr>
          <a:xfrm>
            <a:off x="14348656" y="4631335"/>
            <a:ext cx="3939344" cy="2632201"/>
          </a:xfrm>
          <a:prstGeom prst="rect">
            <a:avLst/>
          </a:prstGeom>
        </p:spPr>
        <p:txBody>
          <a:bodyPr lIns="0" tIns="0" rIns="0" bIns="0" rtlCol="0" anchor="t">
            <a:spAutoFit/>
          </a:bodyPr>
          <a:lstStyle/>
          <a:p>
            <a:pPr algn="l">
              <a:lnSpc>
                <a:spcPts val="3493"/>
              </a:lnSpc>
            </a:pPr>
            <a:r>
              <a:rPr lang="en-US" sz="2495" b="1">
                <a:solidFill>
                  <a:srgbClr val="000000"/>
                </a:solidFill>
                <a:latin typeface="Poppins Bold"/>
                <a:ea typeface="Poppins Bold"/>
                <a:cs typeface="Poppins Bold"/>
                <a:sym typeface="Poppins Bold"/>
              </a:rPr>
              <a:t>Trust and Usability</a:t>
            </a:r>
          </a:p>
          <a:p>
            <a:pPr algn="l">
              <a:lnSpc>
                <a:spcPts val="3493"/>
              </a:lnSpc>
            </a:pPr>
            <a:r>
              <a:rPr lang="en-US" sz="2495">
                <a:solidFill>
                  <a:srgbClr val="000000"/>
                </a:solidFill>
                <a:latin typeface="Poppins"/>
                <a:ea typeface="Poppins"/>
                <a:cs typeface="Poppins"/>
                <a:sym typeface="Poppins"/>
              </a:rPr>
              <a:t>Clear explanations foster investor confidence, risk management, and actionable insights.</a:t>
            </a:r>
          </a:p>
        </p:txBody>
      </p:sp>
      <p:sp>
        <p:nvSpPr>
          <p:cNvPr id="18" name="Freeform 18"/>
          <p:cNvSpPr/>
          <p:nvPr/>
        </p:nvSpPr>
        <p:spPr>
          <a:xfrm rot="-5400000">
            <a:off x="13187557" y="7451027"/>
            <a:ext cx="2311904" cy="2363470"/>
          </a:xfrm>
          <a:custGeom>
            <a:avLst/>
            <a:gdLst/>
            <a:ahLst/>
            <a:cxnLst/>
            <a:rect l="l" t="t" r="r" b="b"/>
            <a:pathLst>
              <a:path w="2311904" h="2363470">
                <a:moveTo>
                  <a:pt x="0" y="0"/>
                </a:moveTo>
                <a:lnTo>
                  <a:pt x="2311904" y="0"/>
                </a:lnTo>
                <a:lnTo>
                  <a:pt x="2311904" y="2363470"/>
                </a:lnTo>
                <a:lnTo>
                  <a:pt x="0" y="23634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364374" y="4693459"/>
            <a:ext cx="1559252" cy="1711754"/>
          </a:xfrm>
          <a:custGeom>
            <a:avLst/>
            <a:gdLst/>
            <a:ahLst/>
            <a:cxnLst/>
            <a:rect l="l" t="t" r="r" b="b"/>
            <a:pathLst>
              <a:path w="1559252" h="1711754">
                <a:moveTo>
                  <a:pt x="0" y="0"/>
                </a:moveTo>
                <a:lnTo>
                  <a:pt x="1559252" y="0"/>
                </a:lnTo>
                <a:lnTo>
                  <a:pt x="1559252" y="1711754"/>
                </a:lnTo>
                <a:lnTo>
                  <a:pt x="0" y="171175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3" name="Group 3"/>
          <p:cNvGrpSpPr/>
          <p:nvPr/>
        </p:nvGrpSpPr>
        <p:grpSpPr>
          <a:xfrm>
            <a:off x="1957135" y="1028700"/>
            <a:ext cx="11204639" cy="1543050"/>
            <a:chOff x="0" y="0"/>
            <a:chExt cx="2951016" cy="406400"/>
          </a:xfrm>
        </p:grpSpPr>
        <p:sp>
          <p:nvSpPr>
            <p:cNvPr id="4" name="Freeform 4"/>
            <p:cNvSpPr/>
            <p:nvPr/>
          </p:nvSpPr>
          <p:spPr>
            <a:xfrm>
              <a:off x="0" y="0"/>
              <a:ext cx="2951016" cy="406400"/>
            </a:xfrm>
            <a:custGeom>
              <a:avLst/>
              <a:gdLst/>
              <a:ahLst/>
              <a:cxnLst/>
              <a:rect l="l" t="t" r="r" b="b"/>
              <a:pathLst>
                <a:path w="2951016" h="406400">
                  <a:moveTo>
                    <a:pt x="0" y="0"/>
                  </a:moveTo>
                  <a:lnTo>
                    <a:pt x="2951016" y="0"/>
                  </a:lnTo>
                  <a:lnTo>
                    <a:pt x="2951016" y="406400"/>
                  </a:lnTo>
                  <a:lnTo>
                    <a:pt x="0" y="406400"/>
                  </a:lnTo>
                  <a:close/>
                </a:path>
              </a:pathLst>
            </a:custGeom>
            <a:solidFill>
              <a:srgbClr val="122029"/>
            </a:solidFill>
          </p:spPr>
          <p:txBody>
            <a:bodyPr/>
            <a:lstStyle/>
            <a:p>
              <a:endParaRPr lang="en-US"/>
            </a:p>
          </p:txBody>
        </p:sp>
        <p:sp>
          <p:nvSpPr>
            <p:cNvPr id="5" name="TextBox 5"/>
            <p:cNvSpPr txBox="1"/>
            <p:nvPr/>
          </p:nvSpPr>
          <p:spPr>
            <a:xfrm>
              <a:off x="0" y="-57150"/>
              <a:ext cx="2951016"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rot="-7668865">
            <a:off x="9718812" y="-318717"/>
            <a:ext cx="4868099" cy="1199632"/>
            <a:chOff x="0" y="0"/>
            <a:chExt cx="1282133" cy="315952"/>
          </a:xfrm>
        </p:grpSpPr>
        <p:sp>
          <p:nvSpPr>
            <p:cNvPr id="7" name="Freeform 7"/>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8" name="TextBox 8"/>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028700" y="1028700"/>
            <a:ext cx="697472" cy="1543050"/>
            <a:chOff x="0" y="0"/>
            <a:chExt cx="183696" cy="406400"/>
          </a:xfrm>
        </p:grpSpPr>
        <p:sp>
          <p:nvSpPr>
            <p:cNvPr id="10" name="Freeform 10"/>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11" name="TextBox 11"/>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1028700" y="4061547"/>
            <a:ext cx="6806562" cy="5070518"/>
          </a:xfrm>
          <a:custGeom>
            <a:avLst/>
            <a:gdLst/>
            <a:ahLst/>
            <a:cxnLst/>
            <a:rect l="l" t="t" r="r" b="b"/>
            <a:pathLst>
              <a:path w="6806562" h="5070518">
                <a:moveTo>
                  <a:pt x="0" y="0"/>
                </a:moveTo>
                <a:lnTo>
                  <a:pt x="6806562" y="0"/>
                </a:lnTo>
                <a:lnTo>
                  <a:pt x="6806562" y="5070519"/>
                </a:lnTo>
                <a:lnTo>
                  <a:pt x="0" y="5070519"/>
                </a:lnTo>
                <a:lnTo>
                  <a:pt x="0" y="0"/>
                </a:lnTo>
                <a:close/>
              </a:path>
            </a:pathLst>
          </a:custGeom>
          <a:blipFill>
            <a:blip r:embed="rId5"/>
            <a:stretch>
              <a:fillRect/>
            </a:stretch>
          </a:blipFill>
        </p:spPr>
        <p:txBody>
          <a:bodyPr/>
          <a:lstStyle/>
          <a:p>
            <a:endParaRPr lang="en-US"/>
          </a:p>
        </p:txBody>
      </p:sp>
      <p:sp>
        <p:nvSpPr>
          <p:cNvPr id="13" name="Freeform 13"/>
          <p:cNvSpPr/>
          <p:nvPr/>
        </p:nvSpPr>
        <p:spPr>
          <a:xfrm>
            <a:off x="7835262" y="4369209"/>
            <a:ext cx="10452738" cy="4154963"/>
          </a:xfrm>
          <a:custGeom>
            <a:avLst/>
            <a:gdLst/>
            <a:ahLst/>
            <a:cxnLst/>
            <a:rect l="l" t="t" r="r" b="b"/>
            <a:pathLst>
              <a:path w="10452738" h="4154963">
                <a:moveTo>
                  <a:pt x="0" y="0"/>
                </a:moveTo>
                <a:lnTo>
                  <a:pt x="10452738" y="0"/>
                </a:lnTo>
                <a:lnTo>
                  <a:pt x="10452738" y="4154963"/>
                </a:lnTo>
                <a:lnTo>
                  <a:pt x="0" y="4154963"/>
                </a:lnTo>
                <a:lnTo>
                  <a:pt x="0" y="0"/>
                </a:lnTo>
                <a:close/>
              </a:path>
            </a:pathLst>
          </a:custGeom>
          <a:blipFill>
            <a:blip r:embed="rId6"/>
            <a:stretch>
              <a:fillRect/>
            </a:stretch>
          </a:blipFill>
        </p:spPr>
        <p:txBody>
          <a:bodyPr/>
          <a:lstStyle/>
          <a:p>
            <a:endParaRPr lang="en-US"/>
          </a:p>
        </p:txBody>
      </p:sp>
      <p:sp>
        <p:nvSpPr>
          <p:cNvPr id="14" name="TextBox 14"/>
          <p:cNvSpPr txBox="1"/>
          <p:nvPr/>
        </p:nvSpPr>
        <p:spPr>
          <a:xfrm>
            <a:off x="1028700" y="9018270"/>
            <a:ext cx="6806562" cy="1268730"/>
          </a:xfrm>
          <a:prstGeom prst="rect">
            <a:avLst/>
          </a:prstGeom>
        </p:spPr>
        <p:txBody>
          <a:bodyPr lIns="0" tIns="0" rIns="0" bIns="0" rtlCol="0" anchor="t">
            <a:spAutoFit/>
          </a:bodyPr>
          <a:lstStyle/>
          <a:p>
            <a:pPr algn="ctr">
              <a:lnSpc>
                <a:spcPts val="2520"/>
              </a:lnSpc>
              <a:spcBef>
                <a:spcPct val="0"/>
              </a:spcBef>
            </a:pPr>
            <a:r>
              <a:rPr lang="en-US" sz="1800">
                <a:solidFill>
                  <a:srgbClr val="000000"/>
                </a:solidFill>
                <a:latin typeface="Poppins"/>
                <a:ea typeface="Poppins"/>
                <a:cs typeface="Poppins"/>
                <a:sym typeface="Poppins"/>
              </a:rPr>
              <a:t>Koa, K. J., Ma, Y., Ng, R., and Chua, T.-S., “Learning to generate explainable stock predictions using self-reflective large language models,” in Proceedings of the ACM Web Conference 2024, ACM, May 2024, pp. 4304–4315.</a:t>
            </a:r>
          </a:p>
        </p:txBody>
      </p:sp>
      <p:sp>
        <p:nvSpPr>
          <p:cNvPr id="15" name="TextBox 15"/>
          <p:cNvSpPr txBox="1"/>
          <p:nvPr/>
        </p:nvSpPr>
        <p:spPr>
          <a:xfrm>
            <a:off x="9383905" y="9074916"/>
            <a:ext cx="7555738" cy="954405"/>
          </a:xfrm>
          <a:prstGeom prst="rect">
            <a:avLst/>
          </a:prstGeom>
        </p:spPr>
        <p:txBody>
          <a:bodyPr lIns="0" tIns="0" rIns="0" bIns="0" rtlCol="0" anchor="t">
            <a:spAutoFit/>
          </a:bodyPr>
          <a:lstStyle/>
          <a:p>
            <a:pPr algn="ctr">
              <a:lnSpc>
                <a:spcPts val="2520"/>
              </a:lnSpc>
              <a:spcBef>
                <a:spcPct val="0"/>
              </a:spcBef>
            </a:pPr>
            <a:r>
              <a:rPr lang="en-US" sz="1800">
                <a:solidFill>
                  <a:srgbClr val="000000"/>
                </a:solidFill>
                <a:latin typeface="Poppins"/>
                <a:ea typeface="Poppins"/>
                <a:cs typeface="Poppins"/>
                <a:sym typeface="Poppins"/>
              </a:rPr>
              <a:t> Wang, M., Izumi, K., and Sakaji, H., “LLMfactor: Extracting profitable factors through prompts for explainable stock movement pre- diction,” arXiv preprint arXiv:2406.10811, 2024</a:t>
            </a:r>
          </a:p>
        </p:txBody>
      </p:sp>
      <p:sp>
        <p:nvSpPr>
          <p:cNvPr id="16" name="TextBox 16"/>
          <p:cNvSpPr txBox="1"/>
          <p:nvPr/>
        </p:nvSpPr>
        <p:spPr>
          <a:xfrm>
            <a:off x="1726172" y="2729317"/>
            <a:ext cx="16230600" cy="809625"/>
          </a:xfrm>
          <a:prstGeom prst="rect">
            <a:avLst/>
          </a:prstGeom>
        </p:spPr>
        <p:txBody>
          <a:bodyPr lIns="0" tIns="0" rIns="0" bIns="0" rtlCol="0" anchor="t">
            <a:spAutoFit/>
          </a:bodyPr>
          <a:lstStyle/>
          <a:p>
            <a:pPr algn="l">
              <a:lnSpc>
                <a:spcPts val="6299"/>
              </a:lnSpc>
              <a:spcBef>
                <a:spcPct val="0"/>
              </a:spcBef>
            </a:pPr>
            <a:r>
              <a:rPr lang="en-US" sz="4500" b="1">
                <a:solidFill>
                  <a:srgbClr val="86B4C4"/>
                </a:solidFill>
                <a:latin typeface="Poppins Ultra-Bold"/>
                <a:ea typeface="Poppins Ultra-Bold"/>
                <a:cs typeface="Poppins Ultra-Bold"/>
                <a:sym typeface="Poppins Ultra-Bold"/>
              </a:rPr>
              <a:t>Explainable AI applications in Stock Prediction</a:t>
            </a:r>
          </a:p>
        </p:txBody>
      </p:sp>
      <p:sp>
        <p:nvSpPr>
          <p:cNvPr id="17" name="TextBox 17"/>
          <p:cNvSpPr txBox="1"/>
          <p:nvPr/>
        </p:nvSpPr>
        <p:spPr>
          <a:xfrm>
            <a:off x="2554559" y="1035683"/>
            <a:ext cx="9845587" cy="1319534"/>
          </a:xfrm>
          <a:prstGeom prst="rect">
            <a:avLst/>
          </a:prstGeom>
        </p:spPr>
        <p:txBody>
          <a:bodyPr lIns="0" tIns="0" rIns="0" bIns="0" rtlCol="0" anchor="t">
            <a:spAutoFit/>
          </a:bodyPr>
          <a:lstStyle/>
          <a:p>
            <a:pPr algn="l">
              <a:lnSpc>
                <a:spcPts val="10219"/>
              </a:lnSpc>
              <a:spcBef>
                <a:spcPct val="0"/>
              </a:spcBef>
            </a:pPr>
            <a:r>
              <a:rPr lang="en-US" sz="7299" b="1">
                <a:solidFill>
                  <a:srgbClr val="FFFFFF"/>
                </a:solidFill>
                <a:latin typeface="Poppins Ultra-Bold"/>
                <a:ea typeface="Poppins Ultra-Bold"/>
                <a:cs typeface="Poppins Ultra-Bold"/>
                <a:sym typeface="Poppins Ultra-Bold"/>
              </a:rPr>
              <a:t>Literature Review</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364374" y="4693459"/>
            <a:ext cx="1559252" cy="1711754"/>
          </a:xfrm>
          <a:custGeom>
            <a:avLst/>
            <a:gdLst/>
            <a:ahLst/>
            <a:cxnLst/>
            <a:rect l="l" t="t" r="r" b="b"/>
            <a:pathLst>
              <a:path w="1559252" h="1711754">
                <a:moveTo>
                  <a:pt x="0" y="0"/>
                </a:moveTo>
                <a:lnTo>
                  <a:pt x="1559252" y="0"/>
                </a:lnTo>
                <a:lnTo>
                  <a:pt x="1559252" y="1711754"/>
                </a:lnTo>
                <a:lnTo>
                  <a:pt x="0" y="171175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3" name="Group 3"/>
          <p:cNvGrpSpPr/>
          <p:nvPr/>
        </p:nvGrpSpPr>
        <p:grpSpPr>
          <a:xfrm>
            <a:off x="1957135" y="1028700"/>
            <a:ext cx="11204639" cy="1543050"/>
            <a:chOff x="0" y="0"/>
            <a:chExt cx="2951016" cy="406400"/>
          </a:xfrm>
        </p:grpSpPr>
        <p:sp>
          <p:nvSpPr>
            <p:cNvPr id="4" name="Freeform 4"/>
            <p:cNvSpPr/>
            <p:nvPr/>
          </p:nvSpPr>
          <p:spPr>
            <a:xfrm>
              <a:off x="0" y="0"/>
              <a:ext cx="2951016" cy="406400"/>
            </a:xfrm>
            <a:custGeom>
              <a:avLst/>
              <a:gdLst/>
              <a:ahLst/>
              <a:cxnLst/>
              <a:rect l="l" t="t" r="r" b="b"/>
              <a:pathLst>
                <a:path w="2951016" h="406400">
                  <a:moveTo>
                    <a:pt x="0" y="0"/>
                  </a:moveTo>
                  <a:lnTo>
                    <a:pt x="2951016" y="0"/>
                  </a:lnTo>
                  <a:lnTo>
                    <a:pt x="2951016" y="406400"/>
                  </a:lnTo>
                  <a:lnTo>
                    <a:pt x="0" y="406400"/>
                  </a:lnTo>
                  <a:close/>
                </a:path>
              </a:pathLst>
            </a:custGeom>
            <a:solidFill>
              <a:srgbClr val="122029"/>
            </a:solidFill>
          </p:spPr>
          <p:txBody>
            <a:bodyPr/>
            <a:lstStyle/>
            <a:p>
              <a:endParaRPr lang="en-US"/>
            </a:p>
          </p:txBody>
        </p:sp>
        <p:sp>
          <p:nvSpPr>
            <p:cNvPr id="5" name="TextBox 5"/>
            <p:cNvSpPr txBox="1"/>
            <p:nvPr/>
          </p:nvSpPr>
          <p:spPr>
            <a:xfrm>
              <a:off x="0" y="-57150"/>
              <a:ext cx="2951016"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rot="-7668865">
            <a:off x="9718812" y="-318717"/>
            <a:ext cx="4868099" cy="1199632"/>
            <a:chOff x="0" y="0"/>
            <a:chExt cx="1282133" cy="315952"/>
          </a:xfrm>
        </p:grpSpPr>
        <p:sp>
          <p:nvSpPr>
            <p:cNvPr id="7" name="Freeform 7"/>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8" name="TextBox 8"/>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028700" y="1028700"/>
            <a:ext cx="697472" cy="1543050"/>
            <a:chOff x="0" y="0"/>
            <a:chExt cx="183696" cy="406400"/>
          </a:xfrm>
        </p:grpSpPr>
        <p:sp>
          <p:nvSpPr>
            <p:cNvPr id="10" name="Freeform 10"/>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11" name="TextBox 11"/>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0" y="3494913"/>
            <a:ext cx="7512883" cy="5386018"/>
          </a:xfrm>
          <a:custGeom>
            <a:avLst/>
            <a:gdLst/>
            <a:ahLst/>
            <a:cxnLst/>
            <a:rect l="l" t="t" r="r" b="b"/>
            <a:pathLst>
              <a:path w="7512883" h="5386018">
                <a:moveTo>
                  <a:pt x="0" y="0"/>
                </a:moveTo>
                <a:lnTo>
                  <a:pt x="7512883" y="0"/>
                </a:lnTo>
                <a:lnTo>
                  <a:pt x="7512883" y="5386018"/>
                </a:lnTo>
                <a:lnTo>
                  <a:pt x="0" y="5386018"/>
                </a:lnTo>
                <a:lnTo>
                  <a:pt x="0" y="0"/>
                </a:lnTo>
                <a:close/>
              </a:path>
            </a:pathLst>
          </a:custGeom>
          <a:blipFill>
            <a:blip r:embed="rId5"/>
            <a:stretch>
              <a:fillRect/>
            </a:stretch>
          </a:blipFill>
        </p:spPr>
        <p:txBody>
          <a:bodyPr/>
          <a:lstStyle/>
          <a:p>
            <a:endParaRPr lang="en-US"/>
          </a:p>
        </p:txBody>
      </p:sp>
      <p:sp>
        <p:nvSpPr>
          <p:cNvPr id="13" name="Freeform 13"/>
          <p:cNvSpPr/>
          <p:nvPr/>
        </p:nvSpPr>
        <p:spPr>
          <a:xfrm>
            <a:off x="5960955" y="5011893"/>
            <a:ext cx="11802176" cy="3451580"/>
          </a:xfrm>
          <a:custGeom>
            <a:avLst/>
            <a:gdLst/>
            <a:ahLst/>
            <a:cxnLst/>
            <a:rect l="l" t="t" r="r" b="b"/>
            <a:pathLst>
              <a:path w="11802176" h="3451580">
                <a:moveTo>
                  <a:pt x="0" y="0"/>
                </a:moveTo>
                <a:lnTo>
                  <a:pt x="11802175" y="0"/>
                </a:lnTo>
                <a:lnTo>
                  <a:pt x="11802175" y="3451580"/>
                </a:lnTo>
                <a:lnTo>
                  <a:pt x="0" y="3451580"/>
                </a:lnTo>
                <a:lnTo>
                  <a:pt x="0" y="0"/>
                </a:lnTo>
                <a:close/>
              </a:path>
            </a:pathLst>
          </a:custGeom>
          <a:blipFill>
            <a:blip r:embed="rId6"/>
            <a:stretch>
              <a:fillRect/>
            </a:stretch>
          </a:blipFill>
        </p:spPr>
        <p:txBody>
          <a:bodyPr/>
          <a:lstStyle/>
          <a:p>
            <a:endParaRPr lang="en-US"/>
          </a:p>
        </p:txBody>
      </p:sp>
      <p:sp>
        <p:nvSpPr>
          <p:cNvPr id="14" name="TextBox 14"/>
          <p:cNvSpPr txBox="1"/>
          <p:nvPr/>
        </p:nvSpPr>
        <p:spPr>
          <a:xfrm>
            <a:off x="1377436" y="9011219"/>
            <a:ext cx="15881864" cy="640080"/>
          </a:xfrm>
          <a:prstGeom prst="rect">
            <a:avLst/>
          </a:prstGeom>
        </p:spPr>
        <p:txBody>
          <a:bodyPr lIns="0" tIns="0" rIns="0" bIns="0" rtlCol="0" anchor="t">
            <a:spAutoFit/>
          </a:bodyPr>
          <a:lstStyle/>
          <a:p>
            <a:pPr algn="ctr">
              <a:lnSpc>
                <a:spcPts val="2520"/>
              </a:lnSpc>
              <a:spcBef>
                <a:spcPct val="0"/>
              </a:spcBef>
            </a:pPr>
            <a:r>
              <a:rPr lang="en-US" sz="1800">
                <a:solidFill>
                  <a:srgbClr val="000000"/>
                </a:solidFill>
                <a:latin typeface="Poppins"/>
                <a:ea typeface="Poppins"/>
                <a:cs typeface="Poppins"/>
                <a:sym typeface="Poppins"/>
              </a:rPr>
              <a:t>Li, S., Liao, W., Chen, Y., &amp; Yan, R. (2023). PEN: Prediction-Explanation Network to Forecast Stock Price Movement with Better Explainability. Proceedings of the AAAI Conference on Artificial Intelligence, 37(4), 5187-5194.</a:t>
            </a:r>
          </a:p>
        </p:txBody>
      </p:sp>
      <p:sp>
        <p:nvSpPr>
          <p:cNvPr id="15" name="TextBox 15"/>
          <p:cNvSpPr txBox="1"/>
          <p:nvPr/>
        </p:nvSpPr>
        <p:spPr>
          <a:xfrm>
            <a:off x="1726172" y="2729317"/>
            <a:ext cx="16230600" cy="809625"/>
          </a:xfrm>
          <a:prstGeom prst="rect">
            <a:avLst/>
          </a:prstGeom>
        </p:spPr>
        <p:txBody>
          <a:bodyPr lIns="0" tIns="0" rIns="0" bIns="0" rtlCol="0" anchor="t">
            <a:spAutoFit/>
          </a:bodyPr>
          <a:lstStyle/>
          <a:p>
            <a:pPr algn="l">
              <a:lnSpc>
                <a:spcPts val="6299"/>
              </a:lnSpc>
              <a:spcBef>
                <a:spcPct val="0"/>
              </a:spcBef>
            </a:pPr>
            <a:r>
              <a:rPr lang="en-US" sz="4500" b="1">
                <a:solidFill>
                  <a:srgbClr val="86B4C4"/>
                </a:solidFill>
                <a:latin typeface="Poppins Ultra-Bold"/>
                <a:ea typeface="Poppins Ultra-Bold"/>
                <a:cs typeface="Poppins Ultra-Bold"/>
                <a:sym typeface="Poppins Ultra-Bold"/>
              </a:rPr>
              <a:t>Explainable AI applications in Stock Prediction</a:t>
            </a:r>
          </a:p>
        </p:txBody>
      </p:sp>
      <p:sp>
        <p:nvSpPr>
          <p:cNvPr id="16" name="TextBox 16"/>
          <p:cNvSpPr txBox="1"/>
          <p:nvPr/>
        </p:nvSpPr>
        <p:spPr>
          <a:xfrm>
            <a:off x="2554559" y="1035683"/>
            <a:ext cx="9845587" cy="1319534"/>
          </a:xfrm>
          <a:prstGeom prst="rect">
            <a:avLst/>
          </a:prstGeom>
        </p:spPr>
        <p:txBody>
          <a:bodyPr lIns="0" tIns="0" rIns="0" bIns="0" rtlCol="0" anchor="t">
            <a:spAutoFit/>
          </a:bodyPr>
          <a:lstStyle/>
          <a:p>
            <a:pPr algn="l">
              <a:lnSpc>
                <a:spcPts val="10219"/>
              </a:lnSpc>
              <a:spcBef>
                <a:spcPct val="0"/>
              </a:spcBef>
            </a:pPr>
            <a:r>
              <a:rPr lang="en-US" sz="7299" b="1">
                <a:solidFill>
                  <a:srgbClr val="FFFFFF"/>
                </a:solidFill>
                <a:latin typeface="Poppins Ultra-Bold"/>
                <a:ea typeface="Poppins Ultra-Bold"/>
                <a:cs typeface="Poppins Ultra-Bold"/>
                <a:sym typeface="Poppins Ultra-Bold"/>
              </a:rPr>
              <a:t>Literature Review</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57135" y="1028700"/>
            <a:ext cx="11204639" cy="1543050"/>
            <a:chOff x="0" y="0"/>
            <a:chExt cx="2951016" cy="406400"/>
          </a:xfrm>
        </p:grpSpPr>
        <p:sp>
          <p:nvSpPr>
            <p:cNvPr id="3" name="Freeform 3"/>
            <p:cNvSpPr/>
            <p:nvPr/>
          </p:nvSpPr>
          <p:spPr>
            <a:xfrm>
              <a:off x="0" y="0"/>
              <a:ext cx="2951016" cy="406400"/>
            </a:xfrm>
            <a:custGeom>
              <a:avLst/>
              <a:gdLst/>
              <a:ahLst/>
              <a:cxnLst/>
              <a:rect l="l" t="t" r="r" b="b"/>
              <a:pathLst>
                <a:path w="2951016" h="406400">
                  <a:moveTo>
                    <a:pt x="0" y="0"/>
                  </a:moveTo>
                  <a:lnTo>
                    <a:pt x="2951016" y="0"/>
                  </a:lnTo>
                  <a:lnTo>
                    <a:pt x="2951016" y="406400"/>
                  </a:lnTo>
                  <a:lnTo>
                    <a:pt x="0" y="406400"/>
                  </a:lnTo>
                  <a:close/>
                </a:path>
              </a:pathLst>
            </a:custGeom>
            <a:solidFill>
              <a:srgbClr val="122029"/>
            </a:solidFill>
          </p:spPr>
          <p:txBody>
            <a:bodyPr/>
            <a:lstStyle/>
            <a:p>
              <a:endParaRPr lang="en-US"/>
            </a:p>
          </p:txBody>
        </p:sp>
        <p:sp>
          <p:nvSpPr>
            <p:cNvPr id="4" name="TextBox 4"/>
            <p:cNvSpPr txBox="1"/>
            <p:nvPr/>
          </p:nvSpPr>
          <p:spPr>
            <a:xfrm>
              <a:off x="0" y="-57150"/>
              <a:ext cx="2951016"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7668865">
            <a:off x="9718812" y="-318717"/>
            <a:ext cx="4868099" cy="1199632"/>
            <a:chOff x="0" y="0"/>
            <a:chExt cx="1282133" cy="315952"/>
          </a:xfrm>
        </p:grpSpPr>
        <p:sp>
          <p:nvSpPr>
            <p:cNvPr id="6" name="Freeform 6"/>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7" name="TextBox 7"/>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28700" y="1028700"/>
            <a:ext cx="697472" cy="1543050"/>
            <a:chOff x="0" y="0"/>
            <a:chExt cx="183696" cy="406400"/>
          </a:xfrm>
        </p:grpSpPr>
        <p:sp>
          <p:nvSpPr>
            <p:cNvPr id="9" name="Freeform 9"/>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10" name="TextBox 10"/>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2554559" y="1168081"/>
            <a:ext cx="11564487" cy="1092838"/>
          </a:xfrm>
          <a:prstGeom prst="rect">
            <a:avLst/>
          </a:prstGeom>
        </p:spPr>
        <p:txBody>
          <a:bodyPr lIns="0" tIns="0" rIns="0" bIns="0" rtlCol="0" anchor="t">
            <a:spAutoFit/>
          </a:bodyPr>
          <a:lstStyle/>
          <a:p>
            <a:pPr algn="l">
              <a:lnSpc>
                <a:spcPts val="8539"/>
              </a:lnSpc>
              <a:spcBef>
                <a:spcPct val="0"/>
              </a:spcBef>
            </a:pPr>
            <a:r>
              <a:rPr lang="en-US" sz="6099" b="1">
                <a:solidFill>
                  <a:srgbClr val="FFFFFF"/>
                </a:solidFill>
                <a:latin typeface="Poppins Ultra-Bold"/>
                <a:ea typeface="Poppins Ultra-Bold"/>
                <a:cs typeface="Poppins Ultra-Bold"/>
                <a:sym typeface="Poppins Ultra-Bold"/>
              </a:rPr>
              <a:t>Literature Review</a:t>
            </a:r>
          </a:p>
        </p:txBody>
      </p:sp>
      <p:sp>
        <p:nvSpPr>
          <p:cNvPr id="12" name="TextBox 12"/>
          <p:cNvSpPr txBox="1"/>
          <p:nvPr/>
        </p:nvSpPr>
        <p:spPr>
          <a:xfrm>
            <a:off x="1028700" y="2718689"/>
            <a:ext cx="6000767" cy="901700"/>
          </a:xfrm>
          <a:prstGeom prst="rect">
            <a:avLst/>
          </a:prstGeom>
        </p:spPr>
        <p:txBody>
          <a:bodyPr lIns="0" tIns="0" rIns="0" bIns="0" rtlCol="0" anchor="t">
            <a:spAutoFit/>
          </a:bodyPr>
          <a:lstStyle/>
          <a:p>
            <a:pPr algn="l">
              <a:lnSpc>
                <a:spcPts val="7000"/>
              </a:lnSpc>
              <a:spcBef>
                <a:spcPct val="0"/>
              </a:spcBef>
            </a:pPr>
            <a:r>
              <a:rPr lang="en-US" sz="5000" b="1">
                <a:solidFill>
                  <a:srgbClr val="86B4C4"/>
                </a:solidFill>
                <a:latin typeface="Poppins Ultra-Bold"/>
                <a:ea typeface="Poppins Ultra-Bold"/>
                <a:cs typeface="Poppins Ultra-Bold"/>
                <a:sym typeface="Poppins Ultra-Bold"/>
              </a:rPr>
              <a:t>Limitations of PEN</a:t>
            </a:r>
          </a:p>
        </p:txBody>
      </p:sp>
      <p:grpSp>
        <p:nvGrpSpPr>
          <p:cNvPr id="13" name="Group 13"/>
          <p:cNvGrpSpPr/>
          <p:nvPr/>
        </p:nvGrpSpPr>
        <p:grpSpPr>
          <a:xfrm>
            <a:off x="1283619" y="5642864"/>
            <a:ext cx="5027026" cy="3909764"/>
            <a:chOff x="0" y="0"/>
            <a:chExt cx="1323990" cy="1029732"/>
          </a:xfrm>
        </p:grpSpPr>
        <p:sp>
          <p:nvSpPr>
            <p:cNvPr id="14" name="Freeform 14"/>
            <p:cNvSpPr/>
            <p:nvPr/>
          </p:nvSpPr>
          <p:spPr>
            <a:xfrm>
              <a:off x="0" y="0"/>
              <a:ext cx="1323990" cy="1029732"/>
            </a:xfrm>
            <a:custGeom>
              <a:avLst/>
              <a:gdLst/>
              <a:ahLst/>
              <a:cxnLst/>
              <a:rect l="l" t="t" r="r" b="b"/>
              <a:pathLst>
                <a:path w="1323990" h="1029732">
                  <a:moveTo>
                    <a:pt x="0" y="0"/>
                  </a:moveTo>
                  <a:lnTo>
                    <a:pt x="1323990" y="0"/>
                  </a:lnTo>
                  <a:lnTo>
                    <a:pt x="1323990" y="1029732"/>
                  </a:lnTo>
                  <a:lnTo>
                    <a:pt x="0" y="1029732"/>
                  </a:lnTo>
                  <a:close/>
                </a:path>
              </a:pathLst>
            </a:custGeom>
            <a:solidFill>
              <a:srgbClr val="0B415D">
                <a:alpha val="74902"/>
              </a:srgbClr>
            </a:solidFill>
          </p:spPr>
          <p:txBody>
            <a:bodyPr/>
            <a:lstStyle/>
            <a:p>
              <a:endParaRPr lang="en-US"/>
            </a:p>
          </p:txBody>
        </p:sp>
        <p:sp>
          <p:nvSpPr>
            <p:cNvPr id="15" name="TextBox 15"/>
            <p:cNvSpPr txBox="1"/>
            <p:nvPr/>
          </p:nvSpPr>
          <p:spPr>
            <a:xfrm>
              <a:off x="0" y="-38100"/>
              <a:ext cx="1323990" cy="1067832"/>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6630487" y="5642864"/>
            <a:ext cx="5027026" cy="3909764"/>
            <a:chOff x="0" y="0"/>
            <a:chExt cx="1323990" cy="1029732"/>
          </a:xfrm>
        </p:grpSpPr>
        <p:sp>
          <p:nvSpPr>
            <p:cNvPr id="17" name="Freeform 17"/>
            <p:cNvSpPr/>
            <p:nvPr/>
          </p:nvSpPr>
          <p:spPr>
            <a:xfrm>
              <a:off x="0" y="0"/>
              <a:ext cx="1323990" cy="1029732"/>
            </a:xfrm>
            <a:custGeom>
              <a:avLst/>
              <a:gdLst/>
              <a:ahLst/>
              <a:cxnLst/>
              <a:rect l="l" t="t" r="r" b="b"/>
              <a:pathLst>
                <a:path w="1323990" h="1029732">
                  <a:moveTo>
                    <a:pt x="0" y="0"/>
                  </a:moveTo>
                  <a:lnTo>
                    <a:pt x="1323990" y="0"/>
                  </a:lnTo>
                  <a:lnTo>
                    <a:pt x="1323990" y="1029732"/>
                  </a:lnTo>
                  <a:lnTo>
                    <a:pt x="0" y="1029732"/>
                  </a:lnTo>
                  <a:close/>
                </a:path>
              </a:pathLst>
            </a:custGeom>
            <a:solidFill>
              <a:srgbClr val="0B415D">
                <a:alpha val="74902"/>
              </a:srgbClr>
            </a:solidFill>
          </p:spPr>
          <p:txBody>
            <a:bodyPr/>
            <a:lstStyle/>
            <a:p>
              <a:endParaRPr lang="en-US"/>
            </a:p>
          </p:txBody>
        </p:sp>
        <p:sp>
          <p:nvSpPr>
            <p:cNvPr id="18" name="TextBox 18"/>
            <p:cNvSpPr txBox="1"/>
            <p:nvPr/>
          </p:nvSpPr>
          <p:spPr>
            <a:xfrm>
              <a:off x="0" y="-38100"/>
              <a:ext cx="1323990" cy="1067832"/>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1981363" y="5642864"/>
            <a:ext cx="5027026" cy="3909764"/>
            <a:chOff x="0" y="0"/>
            <a:chExt cx="1323990" cy="1029732"/>
          </a:xfrm>
        </p:grpSpPr>
        <p:sp>
          <p:nvSpPr>
            <p:cNvPr id="20" name="Freeform 20"/>
            <p:cNvSpPr/>
            <p:nvPr/>
          </p:nvSpPr>
          <p:spPr>
            <a:xfrm>
              <a:off x="0" y="0"/>
              <a:ext cx="1323990" cy="1029732"/>
            </a:xfrm>
            <a:custGeom>
              <a:avLst/>
              <a:gdLst/>
              <a:ahLst/>
              <a:cxnLst/>
              <a:rect l="l" t="t" r="r" b="b"/>
              <a:pathLst>
                <a:path w="1323990" h="1029732">
                  <a:moveTo>
                    <a:pt x="0" y="0"/>
                  </a:moveTo>
                  <a:lnTo>
                    <a:pt x="1323990" y="0"/>
                  </a:lnTo>
                  <a:lnTo>
                    <a:pt x="1323990" y="1029732"/>
                  </a:lnTo>
                  <a:lnTo>
                    <a:pt x="0" y="1029732"/>
                  </a:lnTo>
                  <a:close/>
                </a:path>
              </a:pathLst>
            </a:custGeom>
            <a:solidFill>
              <a:srgbClr val="0B415D">
                <a:alpha val="74902"/>
              </a:srgbClr>
            </a:solidFill>
          </p:spPr>
          <p:txBody>
            <a:bodyPr/>
            <a:lstStyle/>
            <a:p>
              <a:endParaRPr lang="en-US"/>
            </a:p>
          </p:txBody>
        </p:sp>
        <p:sp>
          <p:nvSpPr>
            <p:cNvPr id="21" name="TextBox 21"/>
            <p:cNvSpPr txBox="1"/>
            <p:nvPr/>
          </p:nvSpPr>
          <p:spPr>
            <a:xfrm>
              <a:off x="0" y="-38100"/>
              <a:ext cx="1323990" cy="1067832"/>
            </a:xfrm>
            <a:prstGeom prst="rect">
              <a:avLst/>
            </a:prstGeom>
          </p:spPr>
          <p:txBody>
            <a:bodyPr lIns="50800" tIns="50800" rIns="50800" bIns="50800" rtlCol="0" anchor="ctr"/>
            <a:lstStyle/>
            <a:p>
              <a:pPr algn="ctr">
                <a:lnSpc>
                  <a:spcPts val="2659"/>
                </a:lnSpc>
              </a:pPr>
              <a:endParaRPr/>
            </a:p>
          </p:txBody>
        </p:sp>
      </p:grpSp>
      <p:sp>
        <p:nvSpPr>
          <p:cNvPr id="22" name="TextBox 22"/>
          <p:cNvSpPr txBox="1"/>
          <p:nvPr/>
        </p:nvSpPr>
        <p:spPr>
          <a:xfrm>
            <a:off x="1682599" y="6460554"/>
            <a:ext cx="4229067" cy="1952625"/>
          </a:xfrm>
          <a:prstGeom prst="rect">
            <a:avLst/>
          </a:prstGeom>
        </p:spPr>
        <p:txBody>
          <a:bodyPr lIns="0" tIns="0" rIns="0" bIns="0" rtlCol="0" anchor="t">
            <a:spAutoFit/>
          </a:bodyPr>
          <a:lstStyle/>
          <a:p>
            <a:pPr algn="ctr">
              <a:lnSpc>
                <a:spcPts val="3000"/>
              </a:lnSpc>
            </a:pPr>
            <a:r>
              <a:rPr lang="en-US" sz="3000">
                <a:solidFill>
                  <a:srgbClr val="FFFBF7"/>
                </a:solidFill>
                <a:latin typeface="Poppins Light"/>
                <a:ea typeface="Poppins Light"/>
                <a:cs typeface="Poppins Light"/>
                <a:sym typeface="Poppins Light"/>
              </a:rPr>
              <a:t>In TSU, VoS only learns from correlation → can appreciate “similar” texts but not really influential</a:t>
            </a:r>
          </a:p>
        </p:txBody>
      </p:sp>
      <p:sp>
        <p:nvSpPr>
          <p:cNvPr id="23" name="TextBox 23"/>
          <p:cNvSpPr txBox="1"/>
          <p:nvPr/>
        </p:nvSpPr>
        <p:spPr>
          <a:xfrm>
            <a:off x="2015112" y="4534789"/>
            <a:ext cx="3564040" cy="936625"/>
          </a:xfrm>
          <a:prstGeom prst="rect">
            <a:avLst/>
          </a:prstGeom>
        </p:spPr>
        <p:txBody>
          <a:bodyPr lIns="0" tIns="0" rIns="0" bIns="0" rtlCol="0" anchor="t">
            <a:spAutoFit/>
          </a:bodyPr>
          <a:lstStyle/>
          <a:p>
            <a:pPr algn="ctr">
              <a:lnSpc>
                <a:spcPts val="3500"/>
              </a:lnSpc>
            </a:pPr>
            <a:r>
              <a:rPr lang="en-US" sz="3500" b="1">
                <a:solidFill>
                  <a:srgbClr val="000000"/>
                </a:solidFill>
                <a:latin typeface="Poppins Bold"/>
                <a:ea typeface="Poppins Bold"/>
                <a:cs typeface="Poppins Bold"/>
                <a:sym typeface="Poppins Bold"/>
              </a:rPr>
              <a:t>Vulnerable to Noise</a:t>
            </a:r>
          </a:p>
        </p:txBody>
      </p:sp>
      <p:grpSp>
        <p:nvGrpSpPr>
          <p:cNvPr id="24" name="Group 24"/>
          <p:cNvGrpSpPr/>
          <p:nvPr/>
        </p:nvGrpSpPr>
        <p:grpSpPr>
          <a:xfrm>
            <a:off x="1279611" y="4220464"/>
            <a:ext cx="5027026" cy="1422400"/>
            <a:chOff x="0" y="0"/>
            <a:chExt cx="1323990" cy="374624"/>
          </a:xfrm>
        </p:grpSpPr>
        <p:sp>
          <p:nvSpPr>
            <p:cNvPr id="25" name="Freeform 25"/>
            <p:cNvSpPr/>
            <p:nvPr/>
          </p:nvSpPr>
          <p:spPr>
            <a:xfrm>
              <a:off x="0" y="0"/>
              <a:ext cx="1323990" cy="374624"/>
            </a:xfrm>
            <a:custGeom>
              <a:avLst/>
              <a:gdLst/>
              <a:ahLst/>
              <a:cxnLst/>
              <a:rect l="l" t="t" r="r" b="b"/>
              <a:pathLst>
                <a:path w="1323990" h="374624">
                  <a:moveTo>
                    <a:pt x="0" y="0"/>
                  </a:moveTo>
                  <a:lnTo>
                    <a:pt x="1323990" y="0"/>
                  </a:lnTo>
                  <a:lnTo>
                    <a:pt x="1323990" y="374624"/>
                  </a:lnTo>
                  <a:lnTo>
                    <a:pt x="0" y="374624"/>
                  </a:lnTo>
                  <a:close/>
                </a:path>
              </a:pathLst>
            </a:custGeom>
            <a:solidFill>
              <a:srgbClr val="86B4C4">
                <a:alpha val="74902"/>
              </a:srgbClr>
            </a:solidFill>
          </p:spPr>
          <p:txBody>
            <a:bodyPr/>
            <a:lstStyle/>
            <a:p>
              <a:endParaRPr lang="en-US"/>
            </a:p>
          </p:txBody>
        </p:sp>
        <p:sp>
          <p:nvSpPr>
            <p:cNvPr id="26" name="TextBox 26"/>
            <p:cNvSpPr txBox="1"/>
            <p:nvPr/>
          </p:nvSpPr>
          <p:spPr>
            <a:xfrm>
              <a:off x="0" y="-38100"/>
              <a:ext cx="1323990" cy="412724"/>
            </a:xfrm>
            <a:prstGeom prst="rect">
              <a:avLst/>
            </a:prstGeom>
          </p:spPr>
          <p:txBody>
            <a:bodyPr lIns="50800" tIns="50800" rIns="50800" bIns="50800" rtlCol="0" anchor="ctr"/>
            <a:lstStyle/>
            <a:p>
              <a:pPr algn="ctr">
                <a:lnSpc>
                  <a:spcPts val="2659"/>
                </a:lnSpc>
              </a:pPr>
              <a:endParaRPr/>
            </a:p>
          </p:txBody>
        </p:sp>
      </p:grpSp>
      <p:sp>
        <p:nvSpPr>
          <p:cNvPr id="27" name="TextBox 27"/>
          <p:cNvSpPr txBox="1"/>
          <p:nvPr/>
        </p:nvSpPr>
        <p:spPr>
          <a:xfrm>
            <a:off x="6873236" y="4534789"/>
            <a:ext cx="4545537" cy="936625"/>
          </a:xfrm>
          <a:prstGeom prst="rect">
            <a:avLst/>
          </a:prstGeom>
        </p:spPr>
        <p:txBody>
          <a:bodyPr lIns="0" tIns="0" rIns="0" bIns="0" rtlCol="0" anchor="t">
            <a:spAutoFit/>
          </a:bodyPr>
          <a:lstStyle/>
          <a:p>
            <a:pPr algn="ctr">
              <a:lnSpc>
                <a:spcPts val="3500"/>
              </a:lnSpc>
            </a:pPr>
            <a:r>
              <a:rPr lang="en-US" sz="3500" b="1">
                <a:solidFill>
                  <a:srgbClr val="000000"/>
                </a:solidFill>
                <a:latin typeface="Poppins Bold"/>
                <a:ea typeface="Poppins Bold"/>
                <a:cs typeface="Poppins Bold"/>
                <a:sym typeface="Poppins Bold"/>
              </a:rPr>
              <a:t>Unclearly Meaning Distinguish</a:t>
            </a:r>
          </a:p>
        </p:txBody>
      </p:sp>
      <p:grpSp>
        <p:nvGrpSpPr>
          <p:cNvPr id="28" name="Group 28"/>
          <p:cNvGrpSpPr/>
          <p:nvPr/>
        </p:nvGrpSpPr>
        <p:grpSpPr>
          <a:xfrm>
            <a:off x="6632491" y="4220464"/>
            <a:ext cx="5027026" cy="1422400"/>
            <a:chOff x="0" y="0"/>
            <a:chExt cx="1323990" cy="374624"/>
          </a:xfrm>
        </p:grpSpPr>
        <p:sp>
          <p:nvSpPr>
            <p:cNvPr id="29" name="Freeform 29"/>
            <p:cNvSpPr/>
            <p:nvPr/>
          </p:nvSpPr>
          <p:spPr>
            <a:xfrm>
              <a:off x="0" y="0"/>
              <a:ext cx="1323990" cy="374624"/>
            </a:xfrm>
            <a:custGeom>
              <a:avLst/>
              <a:gdLst/>
              <a:ahLst/>
              <a:cxnLst/>
              <a:rect l="l" t="t" r="r" b="b"/>
              <a:pathLst>
                <a:path w="1323990" h="374624">
                  <a:moveTo>
                    <a:pt x="0" y="0"/>
                  </a:moveTo>
                  <a:lnTo>
                    <a:pt x="1323990" y="0"/>
                  </a:lnTo>
                  <a:lnTo>
                    <a:pt x="1323990" y="374624"/>
                  </a:lnTo>
                  <a:lnTo>
                    <a:pt x="0" y="374624"/>
                  </a:lnTo>
                  <a:close/>
                </a:path>
              </a:pathLst>
            </a:custGeom>
            <a:solidFill>
              <a:srgbClr val="86B4C4">
                <a:alpha val="74902"/>
              </a:srgbClr>
            </a:solidFill>
          </p:spPr>
          <p:txBody>
            <a:bodyPr/>
            <a:lstStyle/>
            <a:p>
              <a:endParaRPr lang="en-US"/>
            </a:p>
          </p:txBody>
        </p:sp>
        <p:sp>
          <p:nvSpPr>
            <p:cNvPr id="30" name="TextBox 30"/>
            <p:cNvSpPr txBox="1"/>
            <p:nvPr/>
          </p:nvSpPr>
          <p:spPr>
            <a:xfrm>
              <a:off x="0" y="-38100"/>
              <a:ext cx="1323990" cy="412724"/>
            </a:xfrm>
            <a:prstGeom prst="rect">
              <a:avLst/>
            </a:prstGeom>
          </p:spPr>
          <p:txBody>
            <a:bodyPr lIns="50800" tIns="50800" rIns="50800" bIns="50800" rtlCol="0" anchor="ctr"/>
            <a:lstStyle/>
            <a:p>
              <a:pPr algn="ctr">
                <a:lnSpc>
                  <a:spcPts val="2659"/>
                </a:lnSpc>
              </a:pPr>
              <a:endParaRPr/>
            </a:p>
          </p:txBody>
        </p:sp>
      </p:grpSp>
      <p:sp>
        <p:nvSpPr>
          <p:cNvPr id="31" name="TextBox 31"/>
          <p:cNvSpPr txBox="1"/>
          <p:nvPr/>
        </p:nvSpPr>
        <p:spPr>
          <a:xfrm>
            <a:off x="12221492" y="4315714"/>
            <a:ext cx="4556408" cy="1374775"/>
          </a:xfrm>
          <a:prstGeom prst="rect">
            <a:avLst/>
          </a:prstGeom>
        </p:spPr>
        <p:txBody>
          <a:bodyPr lIns="0" tIns="0" rIns="0" bIns="0" rtlCol="0" anchor="t">
            <a:spAutoFit/>
          </a:bodyPr>
          <a:lstStyle/>
          <a:p>
            <a:pPr algn="ctr">
              <a:lnSpc>
                <a:spcPts val="3500"/>
              </a:lnSpc>
            </a:pPr>
            <a:r>
              <a:rPr lang="en-US" sz="3500" b="1">
                <a:solidFill>
                  <a:srgbClr val="000000"/>
                </a:solidFill>
                <a:latin typeface="Poppins Bold"/>
                <a:ea typeface="Poppins Bold"/>
                <a:cs typeface="Poppins Bold"/>
                <a:sym typeface="Poppins Bold"/>
              </a:rPr>
              <a:t>Lack of adaptability to highly volatile markets</a:t>
            </a:r>
          </a:p>
        </p:txBody>
      </p:sp>
      <p:grpSp>
        <p:nvGrpSpPr>
          <p:cNvPr id="32" name="Group 32"/>
          <p:cNvGrpSpPr/>
          <p:nvPr/>
        </p:nvGrpSpPr>
        <p:grpSpPr>
          <a:xfrm>
            <a:off x="11981363" y="4220464"/>
            <a:ext cx="5027026" cy="1422400"/>
            <a:chOff x="0" y="0"/>
            <a:chExt cx="1323990" cy="374624"/>
          </a:xfrm>
        </p:grpSpPr>
        <p:sp>
          <p:nvSpPr>
            <p:cNvPr id="33" name="Freeform 33"/>
            <p:cNvSpPr/>
            <p:nvPr/>
          </p:nvSpPr>
          <p:spPr>
            <a:xfrm>
              <a:off x="0" y="0"/>
              <a:ext cx="1323990" cy="374624"/>
            </a:xfrm>
            <a:custGeom>
              <a:avLst/>
              <a:gdLst/>
              <a:ahLst/>
              <a:cxnLst/>
              <a:rect l="l" t="t" r="r" b="b"/>
              <a:pathLst>
                <a:path w="1323990" h="374624">
                  <a:moveTo>
                    <a:pt x="0" y="0"/>
                  </a:moveTo>
                  <a:lnTo>
                    <a:pt x="1323990" y="0"/>
                  </a:lnTo>
                  <a:lnTo>
                    <a:pt x="1323990" y="374624"/>
                  </a:lnTo>
                  <a:lnTo>
                    <a:pt x="0" y="374624"/>
                  </a:lnTo>
                  <a:close/>
                </a:path>
              </a:pathLst>
            </a:custGeom>
            <a:solidFill>
              <a:srgbClr val="86B4C4">
                <a:alpha val="74902"/>
              </a:srgbClr>
            </a:solidFill>
          </p:spPr>
          <p:txBody>
            <a:bodyPr/>
            <a:lstStyle/>
            <a:p>
              <a:endParaRPr lang="en-US"/>
            </a:p>
          </p:txBody>
        </p:sp>
        <p:sp>
          <p:nvSpPr>
            <p:cNvPr id="34" name="TextBox 34"/>
            <p:cNvSpPr txBox="1"/>
            <p:nvPr/>
          </p:nvSpPr>
          <p:spPr>
            <a:xfrm>
              <a:off x="0" y="-38100"/>
              <a:ext cx="1323990" cy="412724"/>
            </a:xfrm>
            <a:prstGeom prst="rect">
              <a:avLst/>
            </a:prstGeom>
          </p:spPr>
          <p:txBody>
            <a:bodyPr lIns="50800" tIns="50800" rIns="50800" bIns="50800" rtlCol="0" anchor="ctr"/>
            <a:lstStyle/>
            <a:p>
              <a:pPr algn="ctr">
                <a:lnSpc>
                  <a:spcPts val="2659"/>
                </a:lnSpc>
              </a:pPr>
              <a:endParaRPr/>
            </a:p>
          </p:txBody>
        </p:sp>
      </p:grpSp>
      <p:sp>
        <p:nvSpPr>
          <p:cNvPr id="35" name="TextBox 35"/>
          <p:cNvSpPr txBox="1"/>
          <p:nvPr/>
        </p:nvSpPr>
        <p:spPr>
          <a:xfrm>
            <a:off x="7031471" y="6064221"/>
            <a:ext cx="4229067" cy="3095625"/>
          </a:xfrm>
          <a:prstGeom prst="rect">
            <a:avLst/>
          </a:prstGeom>
        </p:spPr>
        <p:txBody>
          <a:bodyPr lIns="0" tIns="0" rIns="0" bIns="0" rtlCol="0" anchor="t">
            <a:spAutoFit/>
          </a:bodyPr>
          <a:lstStyle/>
          <a:p>
            <a:pPr algn="ctr">
              <a:lnSpc>
                <a:spcPts val="3000"/>
              </a:lnSpc>
            </a:pPr>
            <a:r>
              <a:rPr lang="en-US" sz="3000">
                <a:solidFill>
                  <a:srgbClr val="FFFBF7"/>
                </a:solidFill>
                <a:latin typeface="Poppins Light"/>
                <a:ea typeface="Poppins Light"/>
                <a:cs typeface="Poppins Light"/>
                <a:sym typeface="Poppins Light"/>
              </a:rPr>
              <a:t>SRL merges all text information → the model does not know which sentences are causal, which sentences are just describing the developments</a:t>
            </a:r>
          </a:p>
        </p:txBody>
      </p:sp>
      <p:sp>
        <p:nvSpPr>
          <p:cNvPr id="36" name="TextBox 36"/>
          <p:cNvSpPr txBox="1"/>
          <p:nvPr/>
        </p:nvSpPr>
        <p:spPr>
          <a:xfrm>
            <a:off x="12385163" y="6064221"/>
            <a:ext cx="4229067" cy="3095625"/>
          </a:xfrm>
          <a:prstGeom prst="rect">
            <a:avLst/>
          </a:prstGeom>
        </p:spPr>
        <p:txBody>
          <a:bodyPr lIns="0" tIns="0" rIns="0" bIns="0" rtlCol="0" anchor="t">
            <a:spAutoFit/>
          </a:bodyPr>
          <a:lstStyle/>
          <a:p>
            <a:pPr algn="ctr">
              <a:lnSpc>
                <a:spcPts val="3000"/>
              </a:lnSpc>
            </a:pPr>
            <a:r>
              <a:rPr lang="en-US" sz="3000">
                <a:solidFill>
                  <a:srgbClr val="FFFBF7"/>
                </a:solidFill>
                <a:latin typeface="Poppins Light"/>
                <a:ea typeface="Poppins Light"/>
                <a:cs typeface="Poppins Light"/>
                <a:sym typeface="Poppins Light"/>
              </a:rPr>
              <a:t>When there is a lot of noise or conflicting news, PEN is easily confused because there is no filtering mechanism based on deep semantics or causal reasoning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57135" y="1028700"/>
            <a:ext cx="11873457" cy="1543050"/>
            <a:chOff x="0" y="0"/>
            <a:chExt cx="3127166" cy="406400"/>
          </a:xfrm>
        </p:grpSpPr>
        <p:sp>
          <p:nvSpPr>
            <p:cNvPr id="3" name="Freeform 3"/>
            <p:cNvSpPr/>
            <p:nvPr/>
          </p:nvSpPr>
          <p:spPr>
            <a:xfrm>
              <a:off x="0" y="0"/>
              <a:ext cx="3127166" cy="406400"/>
            </a:xfrm>
            <a:custGeom>
              <a:avLst/>
              <a:gdLst/>
              <a:ahLst/>
              <a:cxnLst/>
              <a:rect l="l" t="t" r="r" b="b"/>
              <a:pathLst>
                <a:path w="3127166" h="406400">
                  <a:moveTo>
                    <a:pt x="0" y="0"/>
                  </a:moveTo>
                  <a:lnTo>
                    <a:pt x="3127166" y="0"/>
                  </a:lnTo>
                  <a:lnTo>
                    <a:pt x="3127166" y="406400"/>
                  </a:lnTo>
                  <a:lnTo>
                    <a:pt x="0" y="406400"/>
                  </a:lnTo>
                  <a:close/>
                </a:path>
              </a:pathLst>
            </a:custGeom>
            <a:solidFill>
              <a:srgbClr val="122029"/>
            </a:solidFill>
          </p:spPr>
          <p:txBody>
            <a:bodyPr/>
            <a:lstStyle/>
            <a:p>
              <a:endParaRPr lang="en-US"/>
            </a:p>
          </p:txBody>
        </p:sp>
        <p:sp>
          <p:nvSpPr>
            <p:cNvPr id="4" name="TextBox 4"/>
            <p:cNvSpPr txBox="1"/>
            <p:nvPr/>
          </p:nvSpPr>
          <p:spPr>
            <a:xfrm>
              <a:off x="0" y="-57150"/>
              <a:ext cx="3127166"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7668865">
            <a:off x="10384894" y="-318717"/>
            <a:ext cx="4868099" cy="1199632"/>
            <a:chOff x="0" y="0"/>
            <a:chExt cx="1282133" cy="315952"/>
          </a:xfrm>
        </p:grpSpPr>
        <p:sp>
          <p:nvSpPr>
            <p:cNvPr id="6" name="Freeform 6"/>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7" name="TextBox 7"/>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28700" y="1028700"/>
            <a:ext cx="697472" cy="1543050"/>
            <a:chOff x="0" y="0"/>
            <a:chExt cx="183696" cy="406400"/>
          </a:xfrm>
        </p:grpSpPr>
        <p:sp>
          <p:nvSpPr>
            <p:cNvPr id="9" name="Freeform 9"/>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10" name="TextBox 10"/>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1852724" y="4005667"/>
            <a:ext cx="2925127" cy="292512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B4C4"/>
            </a:solidFill>
          </p:spPr>
          <p:txBody>
            <a:bodyPr/>
            <a:lstStyle/>
            <a:p>
              <a:endParaRPr lang="en-US"/>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7681437" y="4005667"/>
            <a:ext cx="2925127" cy="292512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8196"/>
            </a:solidFill>
          </p:spPr>
          <p:txBody>
            <a:bodyPr/>
            <a:lstStyle/>
            <a:p>
              <a:endParaRPr lang="en-US"/>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3626267" y="4005667"/>
            <a:ext cx="2925127" cy="2925127"/>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485F"/>
            </a:solidFill>
          </p:spPr>
          <p:txBody>
            <a:bodyPr/>
            <a:lstStyle/>
            <a:p>
              <a:endParaRPr lang="en-US"/>
            </a:p>
          </p:txBody>
        </p:sp>
        <p:sp>
          <p:nvSpPr>
            <p:cNvPr id="19" name="TextBox 19"/>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sp>
        <p:nvSpPr>
          <p:cNvPr id="20" name="Freeform 20"/>
          <p:cNvSpPr/>
          <p:nvPr/>
        </p:nvSpPr>
        <p:spPr>
          <a:xfrm>
            <a:off x="2495600" y="4865883"/>
            <a:ext cx="1639375" cy="1688495"/>
          </a:xfrm>
          <a:custGeom>
            <a:avLst/>
            <a:gdLst/>
            <a:ahLst/>
            <a:cxnLst/>
            <a:rect l="l" t="t" r="r" b="b"/>
            <a:pathLst>
              <a:path w="1639375" h="1688495">
                <a:moveTo>
                  <a:pt x="0" y="0"/>
                </a:moveTo>
                <a:lnTo>
                  <a:pt x="1639375" y="0"/>
                </a:lnTo>
                <a:lnTo>
                  <a:pt x="1639375" y="1688494"/>
                </a:lnTo>
                <a:lnTo>
                  <a:pt x="0" y="168849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1" name="Freeform 21"/>
          <p:cNvSpPr/>
          <p:nvPr/>
        </p:nvSpPr>
        <p:spPr>
          <a:xfrm>
            <a:off x="8213184" y="4541218"/>
            <a:ext cx="1789977" cy="1854025"/>
          </a:xfrm>
          <a:custGeom>
            <a:avLst/>
            <a:gdLst/>
            <a:ahLst/>
            <a:cxnLst/>
            <a:rect l="l" t="t" r="r" b="b"/>
            <a:pathLst>
              <a:path w="1789977" h="1854025">
                <a:moveTo>
                  <a:pt x="0" y="0"/>
                </a:moveTo>
                <a:lnTo>
                  <a:pt x="1789977" y="0"/>
                </a:lnTo>
                <a:lnTo>
                  <a:pt x="1789977" y="1854025"/>
                </a:lnTo>
                <a:lnTo>
                  <a:pt x="0" y="185402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2" name="Freeform 22"/>
          <p:cNvSpPr/>
          <p:nvPr/>
        </p:nvSpPr>
        <p:spPr>
          <a:xfrm>
            <a:off x="14089921" y="4680967"/>
            <a:ext cx="1997818" cy="1574527"/>
          </a:xfrm>
          <a:custGeom>
            <a:avLst/>
            <a:gdLst/>
            <a:ahLst/>
            <a:cxnLst/>
            <a:rect l="l" t="t" r="r" b="b"/>
            <a:pathLst>
              <a:path w="1997818" h="1574527">
                <a:moveTo>
                  <a:pt x="0" y="0"/>
                </a:moveTo>
                <a:lnTo>
                  <a:pt x="1997818" y="0"/>
                </a:lnTo>
                <a:lnTo>
                  <a:pt x="1997818" y="1574527"/>
                </a:lnTo>
                <a:lnTo>
                  <a:pt x="0" y="157452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3" name="TextBox 23"/>
          <p:cNvSpPr txBox="1"/>
          <p:nvPr/>
        </p:nvSpPr>
        <p:spPr>
          <a:xfrm>
            <a:off x="2236075" y="1217379"/>
            <a:ext cx="10688060" cy="1121538"/>
          </a:xfrm>
          <a:prstGeom prst="rect">
            <a:avLst/>
          </a:prstGeom>
        </p:spPr>
        <p:txBody>
          <a:bodyPr lIns="0" tIns="0" rIns="0" bIns="0" rtlCol="0" anchor="t">
            <a:spAutoFit/>
          </a:bodyPr>
          <a:lstStyle/>
          <a:p>
            <a:pPr algn="l">
              <a:lnSpc>
                <a:spcPts val="8805"/>
              </a:lnSpc>
              <a:spcBef>
                <a:spcPct val="0"/>
              </a:spcBef>
            </a:pPr>
            <a:r>
              <a:rPr lang="en-US" sz="6289" b="1">
                <a:solidFill>
                  <a:srgbClr val="FFFFFF"/>
                </a:solidFill>
                <a:latin typeface="Poppins Ultra-Bold"/>
                <a:ea typeface="Poppins Ultra-Bold"/>
                <a:cs typeface="Poppins Ultra-Bold"/>
                <a:sym typeface="Poppins Ultra-Bold"/>
              </a:rPr>
              <a:t>The Proposed Framework </a:t>
            </a:r>
          </a:p>
        </p:txBody>
      </p:sp>
      <p:sp>
        <p:nvSpPr>
          <p:cNvPr id="24" name="TextBox 24"/>
          <p:cNvSpPr txBox="1"/>
          <p:nvPr/>
        </p:nvSpPr>
        <p:spPr>
          <a:xfrm>
            <a:off x="1736606" y="7326093"/>
            <a:ext cx="3157362" cy="441325"/>
          </a:xfrm>
          <a:prstGeom prst="rect">
            <a:avLst/>
          </a:prstGeom>
        </p:spPr>
        <p:txBody>
          <a:bodyPr lIns="0" tIns="0" rIns="0" bIns="0" rtlCol="0" anchor="t">
            <a:spAutoFit/>
          </a:bodyPr>
          <a:lstStyle/>
          <a:p>
            <a:pPr algn="ctr">
              <a:lnSpc>
                <a:spcPts val="3499"/>
              </a:lnSpc>
              <a:spcBef>
                <a:spcPct val="0"/>
              </a:spcBef>
            </a:pPr>
            <a:r>
              <a:rPr lang="en-US" sz="2499" b="1">
                <a:solidFill>
                  <a:srgbClr val="000000"/>
                </a:solidFill>
                <a:latin typeface="Poppins Bold"/>
                <a:ea typeface="Poppins Bold"/>
                <a:cs typeface="Poppins Bold"/>
                <a:sym typeface="Poppins Bold"/>
              </a:rPr>
              <a:t>Ca-TSU Module</a:t>
            </a:r>
          </a:p>
        </p:txBody>
      </p:sp>
      <p:sp>
        <p:nvSpPr>
          <p:cNvPr id="25" name="TextBox 25"/>
          <p:cNvSpPr txBox="1"/>
          <p:nvPr/>
        </p:nvSpPr>
        <p:spPr>
          <a:xfrm>
            <a:off x="6857413" y="7326093"/>
            <a:ext cx="4591751" cy="441325"/>
          </a:xfrm>
          <a:prstGeom prst="rect">
            <a:avLst/>
          </a:prstGeom>
        </p:spPr>
        <p:txBody>
          <a:bodyPr lIns="0" tIns="0" rIns="0" bIns="0" rtlCol="0" anchor="t">
            <a:spAutoFit/>
          </a:bodyPr>
          <a:lstStyle/>
          <a:p>
            <a:pPr algn="ctr">
              <a:lnSpc>
                <a:spcPts val="3499"/>
              </a:lnSpc>
              <a:spcBef>
                <a:spcPct val="0"/>
              </a:spcBef>
            </a:pPr>
            <a:r>
              <a:rPr lang="en-US" sz="2499" b="1">
                <a:solidFill>
                  <a:srgbClr val="000000"/>
                </a:solidFill>
                <a:latin typeface="Poppins Bold"/>
                <a:ea typeface="Poppins Bold"/>
                <a:cs typeface="Poppins Bold"/>
                <a:sym typeface="Poppins Bold"/>
              </a:rPr>
              <a:t>DP-SRL Module</a:t>
            </a:r>
          </a:p>
        </p:txBody>
      </p:sp>
      <p:sp>
        <p:nvSpPr>
          <p:cNvPr id="26" name="TextBox 26"/>
          <p:cNvSpPr txBox="1"/>
          <p:nvPr/>
        </p:nvSpPr>
        <p:spPr>
          <a:xfrm>
            <a:off x="12706464" y="7326093"/>
            <a:ext cx="4552836" cy="441325"/>
          </a:xfrm>
          <a:prstGeom prst="rect">
            <a:avLst/>
          </a:prstGeom>
        </p:spPr>
        <p:txBody>
          <a:bodyPr lIns="0" tIns="0" rIns="0" bIns="0" rtlCol="0" anchor="t">
            <a:spAutoFit/>
          </a:bodyPr>
          <a:lstStyle/>
          <a:p>
            <a:pPr algn="ctr">
              <a:lnSpc>
                <a:spcPts val="3499"/>
              </a:lnSpc>
              <a:spcBef>
                <a:spcPct val="0"/>
              </a:spcBef>
            </a:pPr>
            <a:r>
              <a:rPr lang="en-US" sz="2499" b="1">
                <a:solidFill>
                  <a:srgbClr val="000000"/>
                </a:solidFill>
                <a:latin typeface="Poppins Bold"/>
                <a:ea typeface="Poppins Bold"/>
                <a:cs typeface="Poppins Bold"/>
                <a:sym typeface="Poppins Bold"/>
              </a:rPr>
              <a:t>Volatility-Aware Fusion</a:t>
            </a:r>
          </a:p>
        </p:txBody>
      </p:sp>
      <p:sp>
        <p:nvSpPr>
          <p:cNvPr id="27" name="TextBox 27"/>
          <p:cNvSpPr txBox="1"/>
          <p:nvPr/>
        </p:nvSpPr>
        <p:spPr>
          <a:xfrm>
            <a:off x="1028700" y="7870205"/>
            <a:ext cx="4573175" cy="1009015"/>
          </a:xfrm>
          <a:prstGeom prst="rect">
            <a:avLst/>
          </a:prstGeom>
        </p:spPr>
        <p:txBody>
          <a:bodyPr lIns="0" tIns="0" rIns="0" bIns="0" rtlCol="0" anchor="t">
            <a:spAutoFit/>
          </a:bodyPr>
          <a:lstStyle/>
          <a:p>
            <a:pPr algn="just">
              <a:lnSpc>
                <a:spcPts val="2659"/>
              </a:lnSpc>
              <a:spcBef>
                <a:spcPct val="0"/>
              </a:spcBef>
            </a:pPr>
            <a:r>
              <a:rPr lang="en-US" sz="1899">
                <a:solidFill>
                  <a:srgbClr val="000000"/>
                </a:solidFill>
                <a:latin typeface="Poppins"/>
                <a:ea typeface="Poppins"/>
                <a:cs typeface="Poppins"/>
                <a:sym typeface="Poppins"/>
              </a:rPr>
              <a:t>Filters text inputs to extract causally predictive content, removing reactive noise.</a:t>
            </a:r>
          </a:p>
        </p:txBody>
      </p:sp>
      <p:sp>
        <p:nvSpPr>
          <p:cNvPr id="28" name="TextBox 28"/>
          <p:cNvSpPr txBox="1"/>
          <p:nvPr/>
        </p:nvSpPr>
        <p:spPr>
          <a:xfrm>
            <a:off x="6857413" y="7870205"/>
            <a:ext cx="4573175" cy="1009015"/>
          </a:xfrm>
          <a:prstGeom prst="rect">
            <a:avLst/>
          </a:prstGeom>
        </p:spPr>
        <p:txBody>
          <a:bodyPr lIns="0" tIns="0" rIns="0" bIns="0" rtlCol="0" anchor="t">
            <a:spAutoFit/>
          </a:bodyPr>
          <a:lstStyle/>
          <a:p>
            <a:pPr algn="just">
              <a:lnSpc>
                <a:spcPts val="2659"/>
              </a:lnSpc>
              <a:spcBef>
                <a:spcPct val="0"/>
              </a:spcBef>
            </a:pPr>
            <a:r>
              <a:rPr lang="en-US" sz="1899">
                <a:solidFill>
                  <a:srgbClr val="000000"/>
                </a:solidFill>
                <a:latin typeface="Poppins"/>
                <a:ea typeface="Poppins"/>
                <a:cs typeface="Poppins"/>
                <a:sym typeface="Poppins"/>
              </a:rPr>
              <a:t>Maintains causal (text→price) and responsive (price→text) pathways for interpretability.</a:t>
            </a:r>
          </a:p>
        </p:txBody>
      </p:sp>
      <p:sp>
        <p:nvSpPr>
          <p:cNvPr id="29" name="TextBox 29"/>
          <p:cNvSpPr txBox="1"/>
          <p:nvPr/>
        </p:nvSpPr>
        <p:spPr>
          <a:xfrm>
            <a:off x="12686125" y="7870205"/>
            <a:ext cx="4573175" cy="1009015"/>
          </a:xfrm>
          <a:prstGeom prst="rect">
            <a:avLst/>
          </a:prstGeom>
        </p:spPr>
        <p:txBody>
          <a:bodyPr lIns="0" tIns="0" rIns="0" bIns="0" rtlCol="0" anchor="t">
            <a:spAutoFit/>
          </a:bodyPr>
          <a:lstStyle/>
          <a:p>
            <a:pPr algn="just">
              <a:lnSpc>
                <a:spcPts val="2659"/>
              </a:lnSpc>
              <a:spcBef>
                <a:spcPct val="0"/>
              </a:spcBef>
            </a:pPr>
            <a:r>
              <a:rPr lang="en-US" sz="1899">
                <a:solidFill>
                  <a:srgbClr val="000000"/>
                </a:solidFill>
                <a:latin typeface="Poppins"/>
                <a:ea typeface="Poppins"/>
                <a:cs typeface="Poppins"/>
                <a:sym typeface="Poppins"/>
              </a:rPr>
              <a:t>Dynamically adjusts input contributions using market volatility to ensure stable predictions.</a:t>
            </a:r>
          </a:p>
        </p:txBody>
      </p:sp>
      <p:sp>
        <p:nvSpPr>
          <p:cNvPr id="30" name="TextBox 30"/>
          <p:cNvSpPr txBox="1"/>
          <p:nvPr/>
        </p:nvSpPr>
        <p:spPr>
          <a:xfrm>
            <a:off x="1028700" y="2775354"/>
            <a:ext cx="15702381" cy="717550"/>
          </a:xfrm>
          <a:prstGeom prst="rect">
            <a:avLst/>
          </a:prstGeom>
        </p:spPr>
        <p:txBody>
          <a:bodyPr lIns="0" tIns="0" rIns="0" bIns="0" rtlCol="0" anchor="t">
            <a:spAutoFit/>
          </a:bodyPr>
          <a:lstStyle/>
          <a:p>
            <a:pPr algn="l">
              <a:lnSpc>
                <a:spcPts val="5599"/>
              </a:lnSpc>
              <a:spcBef>
                <a:spcPct val="0"/>
              </a:spcBef>
            </a:pPr>
            <a:r>
              <a:rPr lang="en-US" sz="3999" b="1">
                <a:solidFill>
                  <a:srgbClr val="86B4C4"/>
                </a:solidFill>
                <a:latin typeface="Poppins Ultra-Bold"/>
                <a:ea typeface="Poppins Ultra-Bold"/>
                <a:cs typeface="Poppins Ultra-Bold"/>
                <a:sym typeface="Poppins Ultra-Bold"/>
              </a:rPr>
              <a:t>Causal and Dual-Pathway Prediction-Explanation Network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57135" y="1028700"/>
            <a:ext cx="14007306" cy="1543050"/>
            <a:chOff x="0" y="0"/>
            <a:chExt cx="3689167" cy="406400"/>
          </a:xfrm>
        </p:grpSpPr>
        <p:sp>
          <p:nvSpPr>
            <p:cNvPr id="3" name="Freeform 3"/>
            <p:cNvSpPr/>
            <p:nvPr/>
          </p:nvSpPr>
          <p:spPr>
            <a:xfrm>
              <a:off x="0" y="0"/>
              <a:ext cx="3689167" cy="406400"/>
            </a:xfrm>
            <a:custGeom>
              <a:avLst/>
              <a:gdLst/>
              <a:ahLst/>
              <a:cxnLst/>
              <a:rect l="l" t="t" r="r" b="b"/>
              <a:pathLst>
                <a:path w="3689167" h="406400">
                  <a:moveTo>
                    <a:pt x="0" y="0"/>
                  </a:moveTo>
                  <a:lnTo>
                    <a:pt x="3689167" y="0"/>
                  </a:lnTo>
                  <a:lnTo>
                    <a:pt x="3689167" y="406400"/>
                  </a:lnTo>
                  <a:lnTo>
                    <a:pt x="0" y="406400"/>
                  </a:lnTo>
                  <a:close/>
                </a:path>
              </a:pathLst>
            </a:custGeom>
            <a:solidFill>
              <a:srgbClr val="122029"/>
            </a:solidFill>
          </p:spPr>
          <p:txBody>
            <a:bodyPr/>
            <a:lstStyle/>
            <a:p>
              <a:endParaRPr lang="en-US"/>
            </a:p>
          </p:txBody>
        </p:sp>
        <p:sp>
          <p:nvSpPr>
            <p:cNvPr id="4" name="TextBox 4"/>
            <p:cNvSpPr txBox="1"/>
            <p:nvPr/>
          </p:nvSpPr>
          <p:spPr>
            <a:xfrm>
              <a:off x="0" y="-57150"/>
              <a:ext cx="3689167"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7668865">
            <a:off x="12506866" y="-318717"/>
            <a:ext cx="4868099" cy="1199632"/>
            <a:chOff x="0" y="0"/>
            <a:chExt cx="1282133" cy="315952"/>
          </a:xfrm>
        </p:grpSpPr>
        <p:sp>
          <p:nvSpPr>
            <p:cNvPr id="6" name="Freeform 6"/>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7" name="TextBox 7"/>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28700" y="1028700"/>
            <a:ext cx="697472" cy="1543050"/>
            <a:chOff x="0" y="0"/>
            <a:chExt cx="183696" cy="406400"/>
          </a:xfrm>
        </p:grpSpPr>
        <p:sp>
          <p:nvSpPr>
            <p:cNvPr id="9" name="Freeform 9"/>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10" name="TextBox 10"/>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3562593" y="2769630"/>
            <a:ext cx="11562955" cy="6488670"/>
          </a:xfrm>
          <a:custGeom>
            <a:avLst/>
            <a:gdLst/>
            <a:ahLst/>
            <a:cxnLst/>
            <a:rect l="l" t="t" r="r" b="b"/>
            <a:pathLst>
              <a:path w="11562955" h="6488670">
                <a:moveTo>
                  <a:pt x="0" y="0"/>
                </a:moveTo>
                <a:lnTo>
                  <a:pt x="11562955" y="0"/>
                </a:lnTo>
                <a:lnTo>
                  <a:pt x="11562955" y="6488670"/>
                </a:lnTo>
                <a:lnTo>
                  <a:pt x="0" y="6488670"/>
                </a:lnTo>
                <a:lnTo>
                  <a:pt x="0" y="0"/>
                </a:lnTo>
                <a:close/>
              </a:path>
            </a:pathLst>
          </a:custGeom>
          <a:blipFill>
            <a:blip r:embed="rId3"/>
            <a:stretch>
              <a:fillRect/>
            </a:stretch>
          </a:blipFill>
        </p:spPr>
        <p:txBody>
          <a:bodyPr/>
          <a:lstStyle/>
          <a:p>
            <a:endParaRPr lang="en-US"/>
          </a:p>
        </p:txBody>
      </p:sp>
      <p:sp>
        <p:nvSpPr>
          <p:cNvPr id="12" name="TextBox 12"/>
          <p:cNvSpPr txBox="1"/>
          <p:nvPr/>
        </p:nvSpPr>
        <p:spPr>
          <a:xfrm>
            <a:off x="2236075" y="1217379"/>
            <a:ext cx="10688060" cy="1121538"/>
          </a:xfrm>
          <a:prstGeom prst="rect">
            <a:avLst/>
          </a:prstGeom>
        </p:spPr>
        <p:txBody>
          <a:bodyPr lIns="0" tIns="0" rIns="0" bIns="0" rtlCol="0" anchor="t">
            <a:spAutoFit/>
          </a:bodyPr>
          <a:lstStyle/>
          <a:p>
            <a:pPr algn="l">
              <a:lnSpc>
                <a:spcPts val="8805"/>
              </a:lnSpc>
              <a:spcBef>
                <a:spcPct val="0"/>
              </a:spcBef>
            </a:pPr>
            <a:r>
              <a:rPr lang="en-US" sz="6289" b="1">
                <a:solidFill>
                  <a:srgbClr val="FFFFFF"/>
                </a:solidFill>
                <a:latin typeface="Poppins Ultra-Bold"/>
                <a:ea typeface="Poppins Ultra-Bold"/>
                <a:cs typeface="Poppins Ultra-Bold"/>
                <a:sym typeface="Poppins Ultra-Bold"/>
              </a:rPr>
              <a:t>The Proposed Framework </a:t>
            </a:r>
          </a:p>
        </p:txBody>
      </p:sp>
      <p:sp>
        <p:nvSpPr>
          <p:cNvPr id="13" name="TextBox 13"/>
          <p:cNvSpPr txBox="1"/>
          <p:nvPr/>
        </p:nvSpPr>
        <p:spPr>
          <a:xfrm>
            <a:off x="1028700" y="9191625"/>
            <a:ext cx="16230600" cy="879475"/>
          </a:xfrm>
          <a:prstGeom prst="rect">
            <a:avLst/>
          </a:prstGeom>
        </p:spPr>
        <p:txBody>
          <a:bodyPr lIns="0" tIns="0" rIns="0" bIns="0" rtlCol="0" anchor="t">
            <a:spAutoFit/>
          </a:bodyPr>
          <a:lstStyle/>
          <a:p>
            <a:pPr algn="ctr">
              <a:lnSpc>
                <a:spcPts val="3499"/>
              </a:lnSpc>
              <a:spcBef>
                <a:spcPct val="0"/>
              </a:spcBef>
            </a:pPr>
            <a:r>
              <a:rPr lang="en-US" sz="2499">
                <a:solidFill>
                  <a:srgbClr val="000000"/>
                </a:solidFill>
                <a:latin typeface="Poppins"/>
                <a:ea typeface="Poppins"/>
                <a:cs typeface="Poppins"/>
                <a:sym typeface="Poppins"/>
              </a:rPr>
              <a:t>The figure shows that my proposed frameworks (highlighted models) show significant improvement (about 2-3%) over others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57135" y="1028700"/>
            <a:ext cx="14007306" cy="1543050"/>
            <a:chOff x="0" y="0"/>
            <a:chExt cx="3689167" cy="406400"/>
          </a:xfrm>
        </p:grpSpPr>
        <p:sp>
          <p:nvSpPr>
            <p:cNvPr id="3" name="Freeform 3"/>
            <p:cNvSpPr/>
            <p:nvPr/>
          </p:nvSpPr>
          <p:spPr>
            <a:xfrm>
              <a:off x="0" y="0"/>
              <a:ext cx="3689167" cy="406400"/>
            </a:xfrm>
            <a:custGeom>
              <a:avLst/>
              <a:gdLst/>
              <a:ahLst/>
              <a:cxnLst/>
              <a:rect l="l" t="t" r="r" b="b"/>
              <a:pathLst>
                <a:path w="3689167" h="406400">
                  <a:moveTo>
                    <a:pt x="0" y="0"/>
                  </a:moveTo>
                  <a:lnTo>
                    <a:pt x="3689167" y="0"/>
                  </a:lnTo>
                  <a:lnTo>
                    <a:pt x="3689167" y="406400"/>
                  </a:lnTo>
                  <a:lnTo>
                    <a:pt x="0" y="406400"/>
                  </a:lnTo>
                  <a:close/>
                </a:path>
              </a:pathLst>
            </a:custGeom>
            <a:solidFill>
              <a:srgbClr val="122029"/>
            </a:solidFill>
          </p:spPr>
          <p:txBody>
            <a:bodyPr/>
            <a:lstStyle/>
            <a:p>
              <a:endParaRPr lang="en-US"/>
            </a:p>
          </p:txBody>
        </p:sp>
        <p:sp>
          <p:nvSpPr>
            <p:cNvPr id="4" name="TextBox 4"/>
            <p:cNvSpPr txBox="1"/>
            <p:nvPr/>
          </p:nvSpPr>
          <p:spPr>
            <a:xfrm>
              <a:off x="0" y="-57150"/>
              <a:ext cx="3689167"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7668865">
            <a:off x="12506866" y="-318717"/>
            <a:ext cx="4868099" cy="1199632"/>
            <a:chOff x="0" y="0"/>
            <a:chExt cx="1282133" cy="315952"/>
          </a:xfrm>
        </p:grpSpPr>
        <p:sp>
          <p:nvSpPr>
            <p:cNvPr id="6" name="Freeform 6"/>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7" name="TextBox 7"/>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28700" y="1028700"/>
            <a:ext cx="697472" cy="1543050"/>
            <a:chOff x="0" y="0"/>
            <a:chExt cx="183696" cy="406400"/>
          </a:xfrm>
        </p:grpSpPr>
        <p:sp>
          <p:nvSpPr>
            <p:cNvPr id="9" name="Freeform 9"/>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10" name="TextBox 10"/>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9203936" y="2667295"/>
            <a:ext cx="5736979" cy="7523907"/>
          </a:xfrm>
          <a:custGeom>
            <a:avLst/>
            <a:gdLst/>
            <a:ahLst/>
            <a:cxnLst/>
            <a:rect l="l" t="t" r="r" b="b"/>
            <a:pathLst>
              <a:path w="5736979" h="7523907">
                <a:moveTo>
                  <a:pt x="0" y="0"/>
                </a:moveTo>
                <a:lnTo>
                  <a:pt x="5736979" y="0"/>
                </a:lnTo>
                <a:lnTo>
                  <a:pt x="5736979" y="7523908"/>
                </a:lnTo>
                <a:lnTo>
                  <a:pt x="0" y="7523908"/>
                </a:lnTo>
                <a:lnTo>
                  <a:pt x="0" y="0"/>
                </a:lnTo>
                <a:close/>
              </a:path>
            </a:pathLst>
          </a:custGeom>
          <a:blipFill>
            <a:blip r:embed="rId2"/>
            <a:stretch>
              <a:fillRect l="-29" r="-29"/>
            </a:stretch>
          </a:blipFill>
        </p:spPr>
        <p:txBody>
          <a:bodyPr/>
          <a:lstStyle/>
          <a:p>
            <a:endParaRPr lang="en-US"/>
          </a:p>
        </p:txBody>
      </p:sp>
      <p:pic>
        <p:nvPicPr>
          <p:cNvPr id="12" name="Picture 12"/>
          <p:cNvPicPr>
            <a:picLocks noChangeAspect="1"/>
          </p:cNvPicPr>
          <p:nvPr/>
        </p:nvPicPr>
        <p:blipFill>
          <a:blip r:embed="rId3"/>
          <a:srcRect/>
          <a:stretch>
            <a:fillRect/>
          </a:stretch>
        </p:blipFill>
        <p:spPr>
          <a:xfrm>
            <a:off x="10599168" y="4457624"/>
            <a:ext cx="1758952" cy="1688594"/>
          </a:xfrm>
          <a:prstGeom prst="rect">
            <a:avLst/>
          </a:prstGeom>
        </p:spPr>
      </p:pic>
      <p:sp>
        <p:nvSpPr>
          <p:cNvPr id="13" name="Freeform 13"/>
          <p:cNvSpPr/>
          <p:nvPr/>
        </p:nvSpPr>
        <p:spPr>
          <a:xfrm>
            <a:off x="3379344" y="4457624"/>
            <a:ext cx="4985596" cy="1825495"/>
          </a:xfrm>
          <a:custGeom>
            <a:avLst/>
            <a:gdLst/>
            <a:ahLst/>
            <a:cxnLst/>
            <a:rect l="l" t="t" r="r" b="b"/>
            <a:pathLst>
              <a:path w="4985596" h="1825495">
                <a:moveTo>
                  <a:pt x="0" y="0"/>
                </a:moveTo>
                <a:lnTo>
                  <a:pt x="4985595" y="0"/>
                </a:lnTo>
                <a:lnTo>
                  <a:pt x="4985595" y="1825495"/>
                </a:lnTo>
                <a:lnTo>
                  <a:pt x="0" y="1825495"/>
                </a:lnTo>
                <a:lnTo>
                  <a:pt x="0" y="0"/>
                </a:lnTo>
                <a:close/>
              </a:path>
            </a:pathLst>
          </a:custGeom>
          <a:blipFill>
            <a:blip r:embed="rId4"/>
            <a:stretch>
              <a:fillRect/>
            </a:stretch>
          </a:blipFill>
        </p:spPr>
        <p:txBody>
          <a:bodyPr/>
          <a:lstStyle/>
          <a:p>
            <a:endParaRPr lang="en-US"/>
          </a:p>
        </p:txBody>
      </p:sp>
      <p:sp>
        <p:nvSpPr>
          <p:cNvPr id="14" name="Freeform 14"/>
          <p:cNvSpPr/>
          <p:nvPr/>
        </p:nvSpPr>
        <p:spPr>
          <a:xfrm>
            <a:off x="8364939" y="4939824"/>
            <a:ext cx="1685415" cy="861094"/>
          </a:xfrm>
          <a:custGeom>
            <a:avLst/>
            <a:gdLst/>
            <a:ahLst/>
            <a:cxnLst/>
            <a:rect l="l" t="t" r="r" b="b"/>
            <a:pathLst>
              <a:path w="1685415" h="861094">
                <a:moveTo>
                  <a:pt x="0" y="0"/>
                </a:moveTo>
                <a:lnTo>
                  <a:pt x="1685415" y="0"/>
                </a:lnTo>
                <a:lnTo>
                  <a:pt x="1685415" y="861094"/>
                </a:lnTo>
                <a:lnTo>
                  <a:pt x="0" y="86109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5" name="TextBox 15"/>
          <p:cNvSpPr txBox="1"/>
          <p:nvPr/>
        </p:nvSpPr>
        <p:spPr>
          <a:xfrm>
            <a:off x="2554559" y="1035683"/>
            <a:ext cx="12777907" cy="1319534"/>
          </a:xfrm>
          <a:prstGeom prst="rect">
            <a:avLst/>
          </a:prstGeom>
        </p:spPr>
        <p:txBody>
          <a:bodyPr lIns="0" tIns="0" rIns="0" bIns="0" rtlCol="0" anchor="t">
            <a:spAutoFit/>
          </a:bodyPr>
          <a:lstStyle/>
          <a:p>
            <a:pPr algn="l">
              <a:lnSpc>
                <a:spcPts val="10219"/>
              </a:lnSpc>
              <a:spcBef>
                <a:spcPct val="0"/>
              </a:spcBef>
            </a:pPr>
            <a:r>
              <a:rPr lang="en-US" sz="7299" b="1">
                <a:solidFill>
                  <a:srgbClr val="FFFFFF"/>
                </a:solidFill>
                <a:latin typeface="Poppins Ultra-Bold"/>
                <a:ea typeface="Poppins Ultra-Bold"/>
                <a:cs typeface="Poppins Ultra-Bold"/>
                <a:sym typeface="Poppins Ultra-Bold"/>
              </a:rPr>
              <a:t>Causal Text Selection Unit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57135" y="1028700"/>
            <a:ext cx="14007306" cy="1543050"/>
            <a:chOff x="0" y="0"/>
            <a:chExt cx="3689167" cy="406400"/>
          </a:xfrm>
        </p:grpSpPr>
        <p:sp>
          <p:nvSpPr>
            <p:cNvPr id="3" name="Freeform 3"/>
            <p:cNvSpPr/>
            <p:nvPr/>
          </p:nvSpPr>
          <p:spPr>
            <a:xfrm>
              <a:off x="0" y="0"/>
              <a:ext cx="3689167" cy="406400"/>
            </a:xfrm>
            <a:custGeom>
              <a:avLst/>
              <a:gdLst/>
              <a:ahLst/>
              <a:cxnLst/>
              <a:rect l="l" t="t" r="r" b="b"/>
              <a:pathLst>
                <a:path w="3689167" h="406400">
                  <a:moveTo>
                    <a:pt x="0" y="0"/>
                  </a:moveTo>
                  <a:lnTo>
                    <a:pt x="3689167" y="0"/>
                  </a:lnTo>
                  <a:lnTo>
                    <a:pt x="3689167" y="406400"/>
                  </a:lnTo>
                  <a:lnTo>
                    <a:pt x="0" y="406400"/>
                  </a:lnTo>
                  <a:close/>
                </a:path>
              </a:pathLst>
            </a:custGeom>
            <a:solidFill>
              <a:srgbClr val="122029"/>
            </a:solidFill>
          </p:spPr>
          <p:txBody>
            <a:bodyPr/>
            <a:lstStyle/>
            <a:p>
              <a:endParaRPr lang="en-US"/>
            </a:p>
          </p:txBody>
        </p:sp>
        <p:sp>
          <p:nvSpPr>
            <p:cNvPr id="4" name="TextBox 4"/>
            <p:cNvSpPr txBox="1"/>
            <p:nvPr/>
          </p:nvSpPr>
          <p:spPr>
            <a:xfrm>
              <a:off x="0" y="-57150"/>
              <a:ext cx="3689167"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7668865">
            <a:off x="12506866" y="-318717"/>
            <a:ext cx="4868099" cy="1199632"/>
            <a:chOff x="0" y="0"/>
            <a:chExt cx="1282133" cy="315952"/>
          </a:xfrm>
        </p:grpSpPr>
        <p:sp>
          <p:nvSpPr>
            <p:cNvPr id="6" name="Freeform 6"/>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7" name="TextBox 7"/>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28700" y="1028700"/>
            <a:ext cx="697472" cy="1543050"/>
            <a:chOff x="0" y="0"/>
            <a:chExt cx="183696" cy="406400"/>
          </a:xfrm>
        </p:grpSpPr>
        <p:sp>
          <p:nvSpPr>
            <p:cNvPr id="9" name="Freeform 9"/>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10" name="TextBox 10"/>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8013379" y="3548776"/>
            <a:ext cx="9493817" cy="6149357"/>
            <a:chOff x="0" y="0"/>
            <a:chExt cx="1123699" cy="727845"/>
          </a:xfrm>
        </p:grpSpPr>
        <p:sp>
          <p:nvSpPr>
            <p:cNvPr id="12" name="Freeform 12"/>
            <p:cNvSpPr/>
            <p:nvPr/>
          </p:nvSpPr>
          <p:spPr>
            <a:xfrm>
              <a:off x="0" y="0"/>
              <a:ext cx="1123699" cy="727845"/>
            </a:xfrm>
            <a:custGeom>
              <a:avLst/>
              <a:gdLst/>
              <a:ahLst/>
              <a:cxnLst/>
              <a:rect l="l" t="t" r="r" b="b"/>
              <a:pathLst>
                <a:path w="1123699" h="727845">
                  <a:moveTo>
                    <a:pt x="32619" y="0"/>
                  </a:moveTo>
                  <a:lnTo>
                    <a:pt x="1091080" y="0"/>
                  </a:lnTo>
                  <a:cubicBezTo>
                    <a:pt x="1099731" y="0"/>
                    <a:pt x="1108028" y="3437"/>
                    <a:pt x="1114145" y="9554"/>
                  </a:cubicBezTo>
                  <a:cubicBezTo>
                    <a:pt x="1120262" y="15671"/>
                    <a:pt x="1123699" y="23968"/>
                    <a:pt x="1123699" y="32619"/>
                  </a:cubicBezTo>
                  <a:lnTo>
                    <a:pt x="1123699" y="695226"/>
                  </a:lnTo>
                  <a:cubicBezTo>
                    <a:pt x="1123699" y="713241"/>
                    <a:pt x="1109095" y="727845"/>
                    <a:pt x="1091080" y="727845"/>
                  </a:cubicBezTo>
                  <a:lnTo>
                    <a:pt x="32619" y="727845"/>
                  </a:lnTo>
                  <a:cubicBezTo>
                    <a:pt x="23968" y="727845"/>
                    <a:pt x="15671" y="724408"/>
                    <a:pt x="9554" y="718291"/>
                  </a:cubicBezTo>
                  <a:cubicBezTo>
                    <a:pt x="3437" y="712174"/>
                    <a:pt x="0" y="703877"/>
                    <a:pt x="0" y="695226"/>
                  </a:cubicBezTo>
                  <a:lnTo>
                    <a:pt x="0" y="32619"/>
                  </a:lnTo>
                  <a:cubicBezTo>
                    <a:pt x="0" y="23968"/>
                    <a:pt x="3437" y="15671"/>
                    <a:pt x="9554" y="9554"/>
                  </a:cubicBezTo>
                  <a:cubicBezTo>
                    <a:pt x="15671" y="3437"/>
                    <a:pt x="23968" y="0"/>
                    <a:pt x="32619" y="0"/>
                  </a:cubicBezTo>
                  <a:close/>
                </a:path>
              </a:pathLst>
            </a:custGeom>
            <a:blipFill>
              <a:blip r:embed="rId3"/>
              <a:stretch>
                <a:fillRect l="-2553" r="-2553"/>
              </a:stretch>
            </a:blipFill>
          </p:spPr>
          <p:txBody>
            <a:bodyPr/>
            <a:lstStyle/>
            <a:p>
              <a:endParaRPr lang="en-US"/>
            </a:p>
          </p:txBody>
        </p:sp>
      </p:grpSp>
      <p:sp>
        <p:nvSpPr>
          <p:cNvPr id="13" name="TextBox 13"/>
          <p:cNvSpPr txBox="1"/>
          <p:nvPr/>
        </p:nvSpPr>
        <p:spPr>
          <a:xfrm>
            <a:off x="2554559" y="1035683"/>
            <a:ext cx="12777907" cy="1319534"/>
          </a:xfrm>
          <a:prstGeom prst="rect">
            <a:avLst/>
          </a:prstGeom>
        </p:spPr>
        <p:txBody>
          <a:bodyPr lIns="0" tIns="0" rIns="0" bIns="0" rtlCol="0" anchor="t">
            <a:spAutoFit/>
          </a:bodyPr>
          <a:lstStyle/>
          <a:p>
            <a:pPr algn="l">
              <a:lnSpc>
                <a:spcPts val="10219"/>
              </a:lnSpc>
              <a:spcBef>
                <a:spcPct val="0"/>
              </a:spcBef>
            </a:pPr>
            <a:r>
              <a:rPr lang="en-US" sz="7299" b="1">
                <a:solidFill>
                  <a:srgbClr val="FFFFFF"/>
                </a:solidFill>
                <a:latin typeface="Poppins Ultra-Bold"/>
                <a:ea typeface="Poppins Ultra-Bold"/>
                <a:cs typeface="Poppins Ultra-Bold"/>
                <a:sym typeface="Poppins Ultra-Bold"/>
              </a:rPr>
              <a:t>Causal Text Selection Unit </a:t>
            </a:r>
          </a:p>
        </p:txBody>
      </p:sp>
      <p:sp>
        <p:nvSpPr>
          <p:cNvPr id="14" name="TextBox 14"/>
          <p:cNvSpPr txBox="1"/>
          <p:nvPr/>
        </p:nvSpPr>
        <p:spPr>
          <a:xfrm>
            <a:off x="850338" y="3740554"/>
            <a:ext cx="7163040" cy="5699125"/>
          </a:xfrm>
          <a:prstGeom prst="rect">
            <a:avLst/>
          </a:prstGeom>
        </p:spPr>
        <p:txBody>
          <a:bodyPr lIns="0" tIns="0" rIns="0" bIns="0" rtlCol="0" anchor="t">
            <a:spAutoFit/>
          </a:bodyPr>
          <a:lstStyle/>
          <a:p>
            <a:pPr marL="539749" lvl="1" indent="-269875" algn="l">
              <a:lnSpc>
                <a:spcPts val="3499"/>
              </a:lnSpc>
              <a:buFont typeface="Arial"/>
              <a:buChar char="•"/>
            </a:pPr>
            <a:r>
              <a:rPr lang="en-US" sz="2499">
                <a:solidFill>
                  <a:srgbClr val="000000"/>
                </a:solidFill>
                <a:latin typeface="Poppins"/>
                <a:ea typeface="Poppins"/>
                <a:cs typeface="Poppins"/>
                <a:sym typeface="Poppins"/>
              </a:rPr>
              <a:t>Select which documents are most important for the day to include in the prediction.</a:t>
            </a:r>
          </a:p>
          <a:p>
            <a:pPr marL="1079499" lvl="2" indent="-359833" algn="l">
              <a:lnSpc>
                <a:spcPts val="3499"/>
              </a:lnSpc>
              <a:buFont typeface="Arial"/>
              <a:buChar char="⚬"/>
            </a:pPr>
            <a:r>
              <a:rPr lang="en-US" sz="2499">
                <a:solidFill>
                  <a:srgbClr val="000000"/>
                </a:solidFill>
                <a:latin typeface="Poppins"/>
                <a:ea typeface="Poppins"/>
                <a:cs typeface="Poppins"/>
                <a:sym typeface="Poppins"/>
              </a:rPr>
              <a:t>Assign weights to each document (based on yesterday's content + context).</a:t>
            </a:r>
          </a:p>
          <a:p>
            <a:pPr marL="1079499" lvl="2" indent="-359833" algn="l">
              <a:lnSpc>
                <a:spcPts val="3499"/>
              </a:lnSpc>
              <a:buFont typeface="Arial"/>
              <a:buChar char="⚬"/>
            </a:pPr>
            <a:r>
              <a:rPr lang="en-US" sz="2499">
                <a:solidFill>
                  <a:srgbClr val="000000"/>
                </a:solidFill>
                <a:latin typeface="Poppins"/>
                <a:ea typeface="Poppins"/>
                <a:cs typeface="Poppins"/>
                <a:sym typeface="Poppins"/>
              </a:rPr>
              <a:t>Calculate a causal score that represents the influence of the content</a:t>
            </a:r>
          </a:p>
          <a:p>
            <a:pPr marL="1079499" lvl="2" indent="-359833" algn="l">
              <a:lnSpc>
                <a:spcPts val="3499"/>
              </a:lnSpc>
              <a:buFont typeface="Arial"/>
              <a:buChar char="⚬"/>
            </a:pPr>
            <a:r>
              <a:rPr lang="en-US" sz="2499">
                <a:solidFill>
                  <a:srgbClr val="000000"/>
                </a:solidFill>
                <a:latin typeface="Poppins"/>
                <a:ea typeface="Poppins"/>
                <a:cs typeface="Poppins"/>
                <a:sym typeface="Poppins"/>
              </a:rPr>
              <a:t>Combine the weights into a Vector of Causality (Voc)</a:t>
            </a:r>
          </a:p>
          <a:p>
            <a:pPr marL="1079499" lvl="2" indent="-359833" algn="l">
              <a:lnSpc>
                <a:spcPts val="3499"/>
              </a:lnSpc>
              <a:buFont typeface="Arial"/>
              <a:buChar char="⚬"/>
            </a:pPr>
            <a:r>
              <a:rPr lang="en-US" sz="2499">
                <a:solidFill>
                  <a:srgbClr val="000000"/>
                </a:solidFill>
                <a:latin typeface="Poppins"/>
                <a:ea typeface="Poppins"/>
                <a:cs typeface="Poppins"/>
                <a:sym typeface="Poppins"/>
              </a:rPr>
              <a:t>Combine the documents into a weighted composite vector</a:t>
            </a:r>
          </a:p>
        </p:txBody>
      </p:sp>
      <p:sp>
        <p:nvSpPr>
          <p:cNvPr id="15" name="TextBox 15"/>
          <p:cNvSpPr txBox="1"/>
          <p:nvPr/>
        </p:nvSpPr>
        <p:spPr>
          <a:xfrm>
            <a:off x="1028700" y="2775354"/>
            <a:ext cx="15702381" cy="717550"/>
          </a:xfrm>
          <a:prstGeom prst="rect">
            <a:avLst/>
          </a:prstGeom>
        </p:spPr>
        <p:txBody>
          <a:bodyPr lIns="0" tIns="0" rIns="0" bIns="0" rtlCol="0" anchor="t">
            <a:spAutoFit/>
          </a:bodyPr>
          <a:lstStyle/>
          <a:p>
            <a:pPr algn="l">
              <a:lnSpc>
                <a:spcPts val="5599"/>
              </a:lnSpc>
              <a:spcBef>
                <a:spcPct val="0"/>
              </a:spcBef>
            </a:pPr>
            <a:r>
              <a:rPr lang="en-US" sz="3999" b="1">
                <a:solidFill>
                  <a:srgbClr val="86B4C4"/>
                </a:solidFill>
                <a:latin typeface="Poppins Bold"/>
                <a:ea typeface="Poppins Bold"/>
                <a:cs typeface="Poppins Bold"/>
                <a:sym typeface="Poppins Bold"/>
              </a:rPr>
              <a:t>Architecture of Ca-TSU</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57135" y="1028700"/>
            <a:ext cx="14007306" cy="1543050"/>
            <a:chOff x="0" y="0"/>
            <a:chExt cx="3689167" cy="406400"/>
          </a:xfrm>
        </p:grpSpPr>
        <p:sp>
          <p:nvSpPr>
            <p:cNvPr id="3" name="Freeform 3"/>
            <p:cNvSpPr/>
            <p:nvPr/>
          </p:nvSpPr>
          <p:spPr>
            <a:xfrm>
              <a:off x="0" y="0"/>
              <a:ext cx="3689167" cy="406400"/>
            </a:xfrm>
            <a:custGeom>
              <a:avLst/>
              <a:gdLst/>
              <a:ahLst/>
              <a:cxnLst/>
              <a:rect l="l" t="t" r="r" b="b"/>
              <a:pathLst>
                <a:path w="3689167" h="406400">
                  <a:moveTo>
                    <a:pt x="0" y="0"/>
                  </a:moveTo>
                  <a:lnTo>
                    <a:pt x="3689167" y="0"/>
                  </a:lnTo>
                  <a:lnTo>
                    <a:pt x="3689167" y="406400"/>
                  </a:lnTo>
                  <a:lnTo>
                    <a:pt x="0" y="406400"/>
                  </a:lnTo>
                  <a:close/>
                </a:path>
              </a:pathLst>
            </a:custGeom>
            <a:solidFill>
              <a:srgbClr val="122029"/>
            </a:solidFill>
          </p:spPr>
          <p:txBody>
            <a:bodyPr/>
            <a:lstStyle/>
            <a:p>
              <a:endParaRPr lang="en-US"/>
            </a:p>
          </p:txBody>
        </p:sp>
        <p:sp>
          <p:nvSpPr>
            <p:cNvPr id="4" name="TextBox 4"/>
            <p:cNvSpPr txBox="1"/>
            <p:nvPr/>
          </p:nvSpPr>
          <p:spPr>
            <a:xfrm>
              <a:off x="0" y="-57150"/>
              <a:ext cx="3689167"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7668865">
            <a:off x="12506866" y="-318717"/>
            <a:ext cx="4868099" cy="1199632"/>
            <a:chOff x="0" y="0"/>
            <a:chExt cx="1282133" cy="315952"/>
          </a:xfrm>
        </p:grpSpPr>
        <p:sp>
          <p:nvSpPr>
            <p:cNvPr id="6" name="Freeform 6"/>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7" name="TextBox 7"/>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28700" y="1028700"/>
            <a:ext cx="697472" cy="1543050"/>
            <a:chOff x="0" y="0"/>
            <a:chExt cx="183696" cy="406400"/>
          </a:xfrm>
        </p:grpSpPr>
        <p:sp>
          <p:nvSpPr>
            <p:cNvPr id="9" name="Freeform 9"/>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10" name="TextBox 10"/>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1377436" y="3808539"/>
            <a:ext cx="15881864" cy="3752090"/>
          </a:xfrm>
          <a:custGeom>
            <a:avLst/>
            <a:gdLst/>
            <a:ahLst/>
            <a:cxnLst/>
            <a:rect l="l" t="t" r="r" b="b"/>
            <a:pathLst>
              <a:path w="15881864" h="3752090">
                <a:moveTo>
                  <a:pt x="0" y="0"/>
                </a:moveTo>
                <a:lnTo>
                  <a:pt x="15881864" y="0"/>
                </a:lnTo>
                <a:lnTo>
                  <a:pt x="15881864" y="3752090"/>
                </a:lnTo>
                <a:lnTo>
                  <a:pt x="0" y="3752090"/>
                </a:lnTo>
                <a:lnTo>
                  <a:pt x="0" y="0"/>
                </a:lnTo>
                <a:close/>
              </a:path>
            </a:pathLst>
          </a:custGeom>
          <a:blipFill>
            <a:blip r:embed="rId3"/>
            <a:stretch>
              <a:fillRect/>
            </a:stretch>
          </a:blipFill>
        </p:spPr>
        <p:txBody>
          <a:bodyPr/>
          <a:lstStyle/>
          <a:p>
            <a:endParaRPr lang="en-US"/>
          </a:p>
        </p:txBody>
      </p:sp>
      <p:sp>
        <p:nvSpPr>
          <p:cNvPr id="12" name="TextBox 12"/>
          <p:cNvSpPr txBox="1"/>
          <p:nvPr/>
        </p:nvSpPr>
        <p:spPr>
          <a:xfrm>
            <a:off x="2554559" y="1035683"/>
            <a:ext cx="12777907" cy="1319534"/>
          </a:xfrm>
          <a:prstGeom prst="rect">
            <a:avLst/>
          </a:prstGeom>
        </p:spPr>
        <p:txBody>
          <a:bodyPr lIns="0" tIns="0" rIns="0" bIns="0" rtlCol="0" anchor="t">
            <a:spAutoFit/>
          </a:bodyPr>
          <a:lstStyle/>
          <a:p>
            <a:pPr algn="l">
              <a:lnSpc>
                <a:spcPts val="10219"/>
              </a:lnSpc>
              <a:spcBef>
                <a:spcPct val="0"/>
              </a:spcBef>
            </a:pPr>
            <a:r>
              <a:rPr lang="en-US" sz="7299" b="1">
                <a:solidFill>
                  <a:srgbClr val="FFFFFF"/>
                </a:solidFill>
                <a:latin typeface="Poppins Ultra-Bold"/>
                <a:ea typeface="Poppins Ultra-Bold"/>
                <a:cs typeface="Poppins Ultra-Bold"/>
                <a:sym typeface="Poppins Ultra-Bold"/>
              </a:rPr>
              <a:t>Causal Text Selection Unit </a:t>
            </a:r>
          </a:p>
        </p:txBody>
      </p:sp>
      <p:sp>
        <p:nvSpPr>
          <p:cNvPr id="13" name="TextBox 13"/>
          <p:cNvSpPr txBox="1"/>
          <p:nvPr/>
        </p:nvSpPr>
        <p:spPr>
          <a:xfrm>
            <a:off x="1028700" y="8382044"/>
            <a:ext cx="16230600" cy="879475"/>
          </a:xfrm>
          <a:prstGeom prst="rect">
            <a:avLst/>
          </a:prstGeom>
        </p:spPr>
        <p:txBody>
          <a:bodyPr lIns="0" tIns="0" rIns="0" bIns="0" rtlCol="0" anchor="t">
            <a:spAutoFit/>
          </a:bodyPr>
          <a:lstStyle/>
          <a:p>
            <a:pPr algn="l">
              <a:lnSpc>
                <a:spcPts val="3499"/>
              </a:lnSpc>
              <a:spcBef>
                <a:spcPct val="0"/>
              </a:spcBef>
            </a:pPr>
            <a:r>
              <a:rPr lang="en-US" sz="2499">
                <a:solidFill>
                  <a:srgbClr val="000000"/>
                </a:solidFill>
                <a:latin typeface="Poppins"/>
                <a:ea typeface="Poppins"/>
                <a:cs typeface="Poppins"/>
                <a:sym typeface="Poppins"/>
              </a:rPr>
              <a:t>Ca-TSU combines the documents into a single vector representing the entire semantic information of day t, weighted, and fed into the Text Memory Unit (TMU).</a:t>
            </a:r>
          </a:p>
        </p:txBody>
      </p:sp>
      <p:sp>
        <p:nvSpPr>
          <p:cNvPr id="14" name="TextBox 14"/>
          <p:cNvSpPr txBox="1"/>
          <p:nvPr/>
        </p:nvSpPr>
        <p:spPr>
          <a:xfrm>
            <a:off x="4174773" y="9527594"/>
            <a:ext cx="9572030" cy="441325"/>
          </a:xfrm>
          <a:prstGeom prst="rect">
            <a:avLst/>
          </a:prstGeom>
        </p:spPr>
        <p:txBody>
          <a:bodyPr lIns="0" tIns="0" rIns="0" bIns="0" rtlCol="0" anchor="t">
            <a:spAutoFit/>
          </a:bodyPr>
          <a:lstStyle/>
          <a:p>
            <a:pPr algn="ctr">
              <a:lnSpc>
                <a:spcPts val="3499"/>
              </a:lnSpc>
              <a:spcBef>
                <a:spcPct val="0"/>
              </a:spcBef>
            </a:pPr>
            <a:r>
              <a:rPr lang="en-US" sz="2499">
                <a:solidFill>
                  <a:srgbClr val="000000"/>
                </a:solidFill>
                <a:latin typeface="Poppins"/>
                <a:ea typeface="Poppins"/>
                <a:cs typeface="Poppins"/>
                <a:sym typeface="Poppins"/>
              </a:rPr>
              <a:t>it = 0.50·e₁ + 0.065·e₂ + 0.12·e₃ → Focuses on causal input (e₁)</a:t>
            </a:r>
          </a:p>
        </p:txBody>
      </p:sp>
      <p:sp>
        <p:nvSpPr>
          <p:cNvPr id="15" name="TextBox 15"/>
          <p:cNvSpPr txBox="1"/>
          <p:nvPr/>
        </p:nvSpPr>
        <p:spPr>
          <a:xfrm>
            <a:off x="1028700" y="2775354"/>
            <a:ext cx="15702381" cy="717550"/>
          </a:xfrm>
          <a:prstGeom prst="rect">
            <a:avLst/>
          </a:prstGeom>
        </p:spPr>
        <p:txBody>
          <a:bodyPr lIns="0" tIns="0" rIns="0" bIns="0" rtlCol="0" anchor="t">
            <a:spAutoFit/>
          </a:bodyPr>
          <a:lstStyle/>
          <a:p>
            <a:pPr algn="l">
              <a:lnSpc>
                <a:spcPts val="5599"/>
              </a:lnSpc>
              <a:spcBef>
                <a:spcPct val="0"/>
              </a:spcBef>
            </a:pPr>
            <a:r>
              <a:rPr lang="en-US" sz="3999" b="1">
                <a:solidFill>
                  <a:srgbClr val="86B4C4"/>
                </a:solidFill>
                <a:latin typeface="Poppins Bold"/>
                <a:ea typeface="Poppins Bold"/>
                <a:cs typeface="Poppins Bold"/>
                <a:sym typeface="Poppins Bold"/>
              </a:rPr>
              <a:t>An example of how Ca-TSU works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57135" y="1028700"/>
            <a:ext cx="14007306" cy="1543050"/>
            <a:chOff x="0" y="0"/>
            <a:chExt cx="3689167" cy="406400"/>
          </a:xfrm>
        </p:grpSpPr>
        <p:sp>
          <p:nvSpPr>
            <p:cNvPr id="3" name="Freeform 3"/>
            <p:cNvSpPr/>
            <p:nvPr/>
          </p:nvSpPr>
          <p:spPr>
            <a:xfrm>
              <a:off x="0" y="0"/>
              <a:ext cx="3689167" cy="406400"/>
            </a:xfrm>
            <a:custGeom>
              <a:avLst/>
              <a:gdLst/>
              <a:ahLst/>
              <a:cxnLst/>
              <a:rect l="l" t="t" r="r" b="b"/>
              <a:pathLst>
                <a:path w="3689167" h="406400">
                  <a:moveTo>
                    <a:pt x="0" y="0"/>
                  </a:moveTo>
                  <a:lnTo>
                    <a:pt x="3689167" y="0"/>
                  </a:lnTo>
                  <a:lnTo>
                    <a:pt x="3689167" y="406400"/>
                  </a:lnTo>
                  <a:lnTo>
                    <a:pt x="0" y="406400"/>
                  </a:lnTo>
                  <a:close/>
                </a:path>
              </a:pathLst>
            </a:custGeom>
            <a:solidFill>
              <a:srgbClr val="122029"/>
            </a:solidFill>
          </p:spPr>
          <p:txBody>
            <a:bodyPr/>
            <a:lstStyle/>
            <a:p>
              <a:endParaRPr lang="en-US"/>
            </a:p>
          </p:txBody>
        </p:sp>
        <p:sp>
          <p:nvSpPr>
            <p:cNvPr id="4" name="TextBox 4"/>
            <p:cNvSpPr txBox="1"/>
            <p:nvPr/>
          </p:nvSpPr>
          <p:spPr>
            <a:xfrm>
              <a:off x="0" y="-57150"/>
              <a:ext cx="3689167"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7668865">
            <a:off x="12506866" y="-318717"/>
            <a:ext cx="4868099" cy="1199632"/>
            <a:chOff x="0" y="0"/>
            <a:chExt cx="1282133" cy="315952"/>
          </a:xfrm>
        </p:grpSpPr>
        <p:sp>
          <p:nvSpPr>
            <p:cNvPr id="6" name="Freeform 6"/>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7" name="TextBox 7"/>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28700" y="1028700"/>
            <a:ext cx="697472" cy="1543050"/>
            <a:chOff x="0" y="0"/>
            <a:chExt cx="183696" cy="406400"/>
          </a:xfrm>
        </p:grpSpPr>
        <p:sp>
          <p:nvSpPr>
            <p:cNvPr id="9" name="Freeform 9"/>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10" name="TextBox 10"/>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11064769" y="3726602"/>
            <a:ext cx="6871414" cy="4848875"/>
            <a:chOff x="0" y="0"/>
            <a:chExt cx="1123699" cy="792948"/>
          </a:xfrm>
        </p:grpSpPr>
        <p:sp>
          <p:nvSpPr>
            <p:cNvPr id="12" name="Freeform 12"/>
            <p:cNvSpPr/>
            <p:nvPr/>
          </p:nvSpPr>
          <p:spPr>
            <a:xfrm>
              <a:off x="0" y="0"/>
              <a:ext cx="1123699" cy="792948"/>
            </a:xfrm>
            <a:custGeom>
              <a:avLst/>
              <a:gdLst/>
              <a:ahLst/>
              <a:cxnLst/>
              <a:rect l="l" t="t" r="r" b="b"/>
              <a:pathLst>
                <a:path w="1123699" h="792948">
                  <a:moveTo>
                    <a:pt x="45067" y="0"/>
                  </a:moveTo>
                  <a:lnTo>
                    <a:pt x="1078631" y="0"/>
                  </a:lnTo>
                  <a:cubicBezTo>
                    <a:pt x="1090584" y="0"/>
                    <a:pt x="1102047" y="4748"/>
                    <a:pt x="1110499" y="13200"/>
                  </a:cubicBezTo>
                  <a:cubicBezTo>
                    <a:pt x="1118951" y="21652"/>
                    <a:pt x="1123699" y="33115"/>
                    <a:pt x="1123699" y="45067"/>
                  </a:cubicBezTo>
                  <a:lnTo>
                    <a:pt x="1123699" y="747881"/>
                  </a:lnTo>
                  <a:cubicBezTo>
                    <a:pt x="1123699" y="772771"/>
                    <a:pt x="1103521" y="792948"/>
                    <a:pt x="1078631" y="792948"/>
                  </a:cubicBezTo>
                  <a:lnTo>
                    <a:pt x="45067" y="792948"/>
                  </a:lnTo>
                  <a:cubicBezTo>
                    <a:pt x="33115" y="792948"/>
                    <a:pt x="21652" y="788200"/>
                    <a:pt x="13200" y="779748"/>
                  </a:cubicBezTo>
                  <a:cubicBezTo>
                    <a:pt x="4748" y="771296"/>
                    <a:pt x="0" y="759833"/>
                    <a:pt x="0" y="747881"/>
                  </a:cubicBezTo>
                  <a:lnTo>
                    <a:pt x="0" y="45067"/>
                  </a:lnTo>
                  <a:cubicBezTo>
                    <a:pt x="0" y="20177"/>
                    <a:pt x="20177" y="0"/>
                    <a:pt x="45067" y="0"/>
                  </a:cubicBezTo>
                  <a:close/>
                </a:path>
              </a:pathLst>
            </a:custGeom>
            <a:blipFill>
              <a:blip r:embed="rId3"/>
              <a:stretch>
                <a:fillRect t="-3077" b="-3077"/>
              </a:stretch>
            </a:blipFill>
          </p:spPr>
          <p:txBody>
            <a:bodyPr/>
            <a:lstStyle/>
            <a:p>
              <a:endParaRPr lang="en-US"/>
            </a:p>
          </p:txBody>
        </p:sp>
      </p:grpSp>
      <p:sp>
        <p:nvSpPr>
          <p:cNvPr id="13" name="TextBox 13"/>
          <p:cNvSpPr txBox="1"/>
          <p:nvPr/>
        </p:nvSpPr>
        <p:spPr>
          <a:xfrm>
            <a:off x="2554559" y="1035683"/>
            <a:ext cx="12777907" cy="1319534"/>
          </a:xfrm>
          <a:prstGeom prst="rect">
            <a:avLst/>
          </a:prstGeom>
        </p:spPr>
        <p:txBody>
          <a:bodyPr lIns="0" tIns="0" rIns="0" bIns="0" rtlCol="0" anchor="t">
            <a:spAutoFit/>
          </a:bodyPr>
          <a:lstStyle/>
          <a:p>
            <a:pPr algn="l">
              <a:lnSpc>
                <a:spcPts val="10219"/>
              </a:lnSpc>
              <a:spcBef>
                <a:spcPct val="0"/>
              </a:spcBef>
            </a:pPr>
            <a:r>
              <a:rPr lang="en-US" sz="7299" b="1">
                <a:solidFill>
                  <a:srgbClr val="FFFFFF"/>
                </a:solidFill>
                <a:latin typeface="Poppins Ultra-Bold"/>
                <a:ea typeface="Poppins Ultra-Bold"/>
                <a:cs typeface="Poppins Ultra-Bold"/>
                <a:sym typeface="Poppins Ultra-Bold"/>
              </a:rPr>
              <a:t>Causal Text Selection Unit </a:t>
            </a:r>
          </a:p>
        </p:txBody>
      </p:sp>
      <p:sp>
        <p:nvSpPr>
          <p:cNvPr id="14" name="TextBox 14"/>
          <p:cNvSpPr txBox="1"/>
          <p:nvPr/>
        </p:nvSpPr>
        <p:spPr>
          <a:xfrm>
            <a:off x="1028700" y="3559175"/>
            <a:ext cx="10036069" cy="6137275"/>
          </a:xfrm>
          <a:prstGeom prst="rect">
            <a:avLst/>
          </a:prstGeom>
        </p:spPr>
        <p:txBody>
          <a:bodyPr lIns="0" tIns="0" rIns="0" bIns="0" rtlCol="0" anchor="t">
            <a:spAutoFit/>
          </a:bodyPr>
          <a:lstStyle/>
          <a:p>
            <a:pPr marL="539749" lvl="1" indent="-269875" algn="l">
              <a:lnSpc>
                <a:spcPts val="3499"/>
              </a:lnSpc>
              <a:buAutoNum type="arabicPeriod"/>
            </a:pPr>
            <a:r>
              <a:rPr lang="en-US" sz="2499">
                <a:solidFill>
                  <a:srgbClr val="000000"/>
                </a:solidFill>
                <a:latin typeface="Poppins"/>
                <a:ea typeface="Poppins"/>
                <a:cs typeface="Poppins"/>
                <a:sym typeface="Poppins"/>
              </a:rPr>
              <a:t>Take stock price series and text (news, tweets) as input.</a:t>
            </a:r>
          </a:p>
          <a:p>
            <a:pPr marL="539749" lvl="1" indent="-269875" algn="l">
              <a:lnSpc>
                <a:spcPts val="3499"/>
              </a:lnSpc>
              <a:buAutoNum type="arabicPeriod"/>
            </a:pPr>
            <a:r>
              <a:rPr lang="en-US" sz="2499">
                <a:solidFill>
                  <a:srgbClr val="000000"/>
                </a:solidFill>
                <a:latin typeface="Poppins"/>
                <a:ea typeface="Poppins"/>
                <a:cs typeface="Poppins"/>
                <a:sym typeface="Poppins"/>
              </a:rPr>
              <a:t> Encode text using Bi-GRU to generate feature vector for each sentence.</a:t>
            </a:r>
          </a:p>
          <a:p>
            <a:pPr marL="539749" lvl="1" indent="-269875" algn="l">
              <a:lnSpc>
                <a:spcPts val="3499"/>
              </a:lnSpc>
              <a:buAutoNum type="arabicPeriod"/>
            </a:pPr>
            <a:r>
              <a:rPr lang="en-US" sz="2499">
                <a:solidFill>
                  <a:srgbClr val="000000"/>
                </a:solidFill>
                <a:latin typeface="Poppins"/>
                <a:ea typeface="Poppins"/>
                <a:cs typeface="Poppins"/>
                <a:sym typeface="Poppins"/>
              </a:rPr>
              <a:t> Processed through Shared Representation Learning (SRL)</a:t>
            </a:r>
          </a:p>
          <a:p>
            <a:pPr marL="1079499" lvl="2" indent="-359833" algn="l">
              <a:lnSpc>
                <a:spcPts val="3499"/>
              </a:lnSpc>
              <a:buAutoNum type="alphaLcPeriod"/>
            </a:pPr>
            <a:r>
              <a:rPr lang="en-US" sz="2499">
                <a:solidFill>
                  <a:srgbClr val="000000"/>
                </a:solidFill>
                <a:latin typeface="Poppins"/>
                <a:ea typeface="Poppins"/>
                <a:cs typeface="Poppins"/>
                <a:sym typeface="Poppins"/>
              </a:rPr>
              <a:t> Use Ca-TSU to select important text through Vector of Causality (VoC).</a:t>
            </a:r>
          </a:p>
          <a:p>
            <a:pPr marL="1079499" lvl="2" indent="-359833" algn="l">
              <a:lnSpc>
                <a:spcPts val="3499"/>
              </a:lnSpc>
              <a:buAutoNum type="alphaLcPeriod"/>
            </a:pPr>
            <a:r>
              <a:rPr lang="en-US" sz="2499">
                <a:solidFill>
                  <a:srgbClr val="000000"/>
                </a:solidFill>
                <a:latin typeface="Poppins"/>
                <a:ea typeface="Poppins"/>
                <a:cs typeface="Poppins"/>
                <a:sym typeface="Poppins"/>
              </a:rPr>
              <a:t> Store text information over time using Text Memory Unit (TMU).</a:t>
            </a:r>
          </a:p>
          <a:p>
            <a:pPr marL="1079499" lvl="2" indent="-359833" algn="l">
              <a:lnSpc>
                <a:spcPts val="3499"/>
              </a:lnSpc>
              <a:buAutoNum type="alphaLcPeriod"/>
            </a:pPr>
            <a:r>
              <a:rPr lang="en-US" sz="2499">
                <a:solidFill>
                  <a:srgbClr val="000000"/>
                </a:solidFill>
                <a:latin typeface="Poppins"/>
                <a:ea typeface="Poppins"/>
                <a:cs typeface="Poppins"/>
                <a:sym typeface="Poppins"/>
              </a:rPr>
              <a:t> Combine price and text information into a common representation using IFU.</a:t>
            </a:r>
          </a:p>
          <a:p>
            <a:pPr marL="539749" lvl="1" indent="-269875" algn="l">
              <a:lnSpc>
                <a:spcPts val="3499"/>
              </a:lnSpc>
              <a:buAutoNum type="arabicPeriod"/>
            </a:pPr>
            <a:r>
              <a:rPr lang="en-US" sz="2499">
                <a:solidFill>
                  <a:srgbClr val="000000"/>
                </a:solidFill>
                <a:latin typeface="Poppins"/>
                <a:ea typeface="Poppins"/>
                <a:cs typeface="Poppins"/>
                <a:sym typeface="Poppins"/>
              </a:rPr>
              <a:t> Generate hidden variables and predict price movements using Variational Autoencoder (DRG).</a:t>
            </a:r>
          </a:p>
          <a:p>
            <a:pPr marL="539749" lvl="1" indent="-269875" algn="l">
              <a:lnSpc>
                <a:spcPts val="3499"/>
              </a:lnSpc>
              <a:buAutoNum type="arabicPeriod"/>
            </a:pPr>
            <a:r>
              <a:rPr lang="en-US" sz="2499">
                <a:solidFill>
                  <a:srgbClr val="000000"/>
                </a:solidFill>
                <a:latin typeface="Poppins"/>
                <a:ea typeface="Poppins"/>
                <a:cs typeface="Poppins"/>
                <a:sym typeface="Poppins"/>
              </a:rPr>
              <a:t> Use temporal attention (TAP) to generate final forecast from multiple days</a:t>
            </a:r>
          </a:p>
        </p:txBody>
      </p:sp>
      <p:sp>
        <p:nvSpPr>
          <p:cNvPr id="15" name="TextBox 15"/>
          <p:cNvSpPr txBox="1"/>
          <p:nvPr/>
        </p:nvSpPr>
        <p:spPr>
          <a:xfrm>
            <a:off x="1028700" y="2775354"/>
            <a:ext cx="15702381" cy="717550"/>
          </a:xfrm>
          <a:prstGeom prst="rect">
            <a:avLst/>
          </a:prstGeom>
        </p:spPr>
        <p:txBody>
          <a:bodyPr lIns="0" tIns="0" rIns="0" bIns="0" rtlCol="0" anchor="t">
            <a:spAutoFit/>
          </a:bodyPr>
          <a:lstStyle/>
          <a:p>
            <a:pPr algn="l">
              <a:lnSpc>
                <a:spcPts val="5599"/>
              </a:lnSpc>
              <a:spcBef>
                <a:spcPct val="0"/>
              </a:spcBef>
            </a:pPr>
            <a:r>
              <a:rPr lang="en-US" sz="3999" b="1">
                <a:solidFill>
                  <a:srgbClr val="86B4C4"/>
                </a:solidFill>
                <a:latin typeface="Poppins Ultra-Bold"/>
                <a:ea typeface="Poppins Ultra-Bold"/>
                <a:cs typeface="Poppins Ultra-Bold"/>
                <a:sym typeface="Poppins Ultra-Bold"/>
              </a:rPr>
              <a:t>Step in Causal-PEN model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57135" y="1028700"/>
            <a:ext cx="14007306" cy="1543050"/>
            <a:chOff x="0" y="0"/>
            <a:chExt cx="3689167" cy="406400"/>
          </a:xfrm>
        </p:grpSpPr>
        <p:sp>
          <p:nvSpPr>
            <p:cNvPr id="3" name="Freeform 3"/>
            <p:cNvSpPr/>
            <p:nvPr/>
          </p:nvSpPr>
          <p:spPr>
            <a:xfrm>
              <a:off x="0" y="0"/>
              <a:ext cx="3689167" cy="406400"/>
            </a:xfrm>
            <a:custGeom>
              <a:avLst/>
              <a:gdLst/>
              <a:ahLst/>
              <a:cxnLst/>
              <a:rect l="l" t="t" r="r" b="b"/>
              <a:pathLst>
                <a:path w="3689167" h="406400">
                  <a:moveTo>
                    <a:pt x="0" y="0"/>
                  </a:moveTo>
                  <a:lnTo>
                    <a:pt x="3689167" y="0"/>
                  </a:lnTo>
                  <a:lnTo>
                    <a:pt x="3689167" y="406400"/>
                  </a:lnTo>
                  <a:lnTo>
                    <a:pt x="0" y="406400"/>
                  </a:lnTo>
                  <a:close/>
                </a:path>
              </a:pathLst>
            </a:custGeom>
            <a:solidFill>
              <a:srgbClr val="122029"/>
            </a:solidFill>
          </p:spPr>
          <p:txBody>
            <a:bodyPr/>
            <a:lstStyle/>
            <a:p>
              <a:endParaRPr lang="en-US"/>
            </a:p>
          </p:txBody>
        </p:sp>
        <p:sp>
          <p:nvSpPr>
            <p:cNvPr id="4" name="TextBox 4"/>
            <p:cNvSpPr txBox="1"/>
            <p:nvPr/>
          </p:nvSpPr>
          <p:spPr>
            <a:xfrm>
              <a:off x="0" y="-57150"/>
              <a:ext cx="3689167"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7668865">
            <a:off x="12506866" y="-318717"/>
            <a:ext cx="4868099" cy="1199632"/>
            <a:chOff x="0" y="0"/>
            <a:chExt cx="1282133" cy="315952"/>
          </a:xfrm>
        </p:grpSpPr>
        <p:sp>
          <p:nvSpPr>
            <p:cNvPr id="6" name="Freeform 6"/>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7" name="TextBox 7"/>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28700" y="1028700"/>
            <a:ext cx="697472" cy="1543050"/>
            <a:chOff x="0" y="0"/>
            <a:chExt cx="183696" cy="406400"/>
          </a:xfrm>
        </p:grpSpPr>
        <p:sp>
          <p:nvSpPr>
            <p:cNvPr id="9" name="Freeform 9"/>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10" name="TextBox 10"/>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2782780" y="6934252"/>
            <a:ext cx="6671368" cy="1764467"/>
          </a:xfrm>
          <a:custGeom>
            <a:avLst/>
            <a:gdLst/>
            <a:ahLst/>
            <a:cxnLst/>
            <a:rect l="l" t="t" r="r" b="b"/>
            <a:pathLst>
              <a:path w="6671368" h="1764467">
                <a:moveTo>
                  <a:pt x="0" y="0"/>
                </a:moveTo>
                <a:lnTo>
                  <a:pt x="6671367" y="0"/>
                </a:lnTo>
                <a:lnTo>
                  <a:pt x="6671367" y="1764468"/>
                </a:lnTo>
                <a:lnTo>
                  <a:pt x="0" y="1764468"/>
                </a:lnTo>
                <a:lnTo>
                  <a:pt x="0" y="0"/>
                </a:lnTo>
                <a:close/>
              </a:path>
            </a:pathLst>
          </a:custGeom>
          <a:blipFill>
            <a:blip r:embed="rId3"/>
            <a:stretch>
              <a:fillRect/>
            </a:stretch>
          </a:blipFill>
        </p:spPr>
        <p:txBody>
          <a:bodyPr/>
          <a:lstStyle/>
          <a:p>
            <a:endParaRPr lang="en-US"/>
          </a:p>
        </p:txBody>
      </p:sp>
      <p:sp>
        <p:nvSpPr>
          <p:cNvPr id="12" name="Freeform 12"/>
          <p:cNvSpPr/>
          <p:nvPr/>
        </p:nvSpPr>
        <p:spPr>
          <a:xfrm>
            <a:off x="5255604" y="9103033"/>
            <a:ext cx="8106257" cy="937200"/>
          </a:xfrm>
          <a:custGeom>
            <a:avLst/>
            <a:gdLst/>
            <a:ahLst/>
            <a:cxnLst/>
            <a:rect l="l" t="t" r="r" b="b"/>
            <a:pathLst>
              <a:path w="8106257" h="937200">
                <a:moveTo>
                  <a:pt x="0" y="0"/>
                </a:moveTo>
                <a:lnTo>
                  <a:pt x="8106258" y="0"/>
                </a:lnTo>
                <a:lnTo>
                  <a:pt x="8106258" y="937200"/>
                </a:lnTo>
                <a:lnTo>
                  <a:pt x="0" y="937200"/>
                </a:lnTo>
                <a:lnTo>
                  <a:pt x="0" y="0"/>
                </a:lnTo>
                <a:close/>
              </a:path>
            </a:pathLst>
          </a:custGeom>
          <a:blipFill>
            <a:blip r:embed="rId4"/>
            <a:stretch>
              <a:fillRect l="-829" r="-5150"/>
            </a:stretch>
          </a:blipFill>
        </p:spPr>
        <p:txBody>
          <a:bodyPr/>
          <a:lstStyle/>
          <a:p>
            <a:endParaRPr lang="en-US"/>
          </a:p>
        </p:txBody>
      </p:sp>
      <p:sp>
        <p:nvSpPr>
          <p:cNvPr id="13" name="Freeform 13"/>
          <p:cNvSpPr/>
          <p:nvPr/>
        </p:nvSpPr>
        <p:spPr>
          <a:xfrm>
            <a:off x="13108743" y="7077127"/>
            <a:ext cx="4447448" cy="953024"/>
          </a:xfrm>
          <a:custGeom>
            <a:avLst/>
            <a:gdLst/>
            <a:ahLst/>
            <a:cxnLst/>
            <a:rect l="l" t="t" r="r" b="b"/>
            <a:pathLst>
              <a:path w="4447448" h="953024">
                <a:moveTo>
                  <a:pt x="0" y="0"/>
                </a:moveTo>
                <a:lnTo>
                  <a:pt x="4447447" y="0"/>
                </a:lnTo>
                <a:lnTo>
                  <a:pt x="4447447" y="953025"/>
                </a:lnTo>
                <a:lnTo>
                  <a:pt x="0" y="953025"/>
                </a:lnTo>
                <a:lnTo>
                  <a:pt x="0" y="0"/>
                </a:lnTo>
                <a:close/>
              </a:path>
            </a:pathLst>
          </a:custGeom>
          <a:blipFill>
            <a:blip r:embed="rId5"/>
            <a:stretch>
              <a:fillRect/>
            </a:stretch>
          </a:blipFill>
        </p:spPr>
        <p:txBody>
          <a:bodyPr/>
          <a:lstStyle/>
          <a:p>
            <a:endParaRPr lang="en-US"/>
          </a:p>
        </p:txBody>
      </p:sp>
      <p:sp>
        <p:nvSpPr>
          <p:cNvPr id="14" name="Freeform 14"/>
          <p:cNvSpPr/>
          <p:nvPr/>
        </p:nvSpPr>
        <p:spPr>
          <a:xfrm>
            <a:off x="4041052" y="4313979"/>
            <a:ext cx="10826191" cy="1321697"/>
          </a:xfrm>
          <a:custGeom>
            <a:avLst/>
            <a:gdLst/>
            <a:ahLst/>
            <a:cxnLst/>
            <a:rect l="l" t="t" r="r" b="b"/>
            <a:pathLst>
              <a:path w="10826191" h="1321697">
                <a:moveTo>
                  <a:pt x="0" y="0"/>
                </a:moveTo>
                <a:lnTo>
                  <a:pt x="10826191" y="0"/>
                </a:lnTo>
                <a:lnTo>
                  <a:pt x="10826191" y="1321698"/>
                </a:lnTo>
                <a:lnTo>
                  <a:pt x="0" y="1321698"/>
                </a:lnTo>
                <a:lnTo>
                  <a:pt x="0" y="0"/>
                </a:lnTo>
                <a:close/>
              </a:path>
            </a:pathLst>
          </a:custGeom>
          <a:blipFill>
            <a:blip r:embed="rId6"/>
            <a:stretch>
              <a:fillRect/>
            </a:stretch>
          </a:blipFill>
        </p:spPr>
        <p:txBody>
          <a:bodyPr/>
          <a:lstStyle/>
          <a:p>
            <a:endParaRPr lang="en-US"/>
          </a:p>
        </p:txBody>
      </p:sp>
      <p:sp>
        <p:nvSpPr>
          <p:cNvPr id="15" name="TextBox 15"/>
          <p:cNvSpPr txBox="1"/>
          <p:nvPr/>
        </p:nvSpPr>
        <p:spPr>
          <a:xfrm>
            <a:off x="2554559" y="1035683"/>
            <a:ext cx="12777907" cy="1319534"/>
          </a:xfrm>
          <a:prstGeom prst="rect">
            <a:avLst/>
          </a:prstGeom>
        </p:spPr>
        <p:txBody>
          <a:bodyPr lIns="0" tIns="0" rIns="0" bIns="0" rtlCol="0" anchor="t">
            <a:spAutoFit/>
          </a:bodyPr>
          <a:lstStyle/>
          <a:p>
            <a:pPr algn="l">
              <a:lnSpc>
                <a:spcPts val="10219"/>
              </a:lnSpc>
              <a:spcBef>
                <a:spcPct val="0"/>
              </a:spcBef>
            </a:pPr>
            <a:r>
              <a:rPr lang="en-US" sz="7299" b="1">
                <a:solidFill>
                  <a:srgbClr val="FFFFFF"/>
                </a:solidFill>
                <a:latin typeface="Poppins Ultra-Bold"/>
                <a:ea typeface="Poppins Ultra-Bold"/>
                <a:cs typeface="Poppins Ultra-Bold"/>
                <a:sym typeface="Poppins Ultra-Bold"/>
              </a:rPr>
              <a:t>Causal Text Selection Unit </a:t>
            </a:r>
          </a:p>
        </p:txBody>
      </p:sp>
      <p:sp>
        <p:nvSpPr>
          <p:cNvPr id="16" name="TextBox 16"/>
          <p:cNvSpPr txBox="1"/>
          <p:nvPr/>
        </p:nvSpPr>
        <p:spPr>
          <a:xfrm>
            <a:off x="1028700" y="3559175"/>
            <a:ext cx="16230600" cy="1317625"/>
          </a:xfrm>
          <a:prstGeom prst="rect">
            <a:avLst/>
          </a:prstGeom>
        </p:spPr>
        <p:txBody>
          <a:bodyPr lIns="0" tIns="0" rIns="0" bIns="0" rtlCol="0" anchor="t">
            <a:spAutoFit/>
          </a:bodyPr>
          <a:lstStyle/>
          <a:p>
            <a:pPr marL="539749" lvl="1" indent="-269875" algn="l">
              <a:lnSpc>
                <a:spcPts val="3499"/>
              </a:lnSpc>
              <a:buFont typeface="Arial"/>
              <a:buChar char="•"/>
            </a:pPr>
            <a:r>
              <a:rPr lang="en-US" sz="2499" b="1">
                <a:solidFill>
                  <a:srgbClr val="000000"/>
                </a:solidFill>
                <a:latin typeface="Poppins Bold"/>
                <a:ea typeface="Poppins Bold"/>
                <a:cs typeface="Poppins Bold"/>
                <a:sym typeface="Poppins Bold"/>
              </a:rPr>
              <a:t>Goal</a:t>
            </a:r>
            <a:r>
              <a:rPr lang="en-US" sz="2499">
                <a:solidFill>
                  <a:srgbClr val="000000"/>
                </a:solidFill>
                <a:latin typeface="Poppins"/>
                <a:ea typeface="Poppins"/>
                <a:cs typeface="Poppins"/>
                <a:sym typeface="Poppins"/>
              </a:rPr>
              <a:t>: Maximize both prediction accuracy and explainability</a:t>
            </a:r>
          </a:p>
          <a:p>
            <a:pPr marL="539749" lvl="1" indent="-269875" algn="l">
              <a:lnSpc>
                <a:spcPts val="3499"/>
              </a:lnSpc>
              <a:buFont typeface="Arial"/>
              <a:buChar char="•"/>
            </a:pPr>
            <a:r>
              <a:rPr lang="en-US" sz="2499" b="1">
                <a:solidFill>
                  <a:srgbClr val="000000"/>
                </a:solidFill>
                <a:latin typeface="Poppins Bold"/>
                <a:ea typeface="Poppins Bold"/>
                <a:cs typeface="Poppins Bold"/>
                <a:sym typeface="Poppins Bold"/>
              </a:rPr>
              <a:t>Main Loss</a:t>
            </a:r>
            <a:r>
              <a:rPr lang="en-US" sz="2499">
                <a:solidFill>
                  <a:srgbClr val="000000"/>
                </a:solidFill>
                <a:latin typeface="Poppins"/>
                <a:ea typeface="Poppins"/>
                <a:cs typeface="Poppins"/>
                <a:sym typeface="Poppins"/>
              </a:rPr>
              <a:t>:</a:t>
            </a:r>
          </a:p>
          <a:p>
            <a:pPr algn="l">
              <a:lnSpc>
                <a:spcPts val="3499"/>
              </a:lnSpc>
            </a:pPr>
            <a:endParaRPr lang="en-US" sz="2499">
              <a:solidFill>
                <a:srgbClr val="000000"/>
              </a:solidFill>
              <a:latin typeface="Poppins"/>
              <a:ea typeface="Poppins"/>
              <a:cs typeface="Poppins"/>
              <a:sym typeface="Poppins"/>
            </a:endParaRPr>
          </a:p>
        </p:txBody>
      </p:sp>
      <p:sp>
        <p:nvSpPr>
          <p:cNvPr id="17" name="TextBox 17"/>
          <p:cNvSpPr txBox="1"/>
          <p:nvPr/>
        </p:nvSpPr>
        <p:spPr>
          <a:xfrm>
            <a:off x="1028700" y="2775354"/>
            <a:ext cx="15702381" cy="717550"/>
          </a:xfrm>
          <a:prstGeom prst="rect">
            <a:avLst/>
          </a:prstGeom>
        </p:spPr>
        <p:txBody>
          <a:bodyPr lIns="0" tIns="0" rIns="0" bIns="0" rtlCol="0" anchor="t">
            <a:spAutoFit/>
          </a:bodyPr>
          <a:lstStyle/>
          <a:p>
            <a:pPr algn="l">
              <a:lnSpc>
                <a:spcPts val="5599"/>
              </a:lnSpc>
              <a:spcBef>
                <a:spcPct val="0"/>
              </a:spcBef>
            </a:pPr>
            <a:r>
              <a:rPr lang="en-US" sz="3999" b="1">
                <a:solidFill>
                  <a:srgbClr val="86B4C4"/>
                </a:solidFill>
                <a:latin typeface="Poppins Ultra-Bold"/>
                <a:ea typeface="Poppins Ultra-Bold"/>
                <a:cs typeface="Poppins Ultra-Bold"/>
                <a:sym typeface="Poppins Ultra-Bold"/>
              </a:rPr>
              <a:t>Learning Objective</a:t>
            </a:r>
          </a:p>
        </p:txBody>
      </p:sp>
      <p:sp>
        <p:nvSpPr>
          <p:cNvPr id="18" name="TextBox 18"/>
          <p:cNvSpPr txBox="1"/>
          <p:nvPr/>
        </p:nvSpPr>
        <p:spPr>
          <a:xfrm>
            <a:off x="1028700" y="5883327"/>
            <a:ext cx="5089764" cy="879475"/>
          </a:xfrm>
          <a:prstGeom prst="rect">
            <a:avLst/>
          </a:prstGeom>
        </p:spPr>
        <p:txBody>
          <a:bodyPr lIns="0" tIns="0" rIns="0" bIns="0" rtlCol="0" anchor="t">
            <a:spAutoFit/>
          </a:bodyPr>
          <a:lstStyle/>
          <a:p>
            <a:pPr marL="539746" lvl="1" indent="-269873" algn="ctr">
              <a:lnSpc>
                <a:spcPts val="3499"/>
              </a:lnSpc>
              <a:buFont typeface="Arial"/>
              <a:buChar char="•"/>
            </a:pPr>
            <a:r>
              <a:rPr lang="en-US" sz="2499" b="1">
                <a:solidFill>
                  <a:srgbClr val="000000"/>
                </a:solidFill>
                <a:latin typeface="Poppins Bold"/>
                <a:ea typeface="Poppins Bold"/>
                <a:cs typeface="Poppins Bold"/>
                <a:sym typeface="Poppins Bold"/>
              </a:rPr>
              <a:t>Explainability Regularizers:</a:t>
            </a:r>
          </a:p>
          <a:p>
            <a:pPr marL="1079492" lvl="2" indent="-359831" algn="l">
              <a:lnSpc>
                <a:spcPts val="3499"/>
              </a:lnSpc>
              <a:buFont typeface="Arial"/>
              <a:buChar char="⚬"/>
            </a:pPr>
            <a:r>
              <a:rPr lang="en-US" sz="2499" b="1">
                <a:solidFill>
                  <a:srgbClr val="000000"/>
                </a:solidFill>
                <a:latin typeface="Poppins Bold"/>
                <a:ea typeface="Poppins Bold"/>
                <a:cs typeface="Poppins Bold"/>
                <a:sym typeface="Poppins Bold"/>
              </a:rPr>
              <a:t>Consistency Loss:</a:t>
            </a:r>
          </a:p>
        </p:txBody>
      </p:sp>
      <p:sp>
        <p:nvSpPr>
          <p:cNvPr id="19" name="TextBox 19"/>
          <p:cNvSpPr txBox="1"/>
          <p:nvPr/>
        </p:nvSpPr>
        <p:spPr>
          <a:xfrm>
            <a:off x="11288708" y="5883327"/>
            <a:ext cx="3213795" cy="879475"/>
          </a:xfrm>
          <a:prstGeom prst="rect">
            <a:avLst/>
          </a:prstGeom>
        </p:spPr>
        <p:txBody>
          <a:bodyPr lIns="0" tIns="0" rIns="0" bIns="0" rtlCol="0" anchor="t">
            <a:spAutoFit/>
          </a:bodyPr>
          <a:lstStyle/>
          <a:p>
            <a:pPr algn="l">
              <a:lnSpc>
                <a:spcPts val="3499"/>
              </a:lnSpc>
            </a:pPr>
            <a:endParaRPr/>
          </a:p>
          <a:p>
            <a:pPr marL="1079492" lvl="2" indent="-359831" algn="l">
              <a:lnSpc>
                <a:spcPts val="3499"/>
              </a:lnSpc>
              <a:buFont typeface="Arial"/>
              <a:buChar char="⚬"/>
            </a:pPr>
            <a:r>
              <a:rPr lang="en-US" sz="2499" b="1">
                <a:solidFill>
                  <a:srgbClr val="000000"/>
                </a:solidFill>
                <a:latin typeface="Poppins Bold"/>
                <a:ea typeface="Poppins Bold"/>
                <a:cs typeface="Poppins Bold"/>
                <a:sym typeface="Poppins Bold"/>
              </a:rPr>
              <a:t>Entropy Loss:</a:t>
            </a:r>
          </a:p>
        </p:txBody>
      </p:sp>
      <p:sp>
        <p:nvSpPr>
          <p:cNvPr id="20" name="TextBox 20"/>
          <p:cNvSpPr txBox="1"/>
          <p:nvPr/>
        </p:nvSpPr>
        <p:spPr>
          <a:xfrm>
            <a:off x="1028700" y="8661708"/>
            <a:ext cx="3088035" cy="441325"/>
          </a:xfrm>
          <a:prstGeom prst="rect">
            <a:avLst/>
          </a:prstGeom>
        </p:spPr>
        <p:txBody>
          <a:bodyPr lIns="0" tIns="0" rIns="0" bIns="0" rtlCol="0" anchor="t">
            <a:spAutoFit/>
          </a:bodyPr>
          <a:lstStyle/>
          <a:p>
            <a:pPr marL="539746" lvl="1" indent="-269873" algn="ctr">
              <a:lnSpc>
                <a:spcPts val="3499"/>
              </a:lnSpc>
              <a:buFont typeface="Arial"/>
              <a:buChar char="•"/>
            </a:pPr>
            <a:r>
              <a:rPr lang="en-US" sz="2499" b="1">
                <a:solidFill>
                  <a:srgbClr val="000000"/>
                </a:solidFill>
                <a:latin typeface="Poppins Bold"/>
                <a:ea typeface="Poppins Bold"/>
                <a:cs typeface="Poppins Bold"/>
                <a:sym typeface="Poppins Bold"/>
              </a:rPr>
              <a:t>Total Objective: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57135" y="1028700"/>
            <a:ext cx="14007306" cy="1543050"/>
            <a:chOff x="0" y="0"/>
            <a:chExt cx="3689167" cy="406400"/>
          </a:xfrm>
        </p:grpSpPr>
        <p:sp>
          <p:nvSpPr>
            <p:cNvPr id="3" name="Freeform 3"/>
            <p:cNvSpPr/>
            <p:nvPr/>
          </p:nvSpPr>
          <p:spPr>
            <a:xfrm>
              <a:off x="0" y="0"/>
              <a:ext cx="3689167" cy="406400"/>
            </a:xfrm>
            <a:custGeom>
              <a:avLst/>
              <a:gdLst/>
              <a:ahLst/>
              <a:cxnLst/>
              <a:rect l="l" t="t" r="r" b="b"/>
              <a:pathLst>
                <a:path w="3689167" h="406400">
                  <a:moveTo>
                    <a:pt x="0" y="0"/>
                  </a:moveTo>
                  <a:lnTo>
                    <a:pt x="3689167" y="0"/>
                  </a:lnTo>
                  <a:lnTo>
                    <a:pt x="3689167" y="406400"/>
                  </a:lnTo>
                  <a:lnTo>
                    <a:pt x="0" y="406400"/>
                  </a:lnTo>
                  <a:close/>
                </a:path>
              </a:pathLst>
            </a:custGeom>
            <a:solidFill>
              <a:srgbClr val="122029"/>
            </a:solidFill>
          </p:spPr>
          <p:txBody>
            <a:bodyPr/>
            <a:lstStyle/>
            <a:p>
              <a:endParaRPr lang="en-US"/>
            </a:p>
          </p:txBody>
        </p:sp>
        <p:sp>
          <p:nvSpPr>
            <p:cNvPr id="4" name="TextBox 4"/>
            <p:cNvSpPr txBox="1"/>
            <p:nvPr/>
          </p:nvSpPr>
          <p:spPr>
            <a:xfrm>
              <a:off x="0" y="-57150"/>
              <a:ext cx="3689167"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7668865">
            <a:off x="12506866" y="-318717"/>
            <a:ext cx="4868099" cy="1199632"/>
            <a:chOff x="0" y="0"/>
            <a:chExt cx="1282133" cy="315952"/>
          </a:xfrm>
        </p:grpSpPr>
        <p:sp>
          <p:nvSpPr>
            <p:cNvPr id="6" name="Freeform 6"/>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7" name="TextBox 7"/>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28700" y="1028700"/>
            <a:ext cx="697472" cy="1543050"/>
            <a:chOff x="0" y="0"/>
            <a:chExt cx="183696" cy="406400"/>
          </a:xfrm>
        </p:grpSpPr>
        <p:sp>
          <p:nvSpPr>
            <p:cNvPr id="9" name="Freeform 9"/>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10" name="TextBox 10"/>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1028700" y="6116536"/>
            <a:ext cx="11099855" cy="3992133"/>
            <a:chOff x="0" y="0"/>
            <a:chExt cx="2023724" cy="727845"/>
          </a:xfrm>
        </p:grpSpPr>
        <p:sp>
          <p:nvSpPr>
            <p:cNvPr id="12" name="Freeform 12"/>
            <p:cNvSpPr/>
            <p:nvPr/>
          </p:nvSpPr>
          <p:spPr>
            <a:xfrm>
              <a:off x="0" y="0"/>
              <a:ext cx="2023724" cy="727845"/>
            </a:xfrm>
            <a:custGeom>
              <a:avLst/>
              <a:gdLst/>
              <a:ahLst/>
              <a:cxnLst/>
              <a:rect l="l" t="t" r="r" b="b"/>
              <a:pathLst>
                <a:path w="2023724" h="727845">
                  <a:moveTo>
                    <a:pt x="27899" y="0"/>
                  </a:moveTo>
                  <a:lnTo>
                    <a:pt x="1995824" y="0"/>
                  </a:lnTo>
                  <a:cubicBezTo>
                    <a:pt x="2003224" y="0"/>
                    <a:pt x="2010320" y="2939"/>
                    <a:pt x="2015552" y="8171"/>
                  </a:cubicBezTo>
                  <a:cubicBezTo>
                    <a:pt x="2020784" y="13404"/>
                    <a:pt x="2023724" y="20500"/>
                    <a:pt x="2023724" y="27899"/>
                  </a:cubicBezTo>
                  <a:lnTo>
                    <a:pt x="2023724" y="699946"/>
                  </a:lnTo>
                  <a:cubicBezTo>
                    <a:pt x="2023724" y="707345"/>
                    <a:pt x="2020784" y="714441"/>
                    <a:pt x="2015552" y="719673"/>
                  </a:cubicBezTo>
                  <a:cubicBezTo>
                    <a:pt x="2010320" y="724906"/>
                    <a:pt x="2003224" y="727845"/>
                    <a:pt x="1995824" y="727845"/>
                  </a:cubicBezTo>
                  <a:lnTo>
                    <a:pt x="27899" y="727845"/>
                  </a:lnTo>
                  <a:cubicBezTo>
                    <a:pt x="20500" y="727845"/>
                    <a:pt x="13404" y="724906"/>
                    <a:pt x="8171" y="719673"/>
                  </a:cubicBezTo>
                  <a:cubicBezTo>
                    <a:pt x="2939" y="714441"/>
                    <a:pt x="0" y="707345"/>
                    <a:pt x="0" y="699946"/>
                  </a:cubicBezTo>
                  <a:lnTo>
                    <a:pt x="0" y="27899"/>
                  </a:lnTo>
                  <a:cubicBezTo>
                    <a:pt x="0" y="20500"/>
                    <a:pt x="2939" y="13404"/>
                    <a:pt x="8171" y="8171"/>
                  </a:cubicBezTo>
                  <a:cubicBezTo>
                    <a:pt x="13404" y="2939"/>
                    <a:pt x="20500" y="0"/>
                    <a:pt x="27899" y="0"/>
                  </a:cubicBezTo>
                  <a:close/>
                </a:path>
              </a:pathLst>
            </a:custGeom>
            <a:blipFill>
              <a:blip r:embed="rId3"/>
              <a:stretch>
                <a:fillRect t="-3323" b="-3323"/>
              </a:stretch>
            </a:blipFill>
          </p:spPr>
          <p:txBody>
            <a:bodyPr/>
            <a:lstStyle/>
            <a:p>
              <a:endParaRPr lang="en-US"/>
            </a:p>
          </p:txBody>
        </p:sp>
      </p:grpSp>
      <p:sp>
        <p:nvSpPr>
          <p:cNvPr id="13" name="TextBox 13"/>
          <p:cNvSpPr txBox="1"/>
          <p:nvPr/>
        </p:nvSpPr>
        <p:spPr>
          <a:xfrm>
            <a:off x="2554559" y="1035683"/>
            <a:ext cx="12777907" cy="1319534"/>
          </a:xfrm>
          <a:prstGeom prst="rect">
            <a:avLst/>
          </a:prstGeom>
        </p:spPr>
        <p:txBody>
          <a:bodyPr lIns="0" tIns="0" rIns="0" bIns="0" rtlCol="0" anchor="t">
            <a:spAutoFit/>
          </a:bodyPr>
          <a:lstStyle/>
          <a:p>
            <a:pPr algn="l">
              <a:lnSpc>
                <a:spcPts val="10219"/>
              </a:lnSpc>
              <a:spcBef>
                <a:spcPct val="0"/>
              </a:spcBef>
            </a:pPr>
            <a:r>
              <a:rPr lang="en-US" sz="7299" b="1">
                <a:solidFill>
                  <a:srgbClr val="FFFFFF"/>
                </a:solidFill>
                <a:latin typeface="Poppins Ultra-Bold"/>
                <a:ea typeface="Poppins Ultra-Bold"/>
                <a:cs typeface="Poppins Ultra-Bold"/>
                <a:sym typeface="Poppins Ultra-Bold"/>
              </a:rPr>
              <a:t>Causal Text Selection Unit </a:t>
            </a:r>
          </a:p>
        </p:txBody>
      </p:sp>
      <p:sp>
        <p:nvSpPr>
          <p:cNvPr id="14" name="TextBox 14"/>
          <p:cNvSpPr txBox="1"/>
          <p:nvPr/>
        </p:nvSpPr>
        <p:spPr>
          <a:xfrm>
            <a:off x="1028700" y="2557834"/>
            <a:ext cx="10135407" cy="717624"/>
          </a:xfrm>
          <a:prstGeom prst="rect">
            <a:avLst/>
          </a:prstGeom>
        </p:spPr>
        <p:txBody>
          <a:bodyPr lIns="0" tIns="0" rIns="0" bIns="0" rtlCol="0" anchor="t">
            <a:spAutoFit/>
          </a:bodyPr>
          <a:lstStyle/>
          <a:p>
            <a:pPr algn="l">
              <a:lnSpc>
                <a:spcPts val="5595"/>
              </a:lnSpc>
              <a:spcBef>
                <a:spcPct val="0"/>
              </a:spcBef>
            </a:pPr>
            <a:r>
              <a:rPr lang="en-US" sz="3997" b="1">
                <a:solidFill>
                  <a:srgbClr val="86B4C4"/>
                </a:solidFill>
                <a:latin typeface="Poppins Bold"/>
                <a:ea typeface="Poppins Bold"/>
                <a:cs typeface="Poppins Bold"/>
                <a:sym typeface="Poppins Bold"/>
              </a:rPr>
              <a:t>Experimental results</a:t>
            </a:r>
          </a:p>
        </p:txBody>
      </p:sp>
      <p:sp>
        <p:nvSpPr>
          <p:cNvPr id="15" name="TextBox 15"/>
          <p:cNvSpPr txBox="1"/>
          <p:nvPr/>
        </p:nvSpPr>
        <p:spPr>
          <a:xfrm>
            <a:off x="1028700" y="3313559"/>
            <a:ext cx="16822058" cy="3070351"/>
          </a:xfrm>
          <a:prstGeom prst="rect">
            <a:avLst/>
          </a:prstGeom>
        </p:spPr>
        <p:txBody>
          <a:bodyPr lIns="0" tIns="0" rIns="0" bIns="0" rtlCol="0" anchor="t">
            <a:spAutoFit/>
          </a:bodyPr>
          <a:lstStyle/>
          <a:p>
            <a:pPr marL="538679" lvl="1" indent="-269340" algn="l">
              <a:lnSpc>
                <a:spcPts val="3493"/>
              </a:lnSpc>
              <a:buFont typeface="Arial"/>
              <a:buChar char="•"/>
            </a:pPr>
            <a:r>
              <a:rPr lang="en-US" sz="2495" b="1">
                <a:solidFill>
                  <a:srgbClr val="000000"/>
                </a:solidFill>
                <a:latin typeface="Poppins Bold"/>
                <a:ea typeface="Poppins Bold"/>
                <a:cs typeface="Poppins Bold"/>
                <a:sym typeface="Poppins Bold"/>
              </a:rPr>
              <a:t>Dataset:</a:t>
            </a:r>
            <a:r>
              <a:rPr lang="en-US" sz="2495">
                <a:solidFill>
                  <a:srgbClr val="000000"/>
                </a:solidFill>
                <a:latin typeface="Poppins"/>
                <a:ea typeface="Poppins"/>
                <a:cs typeface="Poppins"/>
                <a:sym typeface="Poppins"/>
              </a:rPr>
              <a:t> </a:t>
            </a:r>
          </a:p>
          <a:p>
            <a:pPr marL="1077358" lvl="2" indent="-359119" algn="l">
              <a:lnSpc>
                <a:spcPts val="3493"/>
              </a:lnSpc>
              <a:buFont typeface="Arial"/>
              <a:buChar char="⚬"/>
            </a:pPr>
            <a:r>
              <a:rPr lang="en-US" sz="2495" b="1">
                <a:solidFill>
                  <a:srgbClr val="000000"/>
                </a:solidFill>
                <a:latin typeface="Poppins Bold"/>
                <a:ea typeface="Poppins Bold"/>
                <a:cs typeface="Poppins Bold"/>
                <a:sym typeface="Poppins Bold"/>
              </a:rPr>
              <a:t>ACL18:</a:t>
            </a:r>
            <a:r>
              <a:rPr lang="en-US" sz="2495">
                <a:solidFill>
                  <a:srgbClr val="000000"/>
                </a:solidFill>
                <a:latin typeface="Poppins"/>
                <a:ea typeface="Poppins"/>
                <a:cs typeface="Poppins"/>
                <a:sym typeface="Poppins"/>
              </a:rPr>
              <a:t> Covers tweets and stock prices for 88 major U.S. stocks (9 industries) from 2014–2016. Prices from Yahoo Finance, tweets from Twitter. (</a:t>
            </a:r>
            <a:r>
              <a:rPr lang="en-US" sz="2495" b="1" i="1">
                <a:solidFill>
                  <a:srgbClr val="000000"/>
                </a:solidFill>
                <a:latin typeface="Poppins Bold Italics"/>
                <a:ea typeface="Poppins Bold Italics"/>
                <a:cs typeface="Poppins Bold Italics"/>
                <a:sym typeface="Poppins Bold Italics"/>
              </a:rPr>
              <a:t>Train</a:t>
            </a:r>
            <a:r>
              <a:rPr lang="en-US" sz="2495" i="1">
                <a:solidFill>
                  <a:srgbClr val="000000"/>
                </a:solidFill>
                <a:latin typeface="Poppins Italics"/>
                <a:ea typeface="Poppins Italics"/>
                <a:cs typeface="Poppins Italics"/>
                <a:sym typeface="Poppins Italics"/>
              </a:rPr>
              <a:t>: Jan 2014 – Aug 2015, </a:t>
            </a:r>
            <a:r>
              <a:rPr lang="en-US" sz="2495" b="1" i="1">
                <a:solidFill>
                  <a:srgbClr val="000000"/>
                </a:solidFill>
                <a:latin typeface="Poppins Bold Italics"/>
                <a:ea typeface="Poppins Bold Italics"/>
                <a:cs typeface="Poppins Bold Italics"/>
                <a:sym typeface="Poppins Bold Italics"/>
              </a:rPr>
              <a:t>Dev</a:t>
            </a:r>
            <a:r>
              <a:rPr lang="en-US" sz="2495" i="1">
                <a:solidFill>
                  <a:srgbClr val="000000"/>
                </a:solidFill>
                <a:latin typeface="Poppins Italics"/>
                <a:ea typeface="Poppins Italics"/>
                <a:cs typeface="Poppins Italics"/>
                <a:sym typeface="Poppins Italics"/>
              </a:rPr>
              <a:t>: Aug – Oct 2015, </a:t>
            </a:r>
            <a:r>
              <a:rPr lang="en-US" sz="2495" b="1" i="1">
                <a:solidFill>
                  <a:srgbClr val="000000"/>
                </a:solidFill>
                <a:latin typeface="Poppins Bold Italics"/>
                <a:ea typeface="Poppins Bold Italics"/>
                <a:cs typeface="Poppins Bold Italics"/>
                <a:sym typeface="Poppins Bold Italics"/>
              </a:rPr>
              <a:t>Test</a:t>
            </a:r>
            <a:r>
              <a:rPr lang="en-US" sz="2495" i="1">
                <a:solidFill>
                  <a:srgbClr val="000000"/>
                </a:solidFill>
                <a:latin typeface="Poppins Italics"/>
                <a:ea typeface="Poppins Italics"/>
                <a:cs typeface="Poppins Italics"/>
                <a:sym typeface="Poppins Italics"/>
              </a:rPr>
              <a:t>: Oct 2015 – Jan 2016</a:t>
            </a:r>
            <a:r>
              <a:rPr lang="en-US" sz="2495">
                <a:solidFill>
                  <a:srgbClr val="000000"/>
                </a:solidFill>
                <a:latin typeface="Poppins"/>
                <a:ea typeface="Poppins"/>
                <a:cs typeface="Poppins"/>
                <a:sym typeface="Poppins"/>
              </a:rPr>
              <a:t>)</a:t>
            </a:r>
          </a:p>
          <a:p>
            <a:pPr marL="1077358" lvl="2" indent="-359119" algn="l">
              <a:lnSpc>
                <a:spcPts val="3493"/>
              </a:lnSpc>
              <a:buFont typeface="Arial"/>
              <a:buChar char="⚬"/>
            </a:pPr>
            <a:r>
              <a:rPr lang="en-US" sz="2495" b="1">
                <a:solidFill>
                  <a:srgbClr val="000000"/>
                </a:solidFill>
                <a:latin typeface="Poppins Bold"/>
                <a:ea typeface="Poppins Bold"/>
                <a:cs typeface="Poppins Bold"/>
                <a:sym typeface="Poppins Bold"/>
              </a:rPr>
              <a:t>DJIA:</a:t>
            </a:r>
            <a:r>
              <a:rPr lang="en-US" sz="2495">
                <a:solidFill>
                  <a:srgbClr val="000000"/>
                </a:solidFill>
                <a:latin typeface="Poppins"/>
                <a:ea typeface="Poppins"/>
                <a:cs typeface="Poppins"/>
                <a:sym typeface="Poppins"/>
              </a:rPr>
              <a:t> Contains daily Reddit WorldNews headlines (top 25) and DJIA prices from 2008–2016. (</a:t>
            </a:r>
            <a:r>
              <a:rPr lang="en-US" sz="2495" b="1" i="1">
                <a:solidFill>
                  <a:srgbClr val="000000"/>
                </a:solidFill>
                <a:latin typeface="Poppins Bold Italics"/>
                <a:ea typeface="Poppins Bold Italics"/>
                <a:cs typeface="Poppins Bold Italics"/>
                <a:sym typeface="Poppins Bold Italics"/>
              </a:rPr>
              <a:t>Train:</a:t>
            </a:r>
            <a:r>
              <a:rPr lang="en-US" sz="2495" i="1">
                <a:solidFill>
                  <a:srgbClr val="000000"/>
                </a:solidFill>
                <a:latin typeface="Poppins Italics"/>
                <a:ea typeface="Poppins Italics"/>
                <a:cs typeface="Poppins Italics"/>
                <a:sym typeface="Poppins Italics"/>
              </a:rPr>
              <a:t> Aug 2008 – Dec 2014, </a:t>
            </a:r>
            <a:r>
              <a:rPr lang="en-US" sz="2495" b="1" i="1">
                <a:solidFill>
                  <a:srgbClr val="000000"/>
                </a:solidFill>
                <a:latin typeface="Poppins Bold Italics"/>
                <a:ea typeface="Poppins Bold Italics"/>
                <a:cs typeface="Poppins Bold Italics"/>
                <a:sym typeface="Poppins Bold Italics"/>
              </a:rPr>
              <a:t>Dev:</a:t>
            </a:r>
            <a:r>
              <a:rPr lang="en-US" sz="2495" i="1">
                <a:solidFill>
                  <a:srgbClr val="000000"/>
                </a:solidFill>
                <a:latin typeface="Poppins Italics"/>
                <a:ea typeface="Poppins Italics"/>
                <a:cs typeface="Poppins Italics"/>
                <a:sym typeface="Poppins Italics"/>
              </a:rPr>
              <a:t> Aug – Oct 2015, </a:t>
            </a:r>
            <a:r>
              <a:rPr lang="en-US" sz="2495" b="1" i="1">
                <a:solidFill>
                  <a:srgbClr val="000000"/>
                </a:solidFill>
                <a:latin typeface="Poppins Bold Italics"/>
                <a:ea typeface="Poppins Bold Italics"/>
                <a:cs typeface="Poppins Bold Italics"/>
                <a:sym typeface="Poppins Bold Italics"/>
              </a:rPr>
              <a:t>Test: </a:t>
            </a:r>
            <a:r>
              <a:rPr lang="en-US" sz="2495" i="1">
                <a:solidFill>
                  <a:srgbClr val="000000"/>
                </a:solidFill>
                <a:latin typeface="Poppins Italics"/>
                <a:ea typeface="Poppins Italics"/>
                <a:cs typeface="Poppins Italics"/>
                <a:sym typeface="Poppins Italics"/>
              </a:rPr>
              <a:t>Jan 2015 – Jul 2016</a:t>
            </a:r>
            <a:r>
              <a:rPr lang="en-US" sz="2495">
                <a:solidFill>
                  <a:srgbClr val="000000"/>
                </a:solidFill>
                <a:latin typeface="Poppins"/>
                <a:ea typeface="Poppins"/>
                <a:cs typeface="Poppins"/>
                <a:sym typeface="Poppins"/>
              </a:rPr>
              <a:t>)</a:t>
            </a:r>
          </a:p>
          <a:p>
            <a:pPr algn="l">
              <a:lnSpc>
                <a:spcPts val="3493"/>
              </a:lnSpc>
            </a:pPr>
            <a:endParaRPr lang="en-US" sz="2495">
              <a:solidFill>
                <a:srgbClr val="000000"/>
              </a:solidFill>
              <a:latin typeface="Poppins"/>
              <a:ea typeface="Poppins"/>
              <a:cs typeface="Poppins"/>
              <a:sym typeface="Poppins"/>
            </a:endParaRPr>
          </a:p>
        </p:txBody>
      </p:sp>
      <p:sp>
        <p:nvSpPr>
          <p:cNvPr id="16" name="TextBox 16"/>
          <p:cNvSpPr txBox="1"/>
          <p:nvPr/>
        </p:nvSpPr>
        <p:spPr>
          <a:xfrm>
            <a:off x="12783054" y="6049861"/>
            <a:ext cx="5067704" cy="3946525"/>
          </a:xfrm>
          <a:prstGeom prst="rect">
            <a:avLst/>
          </a:prstGeom>
        </p:spPr>
        <p:txBody>
          <a:bodyPr lIns="0" tIns="0" rIns="0" bIns="0" rtlCol="0" anchor="t">
            <a:spAutoFit/>
          </a:bodyPr>
          <a:lstStyle/>
          <a:p>
            <a:pPr algn="l">
              <a:lnSpc>
                <a:spcPts val="3499"/>
              </a:lnSpc>
              <a:spcBef>
                <a:spcPct val="0"/>
              </a:spcBef>
            </a:pPr>
            <a:r>
              <a:rPr lang="en-US" sz="2499">
                <a:solidFill>
                  <a:srgbClr val="000000"/>
                </a:solidFill>
                <a:latin typeface="Poppins"/>
                <a:ea typeface="Poppins"/>
                <a:cs typeface="Poppins"/>
                <a:sym typeface="Poppins"/>
              </a:rPr>
              <a:t>Overall, the experiments confirm that Ca-TSU delivers on its design goals. It provides about a 2% absolute accuracy improvement over the baseline, and it substantially enhances the clarity and correctness of the model’s text-based explanations.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57135" y="1028700"/>
            <a:ext cx="15727124" cy="1543050"/>
            <a:chOff x="0" y="0"/>
            <a:chExt cx="4142123" cy="406400"/>
          </a:xfrm>
        </p:grpSpPr>
        <p:sp>
          <p:nvSpPr>
            <p:cNvPr id="3" name="Freeform 3"/>
            <p:cNvSpPr/>
            <p:nvPr/>
          </p:nvSpPr>
          <p:spPr>
            <a:xfrm>
              <a:off x="0" y="0"/>
              <a:ext cx="4142123" cy="406400"/>
            </a:xfrm>
            <a:custGeom>
              <a:avLst/>
              <a:gdLst/>
              <a:ahLst/>
              <a:cxnLst/>
              <a:rect l="l" t="t" r="r" b="b"/>
              <a:pathLst>
                <a:path w="4142123" h="406400">
                  <a:moveTo>
                    <a:pt x="0" y="0"/>
                  </a:moveTo>
                  <a:lnTo>
                    <a:pt x="4142123" y="0"/>
                  </a:lnTo>
                  <a:lnTo>
                    <a:pt x="4142123" y="406400"/>
                  </a:lnTo>
                  <a:lnTo>
                    <a:pt x="0" y="406400"/>
                  </a:lnTo>
                  <a:close/>
                </a:path>
              </a:pathLst>
            </a:custGeom>
            <a:solidFill>
              <a:srgbClr val="122029"/>
            </a:solidFill>
          </p:spPr>
          <p:txBody>
            <a:bodyPr/>
            <a:lstStyle/>
            <a:p>
              <a:endParaRPr lang="en-US"/>
            </a:p>
          </p:txBody>
        </p:sp>
        <p:sp>
          <p:nvSpPr>
            <p:cNvPr id="4" name="TextBox 4"/>
            <p:cNvSpPr txBox="1"/>
            <p:nvPr/>
          </p:nvSpPr>
          <p:spPr>
            <a:xfrm>
              <a:off x="0" y="-57150"/>
              <a:ext cx="4142123"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7668865">
            <a:off x="14191519" y="-318717"/>
            <a:ext cx="4868099" cy="1199632"/>
            <a:chOff x="0" y="0"/>
            <a:chExt cx="1282133" cy="315952"/>
          </a:xfrm>
        </p:grpSpPr>
        <p:sp>
          <p:nvSpPr>
            <p:cNvPr id="6" name="Freeform 6"/>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7" name="TextBox 7"/>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28700" y="1028700"/>
            <a:ext cx="697472" cy="1543050"/>
            <a:chOff x="0" y="0"/>
            <a:chExt cx="183696" cy="406400"/>
          </a:xfrm>
        </p:grpSpPr>
        <p:sp>
          <p:nvSpPr>
            <p:cNvPr id="9" name="Freeform 9"/>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10" name="TextBox 10"/>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11602679" y="2716941"/>
            <a:ext cx="5022890" cy="7371041"/>
            <a:chOff x="0" y="0"/>
            <a:chExt cx="1143252" cy="1677711"/>
          </a:xfrm>
        </p:grpSpPr>
        <p:sp>
          <p:nvSpPr>
            <p:cNvPr id="12" name="Freeform 12"/>
            <p:cNvSpPr/>
            <p:nvPr/>
          </p:nvSpPr>
          <p:spPr>
            <a:xfrm>
              <a:off x="0" y="0"/>
              <a:ext cx="1143252" cy="1677711"/>
            </a:xfrm>
            <a:custGeom>
              <a:avLst/>
              <a:gdLst/>
              <a:ahLst/>
              <a:cxnLst/>
              <a:rect l="l" t="t" r="r" b="b"/>
              <a:pathLst>
                <a:path w="1143252" h="1677711">
                  <a:moveTo>
                    <a:pt x="61653" y="0"/>
                  </a:moveTo>
                  <a:lnTo>
                    <a:pt x="1081599" y="0"/>
                  </a:lnTo>
                  <a:cubicBezTo>
                    <a:pt x="1115649" y="0"/>
                    <a:pt x="1143252" y="27603"/>
                    <a:pt x="1143252" y="61653"/>
                  </a:cubicBezTo>
                  <a:lnTo>
                    <a:pt x="1143252" y="1616058"/>
                  </a:lnTo>
                  <a:cubicBezTo>
                    <a:pt x="1143252" y="1650108"/>
                    <a:pt x="1115649" y="1677711"/>
                    <a:pt x="1081599" y="1677711"/>
                  </a:cubicBezTo>
                  <a:lnTo>
                    <a:pt x="61653" y="1677711"/>
                  </a:lnTo>
                  <a:cubicBezTo>
                    <a:pt x="27603" y="1677711"/>
                    <a:pt x="0" y="1650108"/>
                    <a:pt x="0" y="1616058"/>
                  </a:cubicBezTo>
                  <a:lnTo>
                    <a:pt x="0" y="61653"/>
                  </a:lnTo>
                  <a:cubicBezTo>
                    <a:pt x="0" y="27603"/>
                    <a:pt x="27603" y="0"/>
                    <a:pt x="61653" y="0"/>
                  </a:cubicBezTo>
                  <a:close/>
                </a:path>
              </a:pathLst>
            </a:custGeom>
            <a:blipFill>
              <a:blip r:embed="rId2"/>
              <a:stretch>
                <a:fillRect l="-203" r="-203"/>
              </a:stretch>
            </a:blipFill>
          </p:spPr>
          <p:txBody>
            <a:bodyPr/>
            <a:lstStyle/>
            <a:p>
              <a:endParaRPr lang="en-US"/>
            </a:p>
          </p:txBody>
        </p:sp>
      </p:grpSp>
      <p:sp>
        <p:nvSpPr>
          <p:cNvPr id="13" name="Freeform 13"/>
          <p:cNvSpPr/>
          <p:nvPr/>
        </p:nvSpPr>
        <p:spPr>
          <a:xfrm>
            <a:off x="1028700" y="3722837"/>
            <a:ext cx="7270769" cy="5212445"/>
          </a:xfrm>
          <a:custGeom>
            <a:avLst/>
            <a:gdLst/>
            <a:ahLst/>
            <a:cxnLst/>
            <a:rect l="l" t="t" r="r" b="b"/>
            <a:pathLst>
              <a:path w="7270769" h="5212445">
                <a:moveTo>
                  <a:pt x="0" y="0"/>
                </a:moveTo>
                <a:lnTo>
                  <a:pt x="7270769" y="0"/>
                </a:lnTo>
                <a:lnTo>
                  <a:pt x="7270769" y="5212445"/>
                </a:lnTo>
                <a:lnTo>
                  <a:pt x="0" y="5212445"/>
                </a:lnTo>
                <a:lnTo>
                  <a:pt x="0" y="0"/>
                </a:lnTo>
                <a:close/>
              </a:path>
            </a:pathLst>
          </a:custGeom>
          <a:blipFill>
            <a:blip r:embed="rId3"/>
            <a:stretch>
              <a:fillRect/>
            </a:stretch>
          </a:blipFill>
        </p:spPr>
        <p:txBody>
          <a:bodyPr/>
          <a:lstStyle/>
          <a:p>
            <a:endParaRPr lang="en-US"/>
          </a:p>
        </p:txBody>
      </p:sp>
      <p:sp>
        <p:nvSpPr>
          <p:cNvPr id="14" name="TextBox 14"/>
          <p:cNvSpPr txBox="1"/>
          <p:nvPr/>
        </p:nvSpPr>
        <p:spPr>
          <a:xfrm>
            <a:off x="2554559" y="1102358"/>
            <a:ext cx="14926732" cy="901700"/>
          </a:xfrm>
          <a:prstGeom prst="rect">
            <a:avLst/>
          </a:prstGeom>
        </p:spPr>
        <p:txBody>
          <a:bodyPr lIns="0" tIns="0" rIns="0" bIns="0" rtlCol="0" anchor="t">
            <a:spAutoFit/>
          </a:bodyPr>
          <a:lstStyle/>
          <a:p>
            <a:pPr algn="l">
              <a:lnSpc>
                <a:spcPts val="7000"/>
              </a:lnSpc>
              <a:spcBef>
                <a:spcPct val="0"/>
              </a:spcBef>
            </a:pPr>
            <a:r>
              <a:rPr lang="en-US" sz="5000" b="1">
                <a:solidFill>
                  <a:srgbClr val="FFFFFF"/>
                </a:solidFill>
                <a:latin typeface="Poppins Ultra-Bold"/>
                <a:ea typeface="Poppins Ultra-Bold"/>
                <a:cs typeface="Poppins Ultra-Bold"/>
                <a:sym typeface="Poppins Ultra-Bold"/>
              </a:rPr>
              <a:t>Dual-Path Shared Representation Learning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57135" y="1028700"/>
            <a:ext cx="15727124" cy="1543050"/>
            <a:chOff x="0" y="0"/>
            <a:chExt cx="4142123" cy="406400"/>
          </a:xfrm>
        </p:grpSpPr>
        <p:sp>
          <p:nvSpPr>
            <p:cNvPr id="3" name="Freeform 3"/>
            <p:cNvSpPr/>
            <p:nvPr/>
          </p:nvSpPr>
          <p:spPr>
            <a:xfrm>
              <a:off x="0" y="0"/>
              <a:ext cx="4142123" cy="406400"/>
            </a:xfrm>
            <a:custGeom>
              <a:avLst/>
              <a:gdLst/>
              <a:ahLst/>
              <a:cxnLst/>
              <a:rect l="l" t="t" r="r" b="b"/>
              <a:pathLst>
                <a:path w="4142123" h="406400">
                  <a:moveTo>
                    <a:pt x="0" y="0"/>
                  </a:moveTo>
                  <a:lnTo>
                    <a:pt x="4142123" y="0"/>
                  </a:lnTo>
                  <a:lnTo>
                    <a:pt x="4142123" y="406400"/>
                  </a:lnTo>
                  <a:lnTo>
                    <a:pt x="0" y="406400"/>
                  </a:lnTo>
                  <a:close/>
                </a:path>
              </a:pathLst>
            </a:custGeom>
            <a:solidFill>
              <a:srgbClr val="122029"/>
            </a:solidFill>
          </p:spPr>
          <p:txBody>
            <a:bodyPr/>
            <a:lstStyle/>
            <a:p>
              <a:endParaRPr lang="en-US"/>
            </a:p>
          </p:txBody>
        </p:sp>
        <p:sp>
          <p:nvSpPr>
            <p:cNvPr id="4" name="TextBox 4"/>
            <p:cNvSpPr txBox="1"/>
            <p:nvPr/>
          </p:nvSpPr>
          <p:spPr>
            <a:xfrm>
              <a:off x="0" y="-57150"/>
              <a:ext cx="4142123"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7668865">
            <a:off x="14191519" y="-318717"/>
            <a:ext cx="4868099" cy="1199632"/>
            <a:chOff x="0" y="0"/>
            <a:chExt cx="1282133" cy="315952"/>
          </a:xfrm>
        </p:grpSpPr>
        <p:sp>
          <p:nvSpPr>
            <p:cNvPr id="6" name="Freeform 6"/>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7" name="TextBox 7"/>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28700" y="1028700"/>
            <a:ext cx="697472" cy="1543050"/>
            <a:chOff x="0" y="0"/>
            <a:chExt cx="183696" cy="406400"/>
          </a:xfrm>
        </p:grpSpPr>
        <p:sp>
          <p:nvSpPr>
            <p:cNvPr id="9" name="Freeform 9"/>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10" name="TextBox 10"/>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028700" y="3875790"/>
            <a:ext cx="17259300" cy="4822825"/>
          </a:xfrm>
          <a:prstGeom prst="rect">
            <a:avLst/>
          </a:prstGeom>
        </p:spPr>
        <p:txBody>
          <a:bodyPr lIns="0" tIns="0" rIns="0" bIns="0" rtlCol="0" anchor="t">
            <a:spAutoFit/>
          </a:bodyPr>
          <a:lstStyle/>
          <a:p>
            <a:pPr marL="539746" lvl="1" indent="-269873" algn="l">
              <a:lnSpc>
                <a:spcPts val="3499"/>
              </a:lnSpc>
              <a:buFont typeface="Arial"/>
              <a:buChar char="•"/>
            </a:pPr>
            <a:r>
              <a:rPr lang="en-US" sz="2499" b="1">
                <a:solidFill>
                  <a:srgbClr val="000000"/>
                </a:solidFill>
                <a:latin typeface="Poppins Bold"/>
                <a:ea typeface="Poppins Bold"/>
                <a:cs typeface="Poppins Bold"/>
                <a:sym typeface="Poppins Bold"/>
              </a:rPr>
              <a:t>Key Components:</a:t>
            </a:r>
          </a:p>
          <a:p>
            <a:pPr marL="1079492" lvl="2" indent="-359831" algn="l">
              <a:lnSpc>
                <a:spcPts val="3499"/>
              </a:lnSpc>
              <a:buFont typeface="Arial"/>
              <a:buChar char="⚬"/>
            </a:pPr>
            <a:r>
              <a:rPr lang="en-US" sz="2499" b="1">
                <a:solidFill>
                  <a:srgbClr val="000000"/>
                </a:solidFill>
                <a:latin typeface="Poppins Bold"/>
                <a:ea typeface="Poppins Bold"/>
                <a:cs typeface="Poppins Bold"/>
                <a:sym typeface="Poppins Bold"/>
              </a:rPr>
              <a:t>Attention Mechanism:</a:t>
            </a:r>
            <a:r>
              <a:rPr lang="en-US" sz="2499">
                <a:solidFill>
                  <a:srgbClr val="000000"/>
                </a:solidFill>
                <a:latin typeface="Poppins"/>
                <a:ea typeface="Poppins"/>
                <a:cs typeface="Poppins"/>
                <a:sym typeface="Poppins"/>
              </a:rPr>
              <a:t> Attention matrices for text pathway (calculated as Ca-TSU, TSU) and price pathway. Price pathway attention matrices (query: price, keys: text) are calculated :</a:t>
            </a:r>
          </a:p>
          <a:p>
            <a:pPr algn="l">
              <a:lnSpc>
                <a:spcPts val="3499"/>
              </a:lnSpc>
            </a:pPr>
            <a:r>
              <a:rPr lang="en-US" sz="2499">
                <a:solidFill>
                  <a:srgbClr val="000000"/>
                </a:solidFill>
                <a:latin typeface="Poppins"/>
                <a:ea typeface="Poppins"/>
                <a:cs typeface="Poppins"/>
                <a:sym typeface="Poppins"/>
              </a:rPr>
              <a:t> </a:t>
            </a:r>
          </a:p>
          <a:p>
            <a:pPr algn="l">
              <a:lnSpc>
                <a:spcPts val="3499"/>
              </a:lnSpc>
            </a:pPr>
            <a:endParaRPr lang="en-US" sz="2499">
              <a:solidFill>
                <a:srgbClr val="000000"/>
              </a:solidFill>
              <a:latin typeface="Poppins"/>
              <a:ea typeface="Poppins"/>
              <a:cs typeface="Poppins"/>
              <a:sym typeface="Poppins"/>
            </a:endParaRPr>
          </a:p>
          <a:p>
            <a:pPr marL="1079492" lvl="2" indent="-359831" algn="l">
              <a:lnSpc>
                <a:spcPts val="3499"/>
              </a:lnSpc>
              <a:buFont typeface="Arial"/>
              <a:buChar char="⚬"/>
            </a:pPr>
            <a:r>
              <a:rPr lang="en-US" sz="2499" b="1">
                <a:solidFill>
                  <a:srgbClr val="000000"/>
                </a:solidFill>
                <a:latin typeface="Poppins Bold"/>
                <a:ea typeface="Poppins Bold"/>
                <a:cs typeface="Poppins Bold"/>
                <a:sym typeface="Poppins Bold"/>
              </a:rPr>
              <a:t>Memory Units (TMU)</a:t>
            </a:r>
            <a:r>
              <a:rPr lang="en-US" sz="2499">
                <a:solidFill>
                  <a:srgbClr val="000000"/>
                </a:solidFill>
                <a:latin typeface="Poppins"/>
                <a:ea typeface="Poppins"/>
                <a:cs typeface="Poppins"/>
                <a:sym typeface="Poppins"/>
              </a:rPr>
              <a:t>: Maintain temporal context for each modality. Pathways’ Outputs are latent state:</a:t>
            </a:r>
          </a:p>
          <a:p>
            <a:pPr algn="l">
              <a:lnSpc>
                <a:spcPts val="3499"/>
              </a:lnSpc>
            </a:pPr>
            <a:endParaRPr lang="en-US" sz="2499">
              <a:solidFill>
                <a:srgbClr val="000000"/>
              </a:solidFill>
              <a:latin typeface="Poppins"/>
              <a:ea typeface="Poppins"/>
              <a:cs typeface="Poppins"/>
              <a:sym typeface="Poppins"/>
            </a:endParaRPr>
          </a:p>
          <a:p>
            <a:pPr algn="l">
              <a:lnSpc>
                <a:spcPts val="3499"/>
              </a:lnSpc>
            </a:pPr>
            <a:endParaRPr lang="en-US" sz="2499">
              <a:solidFill>
                <a:srgbClr val="000000"/>
              </a:solidFill>
              <a:latin typeface="Poppins"/>
              <a:ea typeface="Poppins"/>
              <a:cs typeface="Poppins"/>
              <a:sym typeface="Poppins"/>
            </a:endParaRPr>
          </a:p>
          <a:p>
            <a:pPr marL="1079492" lvl="2" indent="-359831" algn="l">
              <a:lnSpc>
                <a:spcPts val="3499"/>
              </a:lnSpc>
              <a:buFont typeface="Arial"/>
              <a:buChar char="⚬"/>
            </a:pPr>
            <a:r>
              <a:rPr lang="en-US" sz="2499" b="1">
                <a:solidFill>
                  <a:srgbClr val="000000"/>
                </a:solidFill>
                <a:latin typeface="Poppins Bold"/>
                <a:ea typeface="Poppins Bold"/>
                <a:cs typeface="Poppins Bold"/>
                <a:sym typeface="Poppins Bold"/>
              </a:rPr>
              <a:t>Cross-Path Communication (CPC)</a:t>
            </a:r>
            <a:r>
              <a:rPr lang="en-US" sz="2499">
                <a:solidFill>
                  <a:srgbClr val="000000"/>
                </a:solidFill>
                <a:latin typeface="Poppins"/>
                <a:ea typeface="Poppins"/>
                <a:cs typeface="Poppins"/>
                <a:sym typeface="Poppins"/>
              </a:rPr>
              <a:t>: Allows each pathway to be influenced by the other, capturing inter actions between text and price signals, enhanced by: </a:t>
            </a:r>
          </a:p>
        </p:txBody>
      </p:sp>
      <p:sp>
        <p:nvSpPr>
          <p:cNvPr id="12" name="Freeform 12"/>
          <p:cNvSpPr/>
          <p:nvPr/>
        </p:nvSpPr>
        <p:spPr>
          <a:xfrm>
            <a:off x="3529890" y="8907812"/>
            <a:ext cx="5146573" cy="1093871"/>
          </a:xfrm>
          <a:custGeom>
            <a:avLst/>
            <a:gdLst/>
            <a:ahLst/>
            <a:cxnLst/>
            <a:rect l="l" t="t" r="r" b="b"/>
            <a:pathLst>
              <a:path w="5146573" h="1093871">
                <a:moveTo>
                  <a:pt x="0" y="0"/>
                </a:moveTo>
                <a:lnTo>
                  <a:pt x="5146572" y="0"/>
                </a:lnTo>
                <a:lnTo>
                  <a:pt x="5146572" y="1093871"/>
                </a:lnTo>
                <a:lnTo>
                  <a:pt x="0" y="1093871"/>
                </a:lnTo>
                <a:lnTo>
                  <a:pt x="0" y="0"/>
                </a:lnTo>
                <a:close/>
              </a:path>
            </a:pathLst>
          </a:custGeom>
          <a:blipFill>
            <a:blip r:embed="rId3"/>
            <a:stretch>
              <a:fillRect l="-387" r="-387"/>
            </a:stretch>
          </a:blipFill>
        </p:spPr>
        <p:txBody>
          <a:bodyPr/>
          <a:lstStyle/>
          <a:p>
            <a:endParaRPr lang="en-US"/>
          </a:p>
        </p:txBody>
      </p:sp>
      <p:sp>
        <p:nvSpPr>
          <p:cNvPr id="13" name="Freeform 13"/>
          <p:cNvSpPr/>
          <p:nvPr/>
        </p:nvSpPr>
        <p:spPr>
          <a:xfrm>
            <a:off x="7487879" y="6563647"/>
            <a:ext cx="3860815" cy="1233316"/>
          </a:xfrm>
          <a:custGeom>
            <a:avLst/>
            <a:gdLst/>
            <a:ahLst/>
            <a:cxnLst/>
            <a:rect l="l" t="t" r="r" b="b"/>
            <a:pathLst>
              <a:path w="3860815" h="1233316">
                <a:moveTo>
                  <a:pt x="0" y="0"/>
                </a:moveTo>
                <a:lnTo>
                  <a:pt x="3860815" y="0"/>
                </a:lnTo>
                <a:lnTo>
                  <a:pt x="3860815" y="1233316"/>
                </a:lnTo>
                <a:lnTo>
                  <a:pt x="0" y="1233316"/>
                </a:lnTo>
                <a:lnTo>
                  <a:pt x="0" y="0"/>
                </a:lnTo>
                <a:close/>
              </a:path>
            </a:pathLst>
          </a:custGeom>
          <a:blipFill>
            <a:blip r:embed="rId4"/>
            <a:stretch>
              <a:fillRect l="-198" r="-198"/>
            </a:stretch>
          </a:blipFill>
        </p:spPr>
        <p:txBody>
          <a:bodyPr/>
          <a:lstStyle/>
          <a:p>
            <a:endParaRPr lang="en-US"/>
          </a:p>
        </p:txBody>
      </p:sp>
      <p:sp>
        <p:nvSpPr>
          <p:cNvPr id="14" name="Freeform 14"/>
          <p:cNvSpPr/>
          <p:nvPr/>
        </p:nvSpPr>
        <p:spPr>
          <a:xfrm>
            <a:off x="6634506" y="5328638"/>
            <a:ext cx="5567561" cy="808904"/>
          </a:xfrm>
          <a:custGeom>
            <a:avLst/>
            <a:gdLst/>
            <a:ahLst/>
            <a:cxnLst/>
            <a:rect l="l" t="t" r="r" b="b"/>
            <a:pathLst>
              <a:path w="5567561" h="808904">
                <a:moveTo>
                  <a:pt x="0" y="0"/>
                </a:moveTo>
                <a:lnTo>
                  <a:pt x="5567561" y="0"/>
                </a:lnTo>
                <a:lnTo>
                  <a:pt x="5567561" y="808904"/>
                </a:lnTo>
                <a:lnTo>
                  <a:pt x="0" y="808904"/>
                </a:lnTo>
                <a:lnTo>
                  <a:pt x="0" y="0"/>
                </a:lnTo>
                <a:close/>
              </a:path>
            </a:pathLst>
          </a:custGeom>
          <a:blipFill>
            <a:blip r:embed="rId5"/>
            <a:stretch>
              <a:fillRect l="-575" r="-575"/>
            </a:stretch>
          </a:blipFill>
        </p:spPr>
        <p:txBody>
          <a:bodyPr/>
          <a:lstStyle/>
          <a:p>
            <a:endParaRPr lang="en-US"/>
          </a:p>
        </p:txBody>
      </p:sp>
      <p:sp>
        <p:nvSpPr>
          <p:cNvPr id="15" name="Freeform 15"/>
          <p:cNvSpPr/>
          <p:nvPr/>
        </p:nvSpPr>
        <p:spPr>
          <a:xfrm>
            <a:off x="10017925" y="8907812"/>
            <a:ext cx="6562615" cy="1067973"/>
          </a:xfrm>
          <a:custGeom>
            <a:avLst/>
            <a:gdLst/>
            <a:ahLst/>
            <a:cxnLst/>
            <a:rect l="l" t="t" r="r" b="b"/>
            <a:pathLst>
              <a:path w="6562615" h="1067973">
                <a:moveTo>
                  <a:pt x="0" y="0"/>
                </a:moveTo>
                <a:lnTo>
                  <a:pt x="6562615" y="0"/>
                </a:lnTo>
                <a:lnTo>
                  <a:pt x="6562615" y="1067973"/>
                </a:lnTo>
                <a:lnTo>
                  <a:pt x="0" y="1067973"/>
                </a:lnTo>
                <a:lnTo>
                  <a:pt x="0" y="0"/>
                </a:lnTo>
                <a:close/>
              </a:path>
            </a:pathLst>
          </a:custGeom>
          <a:blipFill>
            <a:blip r:embed="rId6"/>
            <a:stretch>
              <a:fillRect l="-283" r="-283"/>
            </a:stretch>
          </a:blipFill>
        </p:spPr>
        <p:txBody>
          <a:bodyPr/>
          <a:lstStyle/>
          <a:p>
            <a:endParaRPr lang="en-US"/>
          </a:p>
        </p:txBody>
      </p:sp>
      <p:sp>
        <p:nvSpPr>
          <p:cNvPr id="16" name="TextBox 16"/>
          <p:cNvSpPr txBox="1"/>
          <p:nvPr/>
        </p:nvSpPr>
        <p:spPr>
          <a:xfrm>
            <a:off x="2554559" y="1102358"/>
            <a:ext cx="14926732" cy="901700"/>
          </a:xfrm>
          <a:prstGeom prst="rect">
            <a:avLst/>
          </a:prstGeom>
        </p:spPr>
        <p:txBody>
          <a:bodyPr lIns="0" tIns="0" rIns="0" bIns="0" rtlCol="0" anchor="t">
            <a:spAutoFit/>
          </a:bodyPr>
          <a:lstStyle/>
          <a:p>
            <a:pPr algn="l">
              <a:lnSpc>
                <a:spcPts val="7000"/>
              </a:lnSpc>
              <a:spcBef>
                <a:spcPct val="0"/>
              </a:spcBef>
            </a:pPr>
            <a:r>
              <a:rPr lang="en-US" sz="5000" b="1">
                <a:solidFill>
                  <a:srgbClr val="FFFFFF"/>
                </a:solidFill>
                <a:latin typeface="Poppins Ultra-Bold"/>
                <a:ea typeface="Poppins Ultra-Bold"/>
                <a:cs typeface="Poppins Ultra-Bold"/>
                <a:sym typeface="Poppins Ultra-Bold"/>
              </a:rPr>
              <a:t>Dual-Path Shared Representation Learning</a:t>
            </a:r>
          </a:p>
        </p:txBody>
      </p:sp>
      <p:sp>
        <p:nvSpPr>
          <p:cNvPr id="17" name="TextBox 17"/>
          <p:cNvSpPr txBox="1"/>
          <p:nvPr/>
        </p:nvSpPr>
        <p:spPr>
          <a:xfrm>
            <a:off x="1028700" y="2564958"/>
            <a:ext cx="16230600" cy="1317625"/>
          </a:xfrm>
          <a:prstGeom prst="rect">
            <a:avLst/>
          </a:prstGeom>
        </p:spPr>
        <p:txBody>
          <a:bodyPr lIns="0" tIns="0" rIns="0" bIns="0" rtlCol="0" anchor="t">
            <a:spAutoFit/>
          </a:bodyPr>
          <a:lstStyle/>
          <a:p>
            <a:pPr marL="539749" lvl="1" indent="-269875" algn="l">
              <a:lnSpc>
                <a:spcPts val="3499"/>
              </a:lnSpc>
              <a:buFont typeface="Arial"/>
              <a:buChar char="•"/>
            </a:pPr>
            <a:r>
              <a:rPr lang="en-US" sz="2499" b="1">
                <a:solidFill>
                  <a:srgbClr val="000000"/>
                </a:solidFill>
                <a:latin typeface="Poppins Bold"/>
                <a:ea typeface="Poppins Bold"/>
                <a:cs typeface="Poppins Bold"/>
                <a:sym typeface="Poppins Bold"/>
              </a:rPr>
              <a:t>Core Concept</a:t>
            </a:r>
            <a:r>
              <a:rPr lang="en-US" sz="2499">
                <a:solidFill>
                  <a:srgbClr val="000000"/>
                </a:solidFill>
                <a:latin typeface="Poppins"/>
                <a:ea typeface="Poppins"/>
                <a:cs typeface="Poppins"/>
                <a:sym typeface="Poppins"/>
              </a:rPr>
              <a:t>: Separates and then fuses two pathways</a:t>
            </a:r>
          </a:p>
          <a:p>
            <a:pPr marL="1079499" lvl="2" indent="-359833" algn="l">
              <a:lnSpc>
                <a:spcPts val="3499"/>
              </a:lnSpc>
              <a:buFont typeface="Arial"/>
              <a:buChar char="⚬"/>
            </a:pPr>
            <a:r>
              <a:rPr lang="en-US" sz="2499" b="1">
                <a:solidFill>
                  <a:srgbClr val="000000"/>
                </a:solidFill>
                <a:latin typeface="Poppins Bold"/>
                <a:ea typeface="Poppins Bold"/>
                <a:cs typeface="Poppins Bold"/>
                <a:sym typeface="Poppins Bold"/>
              </a:rPr>
              <a:t>Price Pathway</a:t>
            </a:r>
            <a:r>
              <a:rPr lang="en-US" sz="2499">
                <a:solidFill>
                  <a:srgbClr val="000000"/>
                </a:solidFill>
                <a:latin typeface="Poppins"/>
                <a:ea typeface="Poppins"/>
                <a:cs typeface="Poppins"/>
                <a:sym typeface="Poppins"/>
              </a:rPr>
              <a:t>: Captures technical signals from historical price data. </a:t>
            </a:r>
          </a:p>
          <a:p>
            <a:pPr marL="1079499" lvl="2" indent="-359833" algn="l">
              <a:lnSpc>
                <a:spcPts val="3499"/>
              </a:lnSpc>
              <a:buFont typeface="Arial"/>
              <a:buChar char="⚬"/>
            </a:pPr>
            <a:r>
              <a:rPr lang="en-US" sz="2499" b="1">
                <a:solidFill>
                  <a:srgbClr val="000000"/>
                </a:solidFill>
                <a:latin typeface="Poppins Bold"/>
                <a:ea typeface="Poppins Bold"/>
                <a:cs typeface="Poppins Bold"/>
                <a:sym typeface="Poppins Bold"/>
              </a:rPr>
              <a:t>Text Pathway</a:t>
            </a:r>
            <a:r>
              <a:rPr lang="en-US" sz="2499">
                <a:solidFill>
                  <a:srgbClr val="000000"/>
                </a:solidFill>
                <a:latin typeface="Poppins"/>
                <a:ea typeface="Poppins"/>
                <a:cs typeface="Poppins"/>
                <a:sym typeface="Poppins"/>
              </a:rPr>
              <a:t>: Captures causal influence from news and textual content.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57135" y="1028700"/>
            <a:ext cx="15727124" cy="1543050"/>
            <a:chOff x="0" y="0"/>
            <a:chExt cx="4142123" cy="406400"/>
          </a:xfrm>
        </p:grpSpPr>
        <p:sp>
          <p:nvSpPr>
            <p:cNvPr id="3" name="Freeform 3"/>
            <p:cNvSpPr/>
            <p:nvPr/>
          </p:nvSpPr>
          <p:spPr>
            <a:xfrm>
              <a:off x="0" y="0"/>
              <a:ext cx="4142123" cy="406400"/>
            </a:xfrm>
            <a:custGeom>
              <a:avLst/>
              <a:gdLst/>
              <a:ahLst/>
              <a:cxnLst/>
              <a:rect l="l" t="t" r="r" b="b"/>
              <a:pathLst>
                <a:path w="4142123" h="406400">
                  <a:moveTo>
                    <a:pt x="0" y="0"/>
                  </a:moveTo>
                  <a:lnTo>
                    <a:pt x="4142123" y="0"/>
                  </a:lnTo>
                  <a:lnTo>
                    <a:pt x="4142123" y="406400"/>
                  </a:lnTo>
                  <a:lnTo>
                    <a:pt x="0" y="406400"/>
                  </a:lnTo>
                  <a:close/>
                </a:path>
              </a:pathLst>
            </a:custGeom>
            <a:solidFill>
              <a:srgbClr val="122029"/>
            </a:solidFill>
          </p:spPr>
          <p:txBody>
            <a:bodyPr/>
            <a:lstStyle/>
            <a:p>
              <a:endParaRPr lang="en-US"/>
            </a:p>
          </p:txBody>
        </p:sp>
        <p:sp>
          <p:nvSpPr>
            <p:cNvPr id="4" name="TextBox 4"/>
            <p:cNvSpPr txBox="1"/>
            <p:nvPr/>
          </p:nvSpPr>
          <p:spPr>
            <a:xfrm>
              <a:off x="0" y="-57150"/>
              <a:ext cx="4142123"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7668865">
            <a:off x="14191519" y="-318717"/>
            <a:ext cx="4868099" cy="1199632"/>
            <a:chOff x="0" y="0"/>
            <a:chExt cx="1282133" cy="315952"/>
          </a:xfrm>
        </p:grpSpPr>
        <p:sp>
          <p:nvSpPr>
            <p:cNvPr id="6" name="Freeform 6"/>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7" name="TextBox 7"/>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28700" y="1028700"/>
            <a:ext cx="697472" cy="1543050"/>
            <a:chOff x="0" y="0"/>
            <a:chExt cx="183696" cy="406400"/>
          </a:xfrm>
        </p:grpSpPr>
        <p:sp>
          <p:nvSpPr>
            <p:cNvPr id="9" name="Freeform 9"/>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10" name="TextBox 10"/>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4206910" y="9088949"/>
            <a:ext cx="10226080" cy="805691"/>
          </a:xfrm>
          <a:custGeom>
            <a:avLst/>
            <a:gdLst/>
            <a:ahLst/>
            <a:cxnLst/>
            <a:rect l="l" t="t" r="r" b="b"/>
            <a:pathLst>
              <a:path w="10226080" h="805691">
                <a:moveTo>
                  <a:pt x="0" y="0"/>
                </a:moveTo>
                <a:lnTo>
                  <a:pt x="10226080" y="0"/>
                </a:lnTo>
                <a:lnTo>
                  <a:pt x="10226080" y="805691"/>
                </a:lnTo>
                <a:lnTo>
                  <a:pt x="0" y="805691"/>
                </a:lnTo>
                <a:lnTo>
                  <a:pt x="0" y="0"/>
                </a:lnTo>
                <a:close/>
              </a:path>
            </a:pathLst>
          </a:custGeom>
          <a:blipFill>
            <a:blip r:embed="rId3"/>
            <a:stretch>
              <a:fillRect l="-387" r="-387"/>
            </a:stretch>
          </a:blipFill>
        </p:spPr>
        <p:txBody>
          <a:bodyPr/>
          <a:lstStyle/>
          <a:p>
            <a:endParaRPr lang="en-US"/>
          </a:p>
        </p:txBody>
      </p:sp>
      <p:sp>
        <p:nvSpPr>
          <p:cNvPr id="12" name="Freeform 12"/>
          <p:cNvSpPr/>
          <p:nvPr/>
        </p:nvSpPr>
        <p:spPr>
          <a:xfrm>
            <a:off x="4371982" y="6897116"/>
            <a:ext cx="9892773" cy="2391144"/>
          </a:xfrm>
          <a:custGeom>
            <a:avLst/>
            <a:gdLst/>
            <a:ahLst/>
            <a:cxnLst/>
            <a:rect l="l" t="t" r="r" b="b"/>
            <a:pathLst>
              <a:path w="9892773" h="2391144">
                <a:moveTo>
                  <a:pt x="0" y="0"/>
                </a:moveTo>
                <a:lnTo>
                  <a:pt x="9892772" y="0"/>
                </a:lnTo>
                <a:lnTo>
                  <a:pt x="9892772" y="2391144"/>
                </a:lnTo>
                <a:lnTo>
                  <a:pt x="0" y="2391144"/>
                </a:lnTo>
                <a:lnTo>
                  <a:pt x="0" y="0"/>
                </a:lnTo>
                <a:close/>
              </a:path>
            </a:pathLst>
          </a:custGeom>
          <a:blipFill>
            <a:blip r:embed="rId4"/>
            <a:stretch>
              <a:fillRect t="-164" b="-164"/>
            </a:stretch>
          </a:blipFill>
        </p:spPr>
        <p:txBody>
          <a:bodyPr/>
          <a:lstStyle/>
          <a:p>
            <a:endParaRPr lang="en-US"/>
          </a:p>
        </p:txBody>
      </p:sp>
      <p:sp>
        <p:nvSpPr>
          <p:cNvPr id="13" name="Freeform 13"/>
          <p:cNvSpPr/>
          <p:nvPr/>
        </p:nvSpPr>
        <p:spPr>
          <a:xfrm rot="2299266">
            <a:off x="29065" y="8796359"/>
            <a:ext cx="1999271" cy="585179"/>
          </a:xfrm>
          <a:custGeom>
            <a:avLst/>
            <a:gdLst/>
            <a:ahLst/>
            <a:cxnLst/>
            <a:rect l="l" t="t" r="r" b="b"/>
            <a:pathLst>
              <a:path w="1999271" h="585179">
                <a:moveTo>
                  <a:pt x="0" y="0"/>
                </a:moveTo>
                <a:lnTo>
                  <a:pt x="1999270" y="0"/>
                </a:lnTo>
                <a:lnTo>
                  <a:pt x="1999270" y="585179"/>
                </a:lnTo>
                <a:lnTo>
                  <a:pt x="0" y="58517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4" name="Freeform 14"/>
          <p:cNvSpPr/>
          <p:nvPr/>
        </p:nvSpPr>
        <p:spPr>
          <a:xfrm>
            <a:off x="7089235" y="5032886"/>
            <a:ext cx="4458266" cy="789485"/>
          </a:xfrm>
          <a:custGeom>
            <a:avLst/>
            <a:gdLst/>
            <a:ahLst/>
            <a:cxnLst/>
            <a:rect l="l" t="t" r="r" b="b"/>
            <a:pathLst>
              <a:path w="4458266" h="789485">
                <a:moveTo>
                  <a:pt x="0" y="0"/>
                </a:moveTo>
                <a:lnTo>
                  <a:pt x="4458266" y="0"/>
                </a:lnTo>
                <a:lnTo>
                  <a:pt x="4458266" y="789485"/>
                </a:lnTo>
                <a:lnTo>
                  <a:pt x="0" y="789485"/>
                </a:lnTo>
                <a:lnTo>
                  <a:pt x="0" y="0"/>
                </a:lnTo>
                <a:close/>
              </a:path>
            </a:pathLst>
          </a:custGeom>
          <a:blipFill>
            <a:blip r:embed="rId7"/>
            <a:stretch>
              <a:fillRect l="-7588" r="-7588"/>
            </a:stretch>
          </a:blipFill>
        </p:spPr>
        <p:txBody>
          <a:bodyPr/>
          <a:lstStyle/>
          <a:p>
            <a:endParaRPr lang="en-US"/>
          </a:p>
        </p:txBody>
      </p:sp>
      <p:sp>
        <p:nvSpPr>
          <p:cNvPr id="15" name="TextBox 15"/>
          <p:cNvSpPr txBox="1"/>
          <p:nvPr/>
        </p:nvSpPr>
        <p:spPr>
          <a:xfrm>
            <a:off x="2554559" y="1102358"/>
            <a:ext cx="14926732" cy="901700"/>
          </a:xfrm>
          <a:prstGeom prst="rect">
            <a:avLst/>
          </a:prstGeom>
        </p:spPr>
        <p:txBody>
          <a:bodyPr lIns="0" tIns="0" rIns="0" bIns="0" rtlCol="0" anchor="t">
            <a:spAutoFit/>
          </a:bodyPr>
          <a:lstStyle/>
          <a:p>
            <a:pPr algn="l">
              <a:lnSpc>
                <a:spcPts val="7000"/>
              </a:lnSpc>
              <a:spcBef>
                <a:spcPct val="0"/>
              </a:spcBef>
            </a:pPr>
            <a:r>
              <a:rPr lang="en-US" sz="5000" b="1">
                <a:solidFill>
                  <a:srgbClr val="FFFFFF"/>
                </a:solidFill>
                <a:latin typeface="Poppins Ultra-Bold"/>
                <a:ea typeface="Poppins Ultra-Bold"/>
                <a:cs typeface="Poppins Ultra-Bold"/>
                <a:sym typeface="Poppins Ultra-Bold"/>
              </a:rPr>
              <a:t>Dual-Path Shared Representation Learning</a:t>
            </a:r>
          </a:p>
        </p:txBody>
      </p:sp>
      <p:sp>
        <p:nvSpPr>
          <p:cNvPr id="16" name="TextBox 16"/>
          <p:cNvSpPr txBox="1"/>
          <p:nvPr/>
        </p:nvSpPr>
        <p:spPr>
          <a:xfrm>
            <a:off x="1028700" y="2954435"/>
            <a:ext cx="16655559" cy="879475"/>
          </a:xfrm>
          <a:prstGeom prst="rect">
            <a:avLst/>
          </a:prstGeom>
        </p:spPr>
        <p:txBody>
          <a:bodyPr lIns="0" tIns="0" rIns="0" bIns="0" rtlCol="0" anchor="t">
            <a:spAutoFit/>
          </a:bodyPr>
          <a:lstStyle/>
          <a:p>
            <a:pPr marL="539746" lvl="1" indent="-269873" algn="l">
              <a:lnSpc>
                <a:spcPts val="3499"/>
              </a:lnSpc>
              <a:buFont typeface="Arial"/>
              <a:buChar char="•"/>
            </a:pPr>
            <a:r>
              <a:rPr lang="en-US" sz="2499" b="1">
                <a:solidFill>
                  <a:srgbClr val="000000"/>
                </a:solidFill>
                <a:latin typeface="Poppins Bold"/>
                <a:ea typeface="Poppins Bold"/>
                <a:cs typeface="Poppins Bold"/>
                <a:sym typeface="Poppins Bold"/>
              </a:rPr>
              <a:t>Pathways Fusion</a:t>
            </a:r>
            <a:r>
              <a:rPr lang="en-US" sz="2499">
                <a:solidFill>
                  <a:srgbClr val="000000"/>
                </a:solidFill>
                <a:latin typeface="Poppins"/>
                <a:ea typeface="Poppins"/>
                <a:cs typeface="Poppins"/>
                <a:sym typeface="Poppins"/>
              </a:rPr>
              <a:t>: Adaptive gated fusion combines h_TD and h_PD into shared hidden state h_t, equations:</a:t>
            </a:r>
          </a:p>
        </p:txBody>
      </p:sp>
      <p:sp>
        <p:nvSpPr>
          <p:cNvPr id="17" name="TextBox 17"/>
          <p:cNvSpPr txBox="1"/>
          <p:nvPr/>
        </p:nvSpPr>
        <p:spPr>
          <a:xfrm>
            <a:off x="1377436" y="3938008"/>
            <a:ext cx="15881864" cy="879475"/>
          </a:xfrm>
          <a:prstGeom prst="rect">
            <a:avLst/>
          </a:prstGeom>
        </p:spPr>
        <p:txBody>
          <a:bodyPr lIns="0" tIns="0" rIns="0" bIns="0" rtlCol="0" anchor="t">
            <a:spAutoFit/>
          </a:bodyPr>
          <a:lstStyle/>
          <a:p>
            <a:pPr marL="1079492" lvl="2" indent="-359831" algn="ctr">
              <a:lnSpc>
                <a:spcPts val="3499"/>
              </a:lnSpc>
              <a:buFont typeface="Arial"/>
              <a:buChar char="⚬"/>
            </a:pPr>
            <a:r>
              <a:rPr lang="en-US" sz="2499" b="1">
                <a:solidFill>
                  <a:srgbClr val="000000"/>
                </a:solidFill>
                <a:latin typeface="Poppins Bold"/>
                <a:ea typeface="Poppins Bold"/>
                <a:cs typeface="Poppins Bold"/>
                <a:sym typeface="Poppins Bold"/>
              </a:rPr>
              <a:t>Context Sharing: </a:t>
            </a:r>
            <a:r>
              <a:rPr lang="en-US" sz="2499">
                <a:solidFill>
                  <a:srgbClr val="000000"/>
                </a:solidFill>
                <a:latin typeface="Poppins"/>
                <a:ea typeface="Poppins"/>
                <a:cs typeface="Poppins"/>
                <a:sym typeface="Poppins"/>
              </a:rPr>
              <a:t>creates a context that combines the current day’s input data  includes both price and text information) with the previous day’s overall understanding (hidden state)</a:t>
            </a:r>
          </a:p>
        </p:txBody>
      </p:sp>
      <p:sp>
        <p:nvSpPr>
          <p:cNvPr id="18" name="TextBox 18"/>
          <p:cNvSpPr txBox="1"/>
          <p:nvPr/>
        </p:nvSpPr>
        <p:spPr>
          <a:xfrm>
            <a:off x="1377436" y="5971098"/>
            <a:ext cx="15881864" cy="1317625"/>
          </a:xfrm>
          <a:prstGeom prst="rect">
            <a:avLst/>
          </a:prstGeom>
        </p:spPr>
        <p:txBody>
          <a:bodyPr lIns="0" tIns="0" rIns="0" bIns="0" rtlCol="0" anchor="t">
            <a:spAutoFit/>
          </a:bodyPr>
          <a:lstStyle/>
          <a:p>
            <a:pPr marL="1079492" lvl="2" indent="-359831" algn="l">
              <a:lnSpc>
                <a:spcPts val="3499"/>
              </a:lnSpc>
              <a:buFont typeface="Arial"/>
              <a:buChar char="⚬"/>
            </a:pPr>
            <a:r>
              <a:rPr lang="en-US" sz="2499" b="1">
                <a:solidFill>
                  <a:srgbClr val="000000"/>
                </a:solidFill>
                <a:latin typeface="Poppins Bold"/>
                <a:ea typeface="Poppins Bold"/>
                <a:cs typeface="Poppins Bold"/>
                <a:sym typeface="Poppins Bold"/>
              </a:rPr>
              <a:t>Computing Importance Weights (Gates): </a:t>
            </a:r>
            <a:r>
              <a:rPr lang="en-US" sz="2499">
                <a:solidFill>
                  <a:srgbClr val="000000"/>
                </a:solidFill>
                <a:latin typeface="Poppins"/>
                <a:ea typeface="Poppins"/>
                <a:cs typeface="Poppins"/>
                <a:sym typeface="Poppins"/>
              </a:rPr>
              <a:t>determine how much each path (price, causal text, and responsive text) should influence the final prediction</a:t>
            </a:r>
          </a:p>
          <a:p>
            <a:pPr algn="l">
              <a:lnSpc>
                <a:spcPts val="3499"/>
              </a:lnSpc>
            </a:pPr>
            <a:endParaRPr lang="en-US" sz="2499">
              <a:solidFill>
                <a:srgbClr val="000000"/>
              </a:solidFill>
              <a:latin typeface="Poppins"/>
              <a:ea typeface="Poppins"/>
              <a:cs typeface="Poppins"/>
              <a:sym typeface="Poppins"/>
            </a:endParaRPr>
          </a:p>
        </p:txBody>
      </p:sp>
      <p:sp>
        <p:nvSpPr>
          <p:cNvPr id="19" name="TextBox 19"/>
          <p:cNvSpPr txBox="1"/>
          <p:nvPr/>
        </p:nvSpPr>
        <p:spPr>
          <a:xfrm>
            <a:off x="2137195" y="9231167"/>
            <a:ext cx="2234786" cy="441325"/>
          </a:xfrm>
          <a:prstGeom prst="rect">
            <a:avLst/>
          </a:prstGeom>
        </p:spPr>
        <p:txBody>
          <a:bodyPr lIns="0" tIns="0" rIns="0" bIns="0" rtlCol="0" anchor="t">
            <a:spAutoFit/>
          </a:bodyPr>
          <a:lstStyle/>
          <a:p>
            <a:pPr algn="l">
              <a:lnSpc>
                <a:spcPts val="3499"/>
              </a:lnSpc>
            </a:pPr>
            <a:r>
              <a:rPr lang="en-US" sz="2499" b="1">
                <a:solidFill>
                  <a:srgbClr val="000000"/>
                </a:solidFill>
                <a:latin typeface="Poppins Bold"/>
                <a:ea typeface="Poppins Bold"/>
                <a:cs typeface="Poppins Bold"/>
                <a:sym typeface="Poppins Bold"/>
              </a:rPr>
              <a:t>Final Fusion: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57135" y="1028700"/>
            <a:ext cx="15806745" cy="1543050"/>
            <a:chOff x="0" y="0"/>
            <a:chExt cx="4163093" cy="406400"/>
          </a:xfrm>
        </p:grpSpPr>
        <p:sp>
          <p:nvSpPr>
            <p:cNvPr id="3" name="Freeform 3"/>
            <p:cNvSpPr/>
            <p:nvPr/>
          </p:nvSpPr>
          <p:spPr>
            <a:xfrm>
              <a:off x="0" y="0"/>
              <a:ext cx="4163094" cy="406400"/>
            </a:xfrm>
            <a:custGeom>
              <a:avLst/>
              <a:gdLst/>
              <a:ahLst/>
              <a:cxnLst/>
              <a:rect l="l" t="t" r="r" b="b"/>
              <a:pathLst>
                <a:path w="4163094" h="406400">
                  <a:moveTo>
                    <a:pt x="0" y="0"/>
                  </a:moveTo>
                  <a:lnTo>
                    <a:pt x="4163094" y="0"/>
                  </a:lnTo>
                  <a:lnTo>
                    <a:pt x="4163094" y="406400"/>
                  </a:lnTo>
                  <a:lnTo>
                    <a:pt x="0" y="406400"/>
                  </a:lnTo>
                  <a:close/>
                </a:path>
              </a:pathLst>
            </a:custGeom>
            <a:solidFill>
              <a:srgbClr val="122029"/>
            </a:solidFill>
          </p:spPr>
          <p:txBody>
            <a:bodyPr/>
            <a:lstStyle/>
            <a:p>
              <a:endParaRPr lang="en-US"/>
            </a:p>
          </p:txBody>
        </p:sp>
        <p:sp>
          <p:nvSpPr>
            <p:cNvPr id="4" name="TextBox 4"/>
            <p:cNvSpPr txBox="1"/>
            <p:nvPr/>
          </p:nvSpPr>
          <p:spPr>
            <a:xfrm>
              <a:off x="0" y="-57150"/>
              <a:ext cx="4163093"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7668865">
            <a:off x="14297032" y="-318717"/>
            <a:ext cx="4868099" cy="1199632"/>
            <a:chOff x="0" y="0"/>
            <a:chExt cx="1282133" cy="315952"/>
          </a:xfrm>
        </p:grpSpPr>
        <p:sp>
          <p:nvSpPr>
            <p:cNvPr id="6" name="Freeform 6"/>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7" name="TextBox 7"/>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28700" y="1028700"/>
            <a:ext cx="697472" cy="1543050"/>
            <a:chOff x="0" y="0"/>
            <a:chExt cx="183696" cy="406400"/>
          </a:xfrm>
        </p:grpSpPr>
        <p:sp>
          <p:nvSpPr>
            <p:cNvPr id="9" name="Freeform 9"/>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10" name="TextBox 10"/>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1028700" y="3807229"/>
            <a:ext cx="12013379" cy="5451071"/>
          </a:xfrm>
          <a:custGeom>
            <a:avLst/>
            <a:gdLst/>
            <a:ahLst/>
            <a:cxnLst/>
            <a:rect l="l" t="t" r="r" b="b"/>
            <a:pathLst>
              <a:path w="12013379" h="5451071">
                <a:moveTo>
                  <a:pt x="0" y="0"/>
                </a:moveTo>
                <a:lnTo>
                  <a:pt x="12013379" y="0"/>
                </a:lnTo>
                <a:lnTo>
                  <a:pt x="12013379" y="5451071"/>
                </a:lnTo>
                <a:lnTo>
                  <a:pt x="0" y="5451071"/>
                </a:lnTo>
                <a:lnTo>
                  <a:pt x="0" y="0"/>
                </a:lnTo>
                <a:close/>
              </a:path>
            </a:pathLst>
          </a:custGeom>
          <a:blipFill>
            <a:blip r:embed="rId3"/>
            <a:stretch>
              <a:fillRect/>
            </a:stretch>
          </a:blipFill>
        </p:spPr>
        <p:txBody>
          <a:bodyPr/>
          <a:lstStyle/>
          <a:p>
            <a:endParaRPr lang="en-US"/>
          </a:p>
        </p:txBody>
      </p:sp>
      <p:sp>
        <p:nvSpPr>
          <p:cNvPr id="12" name="TextBox 12"/>
          <p:cNvSpPr txBox="1"/>
          <p:nvPr/>
        </p:nvSpPr>
        <p:spPr>
          <a:xfrm>
            <a:off x="1028700" y="2775354"/>
            <a:ext cx="15702381" cy="717550"/>
          </a:xfrm>
          <a:prstGeom prst="rect">
            <a:avLst/>
          </a:prstGeom>
        </p:spPr>
        <p:txBody>
          <a:bodyPr lIns="0" tIns="0" rIns="0" bIns="0" rtlCol="0" anchor="t">
            <a:spAutoFit/>
          </a:bodyPr>
          <a:lstStyle/>
          <a:p>
            <a:pPr algn="l">
              <a:lnSpc>
                <a:spcPts val="5599"/>
              </a:lnSpc>
              <a:spcBef>
                <a:spcPct val="0"/>
              </a:spcBef>
            </a:pPr>
            <a:r>
              <a:rPr lang="en-US" sz="3999" b="1">
                <a:solidFill>
                  <a:srgbClr val="86B4C4"/>
                </a:solidFill>
                <a:latin typeface="Poppins Bold"/>
                <a:ea typeface="Poppins Bold"/>
                <a:cs typeface="Poppins Bold"/>
                <a:sym typeface="Poppins Bold"/>
              </a:rPr>
              <a:t>An example of how DP-SRL works</a:t>
            </a:r>
          </a:p>
        </p:txBody>
      </p:sp>
      <p:sp>
        <p:nvSpPr>
          <p:cNvPr id="13" name="TextBox 13"/>
          <p:cNvSpPr txBox="1"/>
          <p:nvPr/>
        </p:nvSpPr>
        <p:spPr>
          <a:xfrm>
            <a:off x="2554559" y="1102358"/>
            <a:ext cx="14926732" cy="901700"/>
          </a:xfrm>
          <a:prstGeom prst="rect">
            <a:avLst/>
          </a:prstGeom>
        </p:spPr>
        <p:txBody>
          <a:bodyPr lIns="0" tIns="0" rIns="0" bIns="0" rtlCol="0" anchor="t">
            <a:spAutoFit/>
          </a:bodyPr>
          <a:lstStyle/>
          <a:p>
            <a:pPr algn="l">
              <a:lnSpc>
                <a:spcPts val="7000"/>
              </a:lnSpc>
              <a:spcBef>
                <a:spcPct val="0"/>
              </a:spcBef>
            </a:pPr>
            <a:r>
              <a:rPr lang="en-US" sz="5000" b="1">
                <a:solidFill>
                  <a:srgbClr val="FFFFFF"/>
                </a:solidFill>
                <a:latin typeface="Poppins Ultra-Bold"/>
                <a:ea typeface="Poppins Ultra-Bold"/>
                <a:cs typeface="Poppins Ultra-Bold"/>
                <a:sym typeface="Poppins Ultra-Bold"/>
              </a:rPr>
              <a:t>Dual-Path Shared Representation Learning</a:t>
            </a:r>
          </a:p>
        </p:txBody>
      </p:sp>
      <p:sp>
        <p:nvSpPr>
          <p:cNvPr id="14" name="TextBox 14"/>
          <p:cNvSpPr txBox="1"/>
          <p:nvPr/>
        </p:nvSpPr>
        <p:spPr>
          <a:xfrm>
            <a:off x="12937262" y="3641999"/>
            <a:ext cx="4977705" cy="5699125"/>
          </a:xfrm>
          <a:prstGeom prst="rect">
            <a:avLst/>
          </a:prstGeom>
        </p:spPr>
        <p:txBody>
          <a:bodyPr lIns="0" tIns="0" rIns="0" bIns="0" rtlCol="0" anchor="t">
            <a:spAutoFit/>
          </a:bodyPr>
          <a:lstStyle/>
          <a:p>
            <a:pPr marL="539746" lvl="1" indent="-269873" algn="l">
              <a:lnSpc>
                <a:spcPts val="3499"/>
              </a:lnSpc>
              <a:buFont typeface="Arial"/>
              <a:buChar char="•"/>
            </a:pPr>
            <a:r>
              <a:rPr lang="en-US" sz="2499">
                <a:solidFill>
                  <a:srgbClr val="000000"/>
                </a:solidFill>
                <a:latin typeface="Poppins"/>
                <a:ea typeface="Poppins"/>
                <a:cs typeface="Poppins"/>
                <a:sym typeface="Poppins"/>
              </a:rPr>
              <a:t>P_causal indicates the model’s belief that a message could influence future prices.</a:t>
            </a:r>
          </a:p>
          <a:p>
            <a:pPr marL="539746" lvl="1" indent="-269873" algn="l">
              <a:lnSpc>
                <a:spcPts val="3499"/>
              </a:lnSpc>
              <a:buFont typeface="Arial"/>
              <a:buChar char="•"/>
            </a:pPr>
            <a:r>
              <a:rPr lang="en-US" sz="2499">
                <a:solidFill>
                  <a:srgbClr val="000000"/>
                </a:solidFill>
                <a:latin typeface="Poppins"/>
                <a:ea typeface="Poppins"/>
                <a:cs typeface="Poppins"/>
                <a:sym typeface="Poppins"/>
              </a:rPr>
              <a:t>P_resp indicates the model’s belief that a message reflects or explains past price movements.</a:t>
            </a:r>
          </a:p>
          <a:p>
            <a:pPr marL="539746" lvl="1" indent="-269873" algn="l">
              <a:lnSpc>
                <a:spcPts val="3499"/>
              </a:lnSpc>
              <a:buFont typeface="Arial"/>
              <a:buChar char="•"/>
            </a:pPr>
            <a:r>
              <a:rPr lang="en-US" sz="2499">
                <a:solidFill>
                  <a:srgbClr val="000000"/>
                </a:solidFill>
                <a:latin typeface="Poppins"/>
                <a:ea typeface="Poppins"/>
                <a:cs typeface="Poppins"/>
                <a:sym typeface="Poppins"/>
              </a:rPr>
              <a:t>These attention values are normalized over all messages at a given time step (softmax output)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57135" y="1028700"/>
            <a:ext cx="14007306" cy="1543050"/>
            <a:chOff x="0" y="0"/>
            <a:chExt cx="3689167" cy="406400"/>
          </a:xfrm>
        </p:grpSpPr>
        <p:sp>
          <p:nvSpPr>
            <p:cNvPr id="3" name="Freeform 3"/>
            <p:cNvSpPr/>
            <p:nvPr/>
          </p:nvSpPr>
          <p:spPr>
            <a:xfrm>
              <a:off x="0" y="0"/>
              <a:ext cx="3689167" cy="406400"/>
            </a:xfrm>
            <a:custGeom>
              <a:avLst/>
              <a:gdLst/>
              <a:ahLst/>
              <a:cxnLst/>
              <a:rect l="l" t="t" r="r" b="b"/>
              <a:pathLst>
                <a:path w="3689167" h="406400">
                  <a:moveTo>
                    <a:pt x="0" y="0"/>
                  </a:moveTo>
                  <a:lnTo>
                    <a:pt x="3689167" y="0"/>
                  </a:lnTo>
                  <a:lnTo>
                    <a:pt x="3689167" y="406400"/>
                  </a:lnTo>
                  <a:lnTo>
                    <a:pt x="0" y="406400"/>
                  </a:lnTo>
                  <a:close/>
                </a:path>
              </a:pathLst>
            </a:custGeom>
            <a:solidFill>
              <a:srgbClr val="122029"/>
            </a:solidFill>
          </p:spPr>
          <p:txBody>
            <a:bodyPr/>
            <a:lstStyle/>
            <a:p>
              <a:endParaRPr lang="en-US"/>
            </a:p>
          </p:txBody>
        </p:sp>
        <p:sp>
          <p:nvSpPr>
            <p:cNvPr id="4" name="TextBox 4"/>
            <p:cNvSpPr txBox="1"/>
            <p:nvPr/>
          </p:nvSpPr>
          <p:spPr>
            <a:xfrm>
              <a:off x="0" y="-57150"/>
              <a:ext cx="3689167"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28700" y="1028700"/>
            <a:ext cx="697472" cy="1543050"/>
            <a:chOff x="0" y="0"/>
            <a:chExt cx="183696" cy="406400"/>
          </a:xfrm>
        </p:grpSpPr>
        <p:sp>
          <p:nvSpPr>
            <p:cNvPr id="6" name="Freeform 6"/>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7" name="TextBox 7"/>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028700" y="3559175"/>
            <a:ext cx="12323743" cy="6575425"/>
          </a:xfrm>
          <a:prstGeom prst="rect">
            <a:avLst/>
          </a:prstGeom>
        </p:spPr>
        <p:txBody>
          <a:bodyPr lIns="0" tIns="0" rIns="0" bIns="0" rtlCol="0" anchor="t">
            <a:spAutoFit/>
          </a:bodyPr>
          <a:lstStyle/>
          <a:p>
            <a:pPr marL="539749" lvl="1" indent="-269875" algn="l">
              <a:lnSpc>
                <a:spcPts val="3499"/>
              </a:lnSpc>
              <a:buAutoNum type="arabicPeriod"/>
            </a:pPr>
            <a:r>
              <a:rPr lang="en-US" sz="2499">
                <a:solidFill>
                  <a:srgbClr val="000000"/>
                </a:solidFill>
                <a:latin typeface="Poppins"/>
                <a:ea typeface="Poppins"/>
                <a:cs typeface="Poppins"/>
                <a:sym typeface="Poppins"/>
              </a:rPr>
              <a:t> Take stock price series and text (news, tweets) as input.</a:t>
            </a:r>
          </a:p>
          <a:p>
            <a:pPr marL="539749" lvl="1" indent="-269875" algn="l">
              <a:lnSpc>
                <a:spcPts val="3499"/>
              </a:lnSpc>
              <a:buAutoNum type="arabicPeriod"/>
            </a:pPr>
            <a:r>
              <a:rPr lang="en-US" sz="2499">
                <a:solidFill>
                  <a:srgbClr val="000000"/>
                </a:solidFill>
                <a:latin typeface="Poppins"/>
                <a:ea typeface="Poppins"/>
                <a:cs typeface="Poppins"/>
                <a:sym typeface="Poppins"/>
              </a:rPr>
              <a:t> Encode text using Bi-GRU to generate feature vector for each sentence.</a:t>
            </a:r>
          </a:p>
          <a:p>
            <a:pPr marL="539749" lvl="1" indent="-269875" algn="l">
              <a:lnSpc>
                <a:spcPts val="3499"/>
              </a:lnSpc>
              <a:buAutoNum type="arabicPeriod"/>
            </a:pPr>
            <a:r>
              <a:rPr lang="en-US" sz="2499">
                <a:solidFill>
                  <a:srgbClr val="000000"/>
                </a:solidFill>
                <a:latin typeface="Poppins"/>
                <a:ea typeface="Poppins"/>
                <a:cs typeface="Poppins"/>
                <a:sym typeface="Poppins"/>
              </a:rPr>
              <a:t> Processed through Dual-path Shared Representation Learning (DP-SRL)</a:t>
            </a:r>
          </a:p>
          <a:p>
            <a:pPr marL="1079499" lvl="2" indent="-359833" algn="l">
              <a:lnSpc>
                <a:spcPts val="3499"/>
              </a:lnSpc>
              <a:buAutoNum type="alphaLcPeriod"/>
            </a:pPr>
            <a:r>
              <a:rPr lang="en-US" sz="2499">
                <a:solidFill>
                  <a:srgbClr val="000000"/>
                </a:solidFill>
                <a:latin typeface="Poppins"/>
                <a:ea typeface="Poppins"/>
                <a:cs typeface="Poppins"/>
                <a:sym typeface="Poppins"/>
              </a:rPr>
              <a:t> Select causal text for Text Pathway using TSU/Ca-TSU and  for Price Pathways, calculate attention with queries are price vector, keys are texts to select responsive text .</a:t>
            </a:r>
          </a:p>
          <a:p>
            <a:pPr marL="1079499" lvl="2" indent="-359833" algn="l">
              <a:lnSpc>
                <a:spcPts val="3499"/>
              </a:lnSpc>
              <a:buAutoNum type="alphaLcPeriod"/>
            </a:pPr>
            <a:r>
              <a:rPr lang="en-US" sz="2499">
                <a:solidFill>
                  <a:srgbClr val="000000"/>
                </a:solidFill>
                <a:latin typeface="Poppins"/>
                <a:ea typeface="Poppins"/>
                <a:cs typeface="Poppins"/>
                <a:sym typeface="Poppins"/>
              </a:rPr>
              <a:t> Store text and price information over time using Text Memory Unit (TMU) for both pathways.</a:t>
            </a:r>
          </a:p>
          <a:p>
            <a:pPr marL="1079499" lvl="2" indent="-359833" algn="l">
              <a:lnSpc>
                <a:spcPts val="3499"/>
              </a:lnSpc>
              <a:buAutoNum type="alphaLcPeriod"/>
            </a:pPr>
            <a:r>
              <a:rPr lang="en-US" sz="2499">
                <a:solidFill>
                  <a:srgbClr val="000000"/>
                </a:solidFill>
                <a:latin typeface="Poppins"/>
                <a:ea typeface="Poppins"/>
                <a:cs typeface="Poppins"/>
                <a:sym typeface="Poppins"/>
              </a:rPr>
              <a:t> Use Cross-Path Communication (CPC) for context sharing</a:t>
            </a:r>
          </a:p>
          <a:p>
            <a:pPr marL="1079499" lvl="2" indent="-359833" algn="l">
              <a:lnSpc>
                <a:spcPts val="3499"/>
              </a:lnSpc>
              <a:buAutoNum type="alphaLcPeriod"/>
            </a:pPr>
            <a:r>
              <a:rPr lang="en-US" sz="2499">
                <a:solidFill>
                  <a:srgbClr val="000000"/>
                </a:solidFill>
                <a:latin typeface="Poppins"/>
                <a:ea typeface="Poppins"/>
                <a:cs typeface="Poppins"/>
                <a:sym typeface="Poppins"/>
              </a:rPr>
              <a:t> Combine two pathways into a common representation using Pathways Fusion Unit.</a:t>
            </a:r>
          </a:p>
          <a:p>
            <a:pPr marL="539749" lvl="1" indent="-269875" algn="l">
              <a:lnSpc>
                <a:spcPts val="3499"/>
              </a:lnSpc>
              <a:buAutoNum type="arabicPeriod"/>
            </a:pPr>
            <a:r>
              <a:rPr lang="en-US" sz="2499">
                <a:solidFill>
                  <a:srgbClr val="000000"/>
                </a:solidFill>
                <a:latin typeface="Poppins"/>
                <a:ea typeface="Poppins"/>
                <a:cs typeface="Poppins"/>
                <a:sym typeface="Poppins"/>
              </a:rPr>
              <a:t> Generate hidden variables and predict price movements using Variational Autoencoder (DRG).</a:t>
            </a:r>
          </a:p>
          <a:p>
            <a:pPr marL="539749" lvl="1" indent="-269875" algn="l">
              <a:lnSpc>
                <a:spcPts val="3499"/>
              </a:lnSpc>
              <a:buAutoNum type="arabicPeriod"/>
            </a:pPr>
            <a:r>
              <a:rPr lang="en-US" sz="2499">
                <a:solidFill>
                  <a:srgbClr val="000000"/>
                </a:solidFill>
                <a:latin typeface="Poppins"/>
                <a:ea typeface="Poppins"/>
                <a:cs typeface="Poppins"/>
                <a:sym typeface="Poppins"/>
              </a:rPr>
              <a:t> Use temporal attention (TAP) to generate final forecast from multiple days</a:t>
            </a:r>
          </a:p>
        </p:txBody>
      </p:sp>
      <p:sp>
        <p:nvSpPr>
          <p:cNvPr id="9" name="TextBox 9"/>
          <p:cNvSpPr txBox="1"/>
          <p:nvPr/>
        </p:nvSpPr>
        <p:spPr>
          <a:xfrm>
            <a:off x="2554559" y="1035683"/>
            <a:ext cx="12777907" cy="2614934"/>
          </a:xfrm>
          <a:prstGeom prst="rect">
            <a:avLst/>
          </a:prstGeom>
        </p:spPr>
        <p:txBody>
          <a:bodyPr lIns="0" tIns="0" rIns="0" bIns="0" rtlCol="0" anchor="t">
            <a:spAutoFit/>
          </a:bodyPr>
          <a:lstStyle/>
          <a:p>
            <a:pPr algn="l">
              <a:lnSpc>
                <a:spcPts val="10219"/>
              </a:lnSpc>
              <a:spcBef>
                <a:spcPct val="0"/>
              </a:spcBef>
            </a:pPr>
            <a:r>
              <a:rPr lang="en-US" sz="7299" b="1">
                <a:solidFill>
                  <a:srgbClr val="FFFFFF"/>
                </a:solidFill>
                <a:latin typeface="Poppins Ultra-Bold"/>
                <a:ea typeface="Poppins Ultra-Bold"/>
                <a:cs typeface="Poppins Ultra-Bold"/>
                <a:sym typeface="Poppins Ultra-Bold"/>
              </a:rPr>
              <a:t>Dual-Path Shared Representation Learning</a:t>
            </a:r>
          </a:p>
        </p:txBody>
      </p:sp>
      <p:sp>
        <p:nvSpPr>
          <p:cNvPr id="10" name="TextBox 10"/>
          <p:cNvSpPr txBox="1"/>
          <p:nvPr/>
        </p:nvSpPr>
        <p:spPr>
          <a:xfrm>
            <a:off x="1028700" y="2775354"/>
            <a:ext cx="15702381" cy="717550"/>
          </a:xfrm>
          <a:prstGeom prst="rect">
            <a:avLst/>
          </a:prstGeom>
        </p:spPr>
        <p:txBody>
          <a:bodyPr lIns="0" tIns="0" rIns="0" bIns="0" rtlCol="0" anchor="t">
            <a:spAutoFit/>
          </a:bodyPr>
          <a:lstStyle/>
          <a:p>
            <a:pPr algn="l">
              <a:lnSpc>
                <a:spcPts val="5599"/>
              </a:lnSpc>
              <a:spcBef>
                <a:spcPct val="0"/>
              </a:spcBef>
            </a:pPr>
            <a:r>
              <a:rPr lang="en-US" sz="3999" b="1">
                <a:solidFill>
                  <a:srgbClr val="86B4C4"/>
                </a:solidFill>
                <a:latin typeface="Poppins Ultra-Bold"/>
                <a:ea typeface="Poppins Ultra-Bold"/>
                <a:cs typeface="Poppins Ultra-Bold"/>
                <a:sym typeface="Poppins Ultra-Bold"/>
              </a:rPr>
              <a:t>Step in DP-PEN model</a:t>
            </a:r>
          </a:p>
        </p:txBody>
      </p:sp>
      <p:grpSp>
        <p:nvGrpSpPr>
          <p:cNvPr id="11" name="Group 11"/>
          <p:cNvGrpSpPr/>
          <p:nvPr/>
        </p:nvGrpSpPr>
        <p:grpSpPr>
          <a:xfrm>
            <a:off x="1957135" y="1028700"/>
            <a:ext cx="15727124" cy="1543050"/>
            <a:chOff x="0" y="0"/>
            <a:chExt cx="4142123" cy="406400"/>
          </a:xfrm>
        </p:grpSpPr>
        <p:sp>
          <p:nvSpPr>
            <p:cNvPr id="12" name="Freeform 12"/>
            <p:cNvSpPr/>
            <p:nvPr/>
          </p:nvSpPr>
          <p:spPr>
            <a:xfrm>
              <a:off x="0" y="0"/>
              <a:ext cx="4142123" cy="406400"/>
            </a:xfrm>
            <a:custGeom>
              <a:avLst/>
              <a:gdLst/>
              <a:ahLst/>
              <a:cxnLst/>
              <a:rect l="l" t="t" r="r" b="b"/>
              <a:pathLst>
                <a:path w="4142123" h="406400">
                  <a:moveTo>
                    <a:pt x="0" y="0"/>
                  </a:moveTo>
                  <a:lnTo>
                    <a:pt x="4142123" y="0"/>
                  </a:lnTo>
                  <a:lnTo>
                    <a:pt x="4142123" y="406400"/>
                  </a:lnTo>
                  <a:lnTo>
                    <a:pt x="0" y="406400"/>
                  </a:lnTo>
                  <a:close/>
                </a:path>
              </a:pathLst>
            </a:custGeom>
            <a:solidFill>
              <a:srgbClr val="122029"/>
            </a:solidFill>
          </p:spPr>
          <p:txBody>
            <a:bodyPr/>
            <a:lstStyle/>
            <a:p>
              <a:endParaRPr lang="en-US"/>
            </a:p>
          </p:txBody>
        </p:sp>
        <p:sp>
          <p:nvSpPr>
            <p:cNvPr id="13" name="TextBox 13"/>
            <p:cNvSpPr txBox="1"/>
            <p:nvPr/>
          </p:nvSpPr>
          <p:spPr>
            <a:xfrm>
              <a:off x="0" y="-57150"/>
              <a:ext cx="4142123"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rot="-7668865">
            <a:off x="14191519" y="-318717"/>
            <a:ext cx="4868099" cy="1199632"/>
            <a:chOff x="0" y="0"/>
            <a:chExt cx="1282133" cy="315952"/>
          </a:xfrm>
        </p:grpSpPr>
        <p:sp>
          <p:nvSpPr>
            <p:cNvPr id="15" name="Freeform 15"/>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16" name="TextBox 16"/>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1028700" y="1028700"/>
            <a:ext cx="697472" cy="1543050"/>
            <a:chOff x="0" y="0"/>
            <a:chExt cx="183696" cy="406400"/>
          </a:xfrm>
        </p:grpSpPr>
        <p:sp>
          <p:nvSpPr>
            <p:cNvPr id="18" name="Freeform 18"/>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19" name="TextBox 19"/>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sp>
        <p:nvSpPr>
          <p:cNvPr id="20" name="TextBox 20"/>
          <p:cNvSpPr txBox="1"/>
          <p:nvPr/>
        </p:nvSpPr>
        <p:spPr>
          <a:xfrm>
            <a:off x="2554559" y="1102358"/>
            <a:ext cx="14926732" cy="901700"/>
          </a:xfrm>
          <a:prstGeom prst="rect">
            <a:avLst/>
          </a:prstGeom>
        </p:spPr>
        <p:txBody>
          <a:bodyPr lIns="0" tIns="0" rIns="0" bIns="0" rtlCol="0" anchor="t">
            <a:spAutoFit/>
          </a:bodyPr>
          <a:lstStyle/>
          <a:p>
            <a:pPr algn="l">
              <a:lnSpc>
                <a:spcPts val="7000"/>
              </a:lnSpc>
              <a:spcBef>
                <a:spcPct val="0"/>
              </a:spcBef>
            </a:pPr>
            <a:r>
              <a:rPr lang="en-US" sz="5000" b="1">
                <a:solidFill>
                  <a:srgbClr val="FFFFFF"/>
                </a:solidFill>
                <a:latin typeface="Poppins Ultra-Bold"/>
                <a:ea typeface="Poppins Ultra-Bold"/>
                <a:cs typeface="Poppins Ultra-Bold"/>
                <a:sym typeface="Poppins Ultra-Bold"/>
              </a:rPr>
              <a:t>Dual-Path Shared Representation Learning</a:t>
            </a:r>
          </a:p>
        </p:txBody>
      </p:sp>
      <p:sp>
        <p:nvSpPr>
          <p:cNvPr id="21" name="Freeform 21"/>
          <p:cNvSpPr/>
          <p:nvPr/>
        </p:nvSpPr>
        <p:spPr>
          <a:xfrm>
            <a:off x="13241668" y="2571750"/>
            <a:ext cx="4803967" cy="7404959"/>
          </a:xfrm>
          <a:custGeom>
            <a:avLst/>
            <a:gdLst/>
            <a:ahLst/>
            <a:cxnLst/>
            <a:rect l="l" t="t" r="r" b="b"/>
            <a:pathLst>
              <a:path w="4803967" h="7404959">
                <a:moveTo>
                  <a:pt x="0" y="0"/>
                </a:moveTo>
                <a:lnTo>
                  <a:pt x="4803967" y="0"/>
                </a:lnTo>
                <a:lnTo>
                  <a:pt x="4803967" y="7404959"/>
                </a:lnTo>
                <a:lnTo>
                  <a:pt x="0" y="7404959"/>
                </a:lnTo>
                <a:lnTo>
                  <a:pt x="0" y="0"/>
                </a:lnTo>
                <a:close/>
              </a:path>
            </a:pathLst>
          </a:custGeom>
          <a:blipFill>
            <a:blip r:embed="rId3"/>
            <a:stretch>
              <a:fillRect/>
            </a:stretch>
          </a:blipFill>
        </p:spPr>
        <p:txBody>
          <a:bodyP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57135" y="1028700"/>
            <a:ext cx="14007306" cy="1543050"/>
            <a:chOff x="0" y="0"/>
            <a:chExt cx="3689167" cy="406400"/>
          </a:xfrm>
        </p:grpSpPr>
        <p:sp>
          <p:nvSpPr>
            <p:cNvPr id="3" name="Freeform 3"/>
            <p:cNvSpPr/>
            <p:nvPr/>
          </p:nvSpPr>
          <p:spPr>
            <a:xfrm>
              <a:off x="0" y="0"/>
              <a:ext cx="3689167" cy="406400"/>
            </a:xfrm>
            <a:custGeom>
              <a:avLst/>
              <a:gdLst/>
              <a:ahLst/>
              <a:cxnLst/>
              <a:rect l="l" t="t" r="r" b="b"/>
              <a:pathLst>
                <a:path w="3689167" h="406400">
                  <a:moveTo>
                    <a:pt x="0" y="0"/>
                  </a:moveTo>
                  <a:lnTo>
                    <a:pt x="3689167" y="0"/>
                  </a:lnTo>
                  <a:lnTo>
                    <a:pt x="3689167" y="406400"/>
                  </a:lnTo>
                  <a:lnTo>
                    <a:pt x="0" y="406400"/>
                  </a:lnTo>
                  <a:close/>
                </a:path>
              </a:pathLst>
            </a:custGeom>
            <a:solidFill>
              <a:srgbClr val="122029"/>
            </a:solidFill>
          </p:spPr>
          <p:txBody>
            <a:bodyPr/>
            <a:lstStyle/>
            <a:p>
              <a:endParaRPr lang="en-US"/>
            </a:p>
          </p:txBody>
        </p:sp>
        <p:sp>
          <p:nvSpPr>
            <p:cNvPr id="4" name="TextBox 4"/>
            <p:cNvSpPr txBox="1"/>
            <p:nvPr/>
          </p:nvSpPr>
          <p:spPr>
            <a:xfrm>
              <a:off x="0" y="-57150"/>
              <a:ext cx="3689167"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28700" y="1028700"/>
            <a:ext cx="697472" cy="1543050"/>
            <a:chOff x="0" y="0"/>
            <a:chExt cx="183696" cy="406400"/>
          </a:xfrm>
        </p:grpSpPr>
        <p:sp>
          <p:nvSpPr>
            <p:cNvPr id="6" name="Freeform 6"/>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7" name="TextBox 7"/>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4069453" y="4522342"/>
            <a:ext cx="10029154" cy="1227635"/>
          </a:xfrm>
          <a:custGeom>
            <a:avLst/>
            <a:gdLst/>
            <a:ahLst/>
            <a:cxnLst/>
            <a:rect l="l" t="t" r="r" b="b"/>
            <a:pathLst>
              <a:path w="10029154" h="1227635">
                <a:moveTo>
                  <a:pt x="0" y="0"/>
                </a:moveTo>
                <a:lnTo>
                  <a:pt x="10029154" y="0"/>
                </a:lnTo>
                <a:lnTo>
                  <a:pt x="10029154" y="1227635"/>
                </a:lnTo>
                <a:lnTo>
                  <a:pt x="0" y="1227635"/>
                </a:lnTo>
                <a:lnTo>
                  <a:pt x="0" y="0"/>
                </a:lnTo>
                <a:close/>
              </a:path>
            </a:pathLst>
          </a:custGeom>
          <a:blipFill>
            <a:blip r:embed="rId3"/>
            <a:stretch>
              <a:fillRect l="-241" r="-241"/>
            </a:stretch>
          </a:blipFill>
        </p:spPr>
        <p:txBody>
          <a:bodyPr/>
          <a:lstStyle/>
          <a:p>
            <a:endParaRPr lang="en-US"/>
          </a:p>
        </p:txBody>
      </p:sp>
      <p:sp>
        <p:nvSpPr>
          <p:cNvPr id="9" name="TextBox 9"/>
          <p:cNvSpPr txBox="1"/>
          <p:nvPr/>
        </p:nvSpPr>
        <p:spPr>
          <a:xfrm>
            <a:off x="2554559" y="1035683"/>
            <a:ext cx="12777907" cy="1319534"/>
          </a:xfrm>
          <a:prstGeom prst="rect">
            <a:avLst/>
          </a:prstGeom>
        </p:spPr>
        <p:txBody>
          <a:bodyPr lIns="0" tIns="0" rIns="0" bIns="0" rtlCol="0" anchor="t">
            <a:spAutoFit/>
          </a:bodyPr>
          <a:lstStyle/>
          <a:p>
            <a:pPr algn="l">
              <a:lnSpc>
                <a:spcPts val="10219"/>
              </a:lnSpc>
              <a:spcBef>
                <a:spcPct val="0"/>
              </a:spcBef>
            </a:pPr>
            <a:r>
              <a:rPr lang="en-US" sz="7299" b="1">
                <a:solidFill>
                  <a:srgbClr val="FFFFFF"/>
                </a:solidFill>
                <a:latin typeface="Poppins Ultra-Bold"/>
                <a:ea typeface="Poppins Ultra-Bold"/>
                <a:cs typeface="Poppins Ultra-Bold"/>
                <a:sym typeface="Poppins Ultra-Bold"/>
              </a:rPr>
              <a:t>Causal Text Selection Unit </a:t>
            </a:r>
          </a:p>
        </p:txBody>
      </p:sp>
      <p:grpSp>
        <p:nvGrpSpPr>
          <p:cNvPr id="10" name="Group 10"/>
          <p:cNvGrpSpPr/>
          <p:nvPr/>
        </p:nvGrpSpPr>
        <p:grpSpPr>
          <a:xfrm>
            <a:off x="1957135" y="1028700"/>
            <a:ext cx="14007306" cy="1543050"/>
            <a:chOff x="0" y="0"/>
            <a:chExt cx="3689167" cy="406400"/>
          </a:xfrm>
        </p:grpSpPr>
        <p:sp>
          <p:nvSpPr>
            <p:cNvPr id="11" name="Freeform 11"/>
            <p:cNvSpPr/>
            <p:nvPr/>
          </p:nvSpPr>
          <p:spPr>
            <a:xfrm>
              <a:off x="0" y="0"/>
              <a:ext cx="3689167" cy="406400"/>
            </a:xfrm>
            <a:custGeom>
              <a:avLst/>
              <a:gdLst/>
              <a:ahLst/>
              <a:cxnLst/>
              <a:rect l="l" t="t" r="r" b="b"/>
              <a:pathLst>
                <a:path w="3689167" h="406400">
                  <a:moveTo>
                    <a:pt x="0" y="0"/>
                  </a:moveTo>
                  <a:lnTo>
                    <a:pt x="3689167" y="0"/>
                  </a:lnTo>
                  <a:lnTo>
                    <a:pt x="3689167" y="406400"/>
                  </a:lnTo>
                  <a:lnTo>
                    <a:pt x="0" y="406400"/>
                  </a:lnTo>
                  <a:close/>
                </a:path>
              </a:pathLst>
            </a:custGeom>
            <a:solidFill>
              <a:srgbClr val="122029"/>
            </a:solidFill>
          </p:spPr>
          <p:txBody>
            <a:bodyPr/>
            <a:lstStyle/>
            <a:p>
              <a:endParaRPr lang="en-US"/>
            </a:p>
          </p:txBody>
        </p:sp>
        <p:sp>
          <p:nvSpPr>
            <p:cNvPr id="12" name="TextBox 12"/>
            <p:cNvSpPr txBox="1"/>
            <p:nvPr/>
          </p:nvSpPr>
          <p:spPr>
            <a:xfrm>
              <a:off x="0" y="-57150"/>
              <a:ext cx="3689167"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13" name="Group 13"/>
          <p:cNvGrpSpPr/>
          <p:nvPr/>
        </p:nvGrpSpPr>
        <p:grpSpPr>
          <a:xfrm>
            <a:off x="1028700" y="1028700"/>
            <a:ext cx="697472" cy="1543050"/>
            <a:chOff x="0" y="0"/>
            <a:chExt cx="183696" cy="406400"/>
          </a:xfrm>
        </p:grpSpPr>
        <p:sp>
          <p:nvSpPr>
            <p:cNvPr id="14" name="Freeform 14"/>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15" name="TextBox 15"/>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a:off x="1957135" y="1028700"/>
            <a:ext cx="15727124" cy="1543050"/>
            <a:chOff x="0" y="0"/>
            <a:chExt cx="4142123" cy="406400"/>
          </a:xfrm>
        </p:grpSpPr>
        <p:sp>
          <p:nvSpPr>
            <p:cNvPr id="17" name="Freeform 17"/>
            <p:cNvSpPr/>
            <p:nvPr/>
          </p:nvSpPr>
          <p:spPr>
            <a:xfrm>
              <a:off x="0" y="0"/>
              <a:ext cx="4142123" cy="406400"/>
            </a:xfrm>
            <a:custGeom>
              <a:avLst/>
              <a:gdLst/>
              <a:ahLst/>
              <a:cxnLst/>
              <a:rect l="l" t="t" r="r" b="b"/>
              <a:pathLst>
                <a:path w="4142123" h="406400">
                  <a:moveTo>
                    <a:pt x="0" y="0"/>
                  </a:moveTo>
                  <a:lnTo>
                    <a:pt x="4142123" y="0"/>
                  </a:lnTo>
                  <a:lnTo>
                    <a:pt x="4142123" y="406400"/>
                  </a:lnTo>
                  <a:lnTo>
                    <a:pt x="0" y="406400"/>
                  </a:lnTo>
                  <a:close/>
                </a:path>
              </a:pathLst>
            </a:custGeom>
            <a:solidFill>
              <a:srgbClr val="122029"/>
            </a:solidFill>
          </p:spPr>
          <p:txBody>
            <a:bodyPr/>
            <a:lstStyle/>
            <a:p>
              <a:endParaRPr lang="en-US"/>
            </a:p>
          </p:txBody>
        </p:sp>
        <p:sp>
          <p:nvSpPr>
            <p:cNvPr id="18" name="TextBox 18"/>
            <p:cNvSpPr txBox="1"/>
            <p:nvPr/>
          </p:nvSpPr>
          <p:spPr>
            <a:xfrm>
              <a:off x="0" y="-57150"/>
              <a:ext cx="4142123"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19" name="Group 19"/>
          <p:cNvGrpSpPr/>
          <p:nvPr/>
        </p:nvGrpSpPr>
        <p:grpSpPr>
          <a:xfrm rot="-7668865">
            <a:off x="14191519" y="-318717"/>
            <a:ext cx="4868099" cy="1199632"/>
            <a:chOff x="0" y="0"/>
            <a:chExt cx="1282133" cy="315952"/>
          </a:xfrm>
        </p:grpSpPr>
        <p:sp>
          <p:nvSpPr>
            <p:cNvPr id="20" name="Freeform 20"/>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21" name="TextBox 21"/>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a:off x="1028700" y="1028700"/>
            <a:ext cx="697472" cy="1543050"/>
            <a:chOff x="0" y="0"/>
            <a:chExt cx="183696" cy="406400"/>
          </a:xfrm>
        </p:grpSpPr>
        <p:sp>
          <p:nvSpPr>
            <p:cNvPr id="23" name="Freeform 23"/>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24" name="TextBox 24"/>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sp>
        <p:nvSpPr>
          <p:cNvPr id="25" name="Freeform 25"/>
          <p:cNvSpPr/>
          <p:nvPr/>
        </p:nvSpPr>
        <p:spPr>
          <a:xfrm>
            <a:off x="4124158" y="6521502"/>
            <a:ext cx="10535225" cy="1269533"/>
          </a:xfrm>
          <a:custGeom>
            <a:avLst/>
            <a:gdLst/>
            <a:ahLst/>
            <a:cxnLst/>
            <a:rect l="l" t="t" r="r" b="b"/>
            <a:pathLst>
              <a:path w="10535225" h="1269533">
                <a:moveTo>
                  <a:pt x="0" y="0"/>
                </a:moveTo>
                <a:lnTo>
                  <a:pt x="10535226" y="0"/>
                </a:lnTo>
                <a:lnTo>
                  <a:pt x="10535226" y="1269532"/>
                </a:lnTo>
                <a:lnTo>
                  <a:pt x="0" y="1269532"/>
                </a:lnTo>
                <a:lnTo>
                  <a:pt x="0" y="0"/>
                </a:lnTo>
                <a:close/>
              </a:path>
            </a:pathLst>
          </a:custGeom>
          <a:blipFill>
            <a:blip r:embed="rId4"/>
            <a:stretch>
              <a:fillRect l="-209" r="-209"/>
            </a:stretch>
          </a:blipFill>
        </p:spPr>
        <p:txBody>
          <a:bodyPr/>
          <a:lstStyle/>
          <a:p>
            <a:endParaRPr lang="en-US"/>
          </a:p>
        </p:txBody>
      </p:sp>
      <p:sp>
        <p:nvSpPr>
          <p:cNvPr id="26" name="Freeform 26"/>
          <p:cNvSpPr/>
          <p:nvPr/>
        </p:nvSpPr>
        <p:spPr>
          <a:xfrm>
            <a:off x="4069453" y="8045645"/>
            <a:ext cx="7088826" cy="2140608"/>
          </a:xfrm>
          <a:custGeom>
            <a:avLst/>
            <a:gdLst/>
            <a:ahLst/>
            <a:cxnLst/>
            <a:rect l="l" t="t" r="r" b="b"/>
            <a:pathLst>
              <a:path w="7088826" h="2140608">
                <a:moveTo>
                  <a:pt x="0" y="0"/>
                </a:moveTo>
                <a:lnTo>
                  <a:pt x="7088826" y="0"/>
                </a:lnTo>
                <a:lnTo>
                  <a:pt x="7088826" y="2140608"/>
                </a:lnTo>
                <a:lnTo>
                  <a:pt x="0" y="2140608"/>
                </a:lnTo>
                <a:lnTo>
                  <a:pt x="0" y="0"/>
                </a:lnTo>
                <a:close/>
              </a:path>
            </a:pathLst>
          </a:custGeom>
          <a:blipFill>
            <a:blip r:embed="rId5"/>
            <a:stretch>
              <a:fillRect t="-87" b="-87"/>
            </a:stretch>
          </a:blipFill>
        </p:spPr>
        <p:txBody>
          <a:bodyPr/>
          <a:lstStyle/>
          <a:p>
            <a:endParaRPr lang="en-US"/>
          </a:p>
        </p:txBody>
      </p:sp>
      <p:sp>
        <p:nvSpPr>
          <p:cNvPr id="27" name="TextBox 27"/>
          <p:cNvSpPr txBox="1"/>
          <p:nvPr/>
        </p:nvSpPr>
        <p:spPr>
          <a:xfrm>
            <a:off x="1028700" y="3559175"/>
            <a:ext cx="16230600" cy="1317625"/>
          </a:xfrm>
          <a:prstGeom prst="rect">
            <a:avLst/>
          </a:prstGeom>
        </p:spPr>
        <p:txBody>
          <a:bodyPr lIns="0" tIns="0" rIns="0" bIns="0" rtlCol="0" anchor="t">
            <a:spAutoFit/>
          </a:bodyPr>
          <a:lstStyle/>
          <a:p>
            <a:pPr marL="539749" lvl="1" indent="-269875" algn="l">
              <a:lnSpc>
                <a:spcPts val="3499"/>
              </a:lnSpc>
              <a:buFont typeface="Arial"/>
              <a:buChar char="•"/>
            </a:pPr>
            <a:r>
              <a:rPr lang="en-US" sz="2499" b="1">
                <a:solidFill>
                  <a:srgbClr val="000000"/>
                </a:solidFill>
                <a:latin typeface="Poppins Bold"/>
                <a:ea typeface="Poppins Bold"/>
                <a:cs typeface="Poppins Bold"/>
                <a:sym typeface="Poppins Bold"/>
              </a:rPr>
              <a:t>Goal</a:t>
            </a:r>
            <a:r>
              <a:rPr lang="en-US" sz="2499">
                <a:solidFill>
                  <a:srgbClr val="000000"/>
                </a:solidFill>
                <a:latin typeface="Poppins"/>
                <a:ea typeface="Poppins"/>
                <a:cs typeface="Poppins"/>
                <a:sym typeface="Poppins"/>
              </a:rPr>
              <a:t>: Maximize both prediction accuracy and explainability</a:t>
            </a:r>
          </a:p>
          <a:p>
            <a:pPr marL="539749" lvl="1" indent="-269875" algn="l">
              <a:lnSpc>
                <a:spcPts val="3499"/>
              </a:lnSpc>
              <a:buFont typeface="Arial"/>
              <a:buChar char="•"/>
            </a:pPr>
            <a:r>
              <a:rPr lang="en-US" sz="2499" b="1">
                <a:solidFill>
                  <a:srgbClr val="000000"/>
                </a:solidFill>
                <a:latin typeface="Poppins Bold"/>
                <a:ea typeface="Poppins Bold"/>
                <a:cs typeface="Poppins Bold"/>
                <a:sym typeface="Poppins Bold"/>
              </a:rPr>
              <a:t>Main Loss</a:t>
            </a:r>
            <a:r>
              <a:rPr lang="en-US" sz="2499">
                <a:solidFill>
                  <a:srgbClr val="000000"/>
                </a:solidFill>
                <a:latin typeface="Poppins"/>
                <a:ea typeface="Poppins"/>
                <a:cs typeface="Poppins"/>
                <a:sym typeface="Poppins"/>
              </a:rPr>
              <a:t>:</a:t>
            </a:r>
          </a:p>
          <a:p>
            <a:pPr algn="l">
              <a:lnSpc>
                <a:spcPts val="3499"/>
              </a:lnSpc>
            </a:pPr>
            <a:endParaRPr lang="en-US" sz="2499">
              <a:solidFill>
                <a:srgbClr val="000000"/>
              </a:solidFill>
              <a:latin typeface="Poppins"/>
              <a:ea typeface="Poppins"/>
              <a:cs typeface="Poppins"/>
              <a:sym typeface="Poppins"/>
            </a:endParaRPr>
          </a:p>
        </p:txBody>
      </p:sp>
      <p:sp>
        <p:nvSpPr>
          <p:cNvPr id="28" name="TextBox 28"/>
          <p:cNvSpPr txBox="1"/>
          <p:nvPr/>
        </p:nvSpPr>
        <p:spPr>
          <a:xfrm>
            <a:off x="1028700" y="2775354"/>
            <a:ext cx="15702381" cy="717550"/>
          </a:xfrm>
          <a:prstGeom prst="rect">
            <a:avLst/>
          </a:prstGeom>
        </p:spPr>
        <p:txBody>
          <a:bodyPr lIns="0" tIns="0" rIns="0" bIns="0" rtlCol="0" anchor="t">
            <a:spAutoFit/>
          </a:bodyPr>
          <a:lstStyle/>
          <a:p>
            <a:pPr algn="l">
              <a:lnSpc>
                <a:spcPts val="5599"/>
              </a:lnSpc>
              <a:spcBef>
                <a:spcPct val="0"/>
              </a:spcBef>
            </a:pPr>
            <a:r>
              <a:rPr lang="en-US" sz="3999" b="1">
                <a:solidFill>
                  <a:srgbClr val="86B4C4"/>
                </a:solidFill>
                <a:latin typeface="Poppins Ultra-Bold"/>
                <a:ea typeface="Poppins Ultra-Bold"/>
                <a:cs typeface="Poppins Ultra-Bold"/>
                <a:sym typeface="Poppins Ultra-Bold"/>
              </a:rPr>
              <a:t>Learning Objective</a:t>
            </a:r>
          </a:p>
        </p:txBody>
      </p:sp>
      <p:sp>
        <p:nvSpPr>
          <p:cNvPr id="29" name="TextBox 29"/>
          <p:cNvSpPr txBox="1"/>
          <p:nvPr/>
        </p:nvSpPr>
        <p:spPr>
          <a:xfrm>
            <a:off x="1028700" y="5883327"/>
            <a:ext cx="3088035" cy="441325"/>
          </a:xfrm>
          <a:prstGeom prst="rect">
            <a:avLst/>
          </a:prstGeom>
        </p:spPr>
        <p:txBody>
          <a:bodyPr lIns="0" tIns="0" rIns="0" bIns="0" rtlCol="0" anchor="t">
            <a:spAutoFit/>
          </a:bodyPr>
          <a:lstStyle/>
          <a:p>
            <a:pPr marL="539746" lvl="1" indent="-269873" algn="ctr">
              <a:lnSpc>
                <a:spcPts val="3499"/>
              </a:lnSpc>
              <a:buFont typeface="Arial"/>
              <a:buChar char="•"/>
            </a:pPr>
            <a:r>
              <a:rPr lang="en-US" sz="2499" b="1">
                <a:solidFill>
                  <a:srgbClr val="000000"/>
                </a:solidFill>
                <a:latin typeface="Poppins Bold"/>
                <a:ea typeface="Poppins Bold"/>
                <a:cs typeface="Poppins Bold"/>
                <a:sym typeface="Poppins Bold"/>
              </a:rPr>
              <a:t>Total Objective:</a:t>
            </a:r>
          </a:p>
        </p:txBody>
      </p:sp>
      <p:sp>
        <p:nvSpPr>
          <p:cNvPr id="30" name="TextBox 30"/>
          <p:cNvSpPr txBox="1"/>
          <p:nvPr/>
        </p:nvSpPr>
        <p:spPr>
          <a:xfrm>
            <a:off x="2554559" y="1102358"/>
            <a:ext cx="14926732" cy="901700"/>
          </a:xfrm>
          <a:prstGeom prst="rect">
            <a:avLst/>
          </a:prstGeom>
        </p:spPr>
        <p:txBody>
          <a:bodyPr lIns="0" tIns="0" rIns="0" bIns="0" rtlCol="0" anchor="t">
            <a:spAutoFit/>
          </a:bodyPr>
          <a:lstStyle/>
          <a:p>
            <a:pPr algn="l">
              <a:lnSpc>
                <a:spcPts val="7000"/>
              </a:lnSpc>
              <a:spcBef>
                <a:spcPct val="0"/>
              </a:spcBef>
            </a:pPr>
            <a:r>
              <a:rPr lang="en-US" sz="5000" b="1">
                <a:solidFill>
                  <a:srgbClr val="FFFFFF"/>
                </a:solidFill>
                <a:latin typeface="Poppins Ultra-Bold"/>
                <a:ea typeface="Poppins Ultra-Bold"/>
                <a:cs typeface="Poppins Ultra-Bold"/>
                <a:sym typeface="Poppins Ultra-Bold"/>
              </a:rPr>
              <a:t>Dual-Path Shared Representation Learning</a:t>
            </a:r>
          </a:p>
        </p:txBody>
      </p:sp>
      <p:sp>
        <p:nvSpPr>
          <p:cNvPr id="31" name="TextBox 31"/>
          <p:cNvSpPr txBox="1"/>
          <p:nvPr/>
        </p:nvSpPr>
        <p:spPr>
          <a:xfrm>
            <a:off x="1254677" y="7978970"/>
            <a:ext cx="2650927" cy="441325"/>
          </a:xfrm>
          <a:prstGeom prst="rect">
            <a:avLst/>
          </a:prstGeom>
        </p:spPr>
        <p:txBody>
          <a:bodyPr lIns="0" tIns="0" rIns="0" bIns="0" rtlCol="0" anchor="t">
            <a:spAutoFit/>
          </a:bodyPr>
          <a:lstStyle/>
          <a:p>
            <a:pPr marL="1079492" lvl="2" indent="-359831" algn="ctr">
              <a:lnSpc>
                <a:spcPts val="3499"/>
              </a:lnSpc>
              <a:buFont typeface="Arial"/>
              <a:buChar char="⚬"/>
            </a:pPr>
            <a:r>
              <a:rPr lang="en-US" sz="2499" b="1">
                <a:solidFill>
                  <a:srgbClr val="000000"/>
                </a:solidFill>
                <a:latin typeface="Poppins Bold"/>
                <a:ea typeface="Poppins Bold"/>
                <a:cs typeface="Poppins Bold"/>
                <a:sym typeface="Poppins Bold"/>
              </a:rPr>
              <a:t>Key term:</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57135" y="1028700"/>
            <a:ext cx="14007306" cy="1543050"/>
            <a:chOff x="0" y="0"/>
            <a:chExt cx="3689167" cy="406400"/>
          </a:xfrm>
        </p:grpSpPr>
        <p:sp>
          <p:nvSpPr>
            <p:cNvPr id="3" name="Freeform 3"/>
            <p:cNvSpPr/>
            <p:nvPr/>
          </p:nvSpPr>
          <p:spPr>
            <a:xfrm>
              <a:off x="0" y="0"/>
              <a:ext cx="3689167" cy="406400"/>
            </a:xfrm>
            <a:custGeom>
              <a:avLst/>
              <a:gdLst/>
              <a:ahLst/>
              <a:cxnLst/>
              <a:rect l="l" t="t" r="r" b="b"/>
              <a:pathLst>
                <a:path w="3689167" h="406400">
                  <a:moveTo>
                    <a:pt x="0" y="0"/>
                  </a:moveTo>
                  <a:lnTo>
                    <a:pt x="3689167" y="0"/>
                  </a:lnTo>
                  <a:lnTo>
                    <a:pt x="3689167" y="406400"/>
                  </a:lnTo>
                  <a:lnTo>
                    <a:pt x="0" y="406400"/>
                  </a:lnTo>
                  <a:close/>
                </a:path>
              </a:pathLst>
            </a:custGeom>
            <a:solidFill>
              <a:srgbClr val="122029"/>
            </a:solidFill>
          </p:spPr>
          <p:txBody>
            <a:bodyPr/>
            <a:lstStyle/>
            <a:p>
              <a:endParaRPr lang="en-US"/>
            </a:p>
          </p:txBody>
        </p:sp>
        <p:sp>
          <p:nvSpPr>
            <p:cNvPr id="4" name="TextBox 4"/>
            <p:cNvSpPr txBox="1"/>
            <p:nvPr/>
          </p:nvSpPr>
          <p:spPr>
            <a:xfrm>
              <a:off x="0" y="-57150"/>
              <a:ext cx="3689167"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28700" y="1028700"/>
            <a:ext cx="697472" cy="1543050"/>
            <a:chOff x="0" y="0"/>
            <a:chExt cx="183696" cy="406400"/>
          </a:xfrm>
        </p:grpSpPr>
        <p:sp>
          <p:nvSpPr>
            <p:cNvPr id="6" name="Freeform 6"/>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7" name="TextBox 7"/>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188734" y="2721649"/>
            <a:ext cx="9390080" cy="3535602"/>
            <a:chOff x="0" y="0"/>
            <a:chExt cx="1979322" cy="745265"/>
          </a:xfrm>
        </p:grpSpPr>
        <p:sp>
          <p:nvSpPr>
            <p:cNvPr id="9" name="Freeform 9"/>
            <p:cNvSpPr/>
            <p:nvPr/>
          </p:nvSpPr>
          <p:spPr>
            <a:xfrm>
              <a:off x="0" y="0"/>
              <a:ext cx="1979322" cy="745265"/>
            </a:xfrm>
            <a:custGeom>
              <a:avLst/>
              <a:gdLst/>
              <a:ahLst/>
              <a:cxnLst/>
              <a:rect l="l" t="t" r="r" b="b"/>
              <a:pathLst>
                <a:path w="1979322" h="745265">
                  <a:moveTo>
                    <a:pt x="32979" y="0"/>
                  </a:moveTo>
                  <a:lnTo>
                    <a:pt x="1946343" y="0"/>
                  </a:lnTo>
                  <a:cubicBezTo>
                    <a:pt x="1955090" y="0"/>
                    <a:pt x="1963478" y="3475"/>
                    <a:pt x="1969663" y="9659"/>
                  </a:cubicBezTo>
                  <a:cubicBezTo>
                    <a:pt x="1975847" y="15844"/>
                    <a:pt x="1979322" y="24233"/>
                    <a:pt x="1979322" y="32979"/>
                  </a:cubicBezTo>
                  <a:lnTo>
                    <a:pt x="1979322" y="712286"/>
                  </a:lnTo>
                  <a:cubicBezTo>
                    <a:pt x="1979322" y="721032"/>
                    <a:pt x="1975847" y="729421"/>
                    <a:pt x="1969663" y="735605"/>
                  </a:cubicBezTo>
                  <a:cubicBezTo>
                    <a:pt x="1963478" y="741790"/>
                    <a:pt x="1955090" y="745265"/>
                    <a:pt x="1946343" y="745265"/>
                  </a:cubicBezTo>
                  <a:lnTo>
                    <a:pt x="32979" y="745265"/>
                  </a:lnTo>
                  <a:cubicBezTo>
                    <a:pt x="24233" y="745265"/>
                    <a:pt x="15844" y="741790"/>
                    <a:pt x="9659" y="735605"/>
                  </a:cubicBezTo>
                  <a:cubicBezTo>
                    <a:pt x="3475" y="729421"/>
                    <a:pt x="0" y="721032"/>
                    <a:pt x="0" y="712286"/>
                  </a:cubicBezTo>
                  <a:lnTo>
                    <a:pt x="0" y="32979"/>
                  </a:lnTo>
                  <a:cubicBezTo>
                    <a:pt x="0" y="24233"/>
                    <a:pt x="3475" y="15844"/>
                    <a:pt x="9659" y="9659"/>
                  </a:cubicBezTo>
                  <a:cubicBezTo>
                    <a:pt x="15844" y="3475"/>
                    <a:pt x="24233" y="0"/>
                    <a:pt x="32979" y="0"/>
                  </a:cubicBezTo>
                  <a:close/>
                </a:path>
              </a:pathLst>
            </a:custGeom>
            <a:blipFill>
              <a:blip r:embed="rId3"/>
              <a:stretch>
                <a:fillRect t="-1245" b="-1245"/>
              </a:stretch>
            </a:blipFill>
          </p:spPr>
          <p:txBody>
            <a:bodyPr/>
            <a:lstStyle/>
            <a:p>
              <a:endParaRPr lang="en-US"/>
            </a:p>
          </p:txBody>
        </p:sp>
      </p:grpSp>
      <p:sp>
        <p:nvSpPr>
          <p:cNvPr id="10" name="TextBox 10"/>
          <p:cNvSpPr txBox="1"/>
          <p:nvPr/>
        </p:nvSpPr>
        <p:spPr>
          <a:xfrm>
            <a:off x="2554559" y="1035683"/>
            <a:ext cx="12777907" cy="1319534"/>
          </a:xfrm>
          <a:prstGeom prst="rect">
            <a:avLst/>
          </a:prstGeom>
        </p:spPr>
        <p:txBody>
          <a:bodyPr lIns="0" tIns="0" rIns="0" bIns="0" rtlCol="0" anchor="t">
            <a:spAutoFit/>
          </a:bodyPr>
          <a:lstStyle/>
          <a:p>
            <a:pPr algn="l">
              <a:lnSpc>
                <a:spcPts val="10219"/>
              </a:lnSpc>
              <a:spcBef>
                <a:spcPct val="0"/>
              </a:spcBef>
            </a:pPr>
            <a:r>
              <a:rPr lang="en-US" sz="7299" b="1">
                <a:solidFill>
                  <a:srgbClr val="FFFFFF"/>
                </a:solidFill>
                <a:latin typeface="Poppins Ultra-Bold"/>
                <a:ea typeface="Poppins Ultra-Bold"/>
                <a:cs typeface="Poppins Ultra-Bold"/>
                <a:sym typeface="Poppins Ultra-Bold"/>
              </a:rPr>
              <a:t>Causal Text Selection Unit </a:t>
            </a:r>
          </a:p>
        </p:txBody>
      </p:sp>
      <p:grpSp>
        <p:nvGrpSpPr>
          <p:cNvPr id="11" name="Group 11"/>
          <p:cNvGrpSpPr/>
          <p:nvPr/>
        </p:nvGrpSpPr>
        <p:grpSpPr>
          <a:xfrm>
            <a:off x="1957135" y="1028700"/>
            <a:ext cx="14007306" cy="1543050"/>
            <a:chOff x="0" y="0"/>
            <a:chExt cx="3689167" cy="406400"/>
          </a:xfrm>
        </p:grpSpPr>
        <p:sp>
          <p:nvSpPr>
            <p:cNvPr id="12" name="Freeform 12"/>
            <p:cNvSpPr/>
            <p:nvPr/>
          </p:nvSpPr>
          <p:spPr>
            <a:xfrm>
              <a:off x="0" y="0"/>
              <a:ext cx="3689167" cy="406400"/>
            </a:xfrm>
            <a:custGeom>
              <a:avLst/>
              <a:gdLst/>
              <a:ahLst/>
              <a:cxnLst/>
              <a:rect l="l" t="t" r="r" b="b"/>
              <a:pathLst>
                <a:path w="3689167" h="406400">
                  <a:moveTo>
                    <a:pt x="0" y="0"/>
                  </a:moveTo>
                  <a:lnTo>
                    <a:pt x="3689167" y="0"/>
                  </a:lnTo>
                  <a:lnTo>
                    <a:pt x="3689167" y="406400"/>
                  </a:lnTo>
                  <a:lnTo>
                    <a:pt x="0" y="406400"/>
                  </a:lnTo>
                  <a:close/>
                </a:path>
              </a:pathLst>
            </a:custGeom>
            <a:solidFill>
              <a:srgbClr val="122029"/>
            </a:solidFill>
          </p:spPr>
          <p:txBody>
            <a:bodyPr/>
            <a:lstStyle/>
            <a:p>
              <a:endParaRPr lang="en-US"/>
            </a:p>
          </p:txBody>
        </p:sp>
        <p:sp>
          <p:nvSpPr>
            <p:cNvPr id="13" name="TextBox 13"/>
            <p:cNvSpPr txBox="1"/>
            <p:nvPr/>
          </p:nvSpPr>
          <p:spPr>
            <a:xfrm>
              <a:off x="0" y="-57150"/>
              <a:ext cx="3689167"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1028700" y="1028700"/>
            <a:ext cx="697472" cy="1543050"/>
            <a:chOff x="0" y="0"/>
            <a:chExt cx="183696" cy="406400"/>
          </a:xfrm>
        </p:grpSpPr>
        <p:sp>
          <p:nvSpPr>
            <p:cNvPr id="15" name="Freeform 15"/>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16" name="TextBox 16"/>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7"/>
          <p:cNvSpPr txBox="1"/>
          <p:nvPr/>
        </p:nvSpPr>
        <p:spPr>
          <a:xfrm>
            <a:off x="2554559" y="1035683"/>
            <a:ext cx="12777907" cy="1319534"/>
          </a:xfrm>
          <a:prstGeom prst="rect">
            <a:avLst/>
          </a:prstGeom>
        </p:spPr>
        <p:txBody>
          <a:bodyPr lIns="0" tIns="0" rIns="0" bIns="0" rtlCol="0" anchor="t">
            <a:spAutoFit/>
          </a:bodyPr>
          <a:lstStyle/>
          <a:p>
            <a:pPr algn="l">
              <a:lnSpc>
                <a:spcPts val="10219"/>
              </a:lnSpc>
              <a:spcBef>
                <a:spcPct val="0"/>
              </a:spcBef>
            </a:pPr>
            <a:r>
              <a:rPr lang="en-US" sz="7299" b="1">
                <a:solidFill>
                  <a:srgbClr val="FFFFFF"/>
                </a:solidFill>
                <a:latin typeface="Poppins Ultra-Bold"/>
                <a:ea typeface="Poppins Ultra-Bold"/>
                <a:cs typeface="Poppins Ultra-Bold"/>
                <a:sym typeface="Poppins Ultra-Bold"/>
              </a:rPr>
              <a:t>Causal Text Selection Unit </a:t>
            </a:r>
          </a:p>
        </p:txBody>
      </p:sp>
      <p:grpSp>
        <p:nvGrpSpPr>
          <p:cNvPr id="18" name="Group 18"/>
          <p:cNvGrpSpPr/>
          <p:nvPr/>
        </p:nvGrpSpPr>
        <p:grpSpPr>
          <a:xfrm>
            <a:off x="1957135" y="1028700"/>
            <a:ext cx="14007306" cy="1543050"/>
            <a:chOff x="0" y="0"/>
            <a:chExt cx="3689167" cy="406400"/>
          </a:xfrm>
        </p:grpSpPr>
        <p:sp>
          <p:nvSpPr>
            <p:cNvPr id="19" name="Freeform 19"/>
            <p:cNvSpPr/>
            <p:nvPr/>
          </p:nvSpPr>
          <p:spPr>
            <a:xfrm>
              <a:off x="0" y="0"/>
              <a:ext cx="3689167" cy="406400"/>
            </a:xfrm>
            <a:custGeom>
              <a:avLst/>
              <a:gdLst/>
              <a:ahLst/>
              <a:cxnLst/>
              <a:rect l="l" t="t" r="r" b="b"/>
              <a:pathLst>
                <a:path w="3689167" h="406400">
                  <a:moveTo>
                    <a:pt x="0" y="0"/>
                  </a:moveTo>
                  <a:lnTo>
                    <a:pt x="3689167" y="0"/>
                  </a:lnTo>
                  <a:lnTo>
                    <a:pt x="3689167" y="406400"/>
                  </a:lnTo>
                  <a:lnTo>
                    <a:pt x="0" y="406400"/>
                  </a:lnTo>
                  <a:close/>
                </a:path>
              </a:pathLst>
            </a:custGeom>
            <a:solidFill>
              <a:srgbClr val="122029"/>
            </a:solidFill>
          </p:spPr>
          <p:txBody>
            <a:bodyPr/>
            <a:lstStyle/>
            <a:p>
              <a:endParaRPr lang="en-US"/>
            </a:p>
          </p:txBody>
        </p:sp>
        <p:sp>
          <p:nvSpPr>
            <p:cNvPr id="20" name="TextBox 20"/>
            <p:cNvSpPr txBox="1"/>
            <p:nvPr/>
          </p:nvSpPr>
          <p:spPr>
            <a:xfrm>
              <a:off x="0" y="-57150"/>
              <a:ext cx="3689167"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028700" y="1028700"/>
            <a:ext cx="697472" cy="1543050"/>
            <a:chOff x="0" y="0"/>
            <a:chExt cx="183696" cy="406400"/>
          </a:xfrm>
        </p:grpSpPr>
        <p:sp>
          <p:nvSpPr>
            <p:cNvPr id="22" name="Freeform 22"/>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23" name="TextBox 23"/>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957135" y="1028700"/>
            <a:ext cx="15727124" cy="1543050"/>
            <a:chOff x="0" y="0"/>
            <a:chExt cx="4142123" cy="406400"/>
          </a:xfrm>
        </p:grpSpPr>
        <p:sp>
          <p:nvSpPr>
            <p:cNvPr id="25" name="Freeform 25"/>
            <p:cNvSpPr/>
            <p:nvPr/>
          </p:nvSpPr>
          <p:spPr>
            <a:xfrm>
              <a:off x="0" y="0"/>
              <a:ext cx="4142123" cy="406400"/>
            </a:xfrm>
            <a:custGeom>
              <a:avLst/>
              <a:gdLst/>
              <a:ahLst/>
              <a:cxnLst/>
              <a:rect l="l" t="t" r="r" b="b"/>
              <a:pathLst>
                <a:path w="4142123" h="406400">
                  <a:moveTo>
                    <a:pt x="0" y="0"/>
                  </a:moveTo>
                  <a:lnTo>
                    <a:pt x="4142123" y="0"/>
                  </a:lnTo>
                  <a:lnTo>
                    <a:pt x="4142123" y="406400"/>
                  </a:lnTo>
                  <a:lnTo>
                    <a:pt x="0" y="406400"/>
                  </a:lnTo>
                  <a:close/>
                </a:path>
              </a:pathLst>
            </a:custGeom>
            <a:solidFill>
              <a:srgbClr val="122029"/>
            </a:solidFill>
          </p:spPr>
          <p:txBody>
            <a:bodyPr/>
            <a:lstStyle/>
            <a:p>
              <a:endParaRPr lang="en-US"/>
            </a:p>
          </p:txBody>
        </p:sp>
        <p:sp>
          <p:nvSpPr>
            <p:cNvPr id="26" name="TextBox 26"/>
            <p:cNvSpPr txBox="1"/>
            <p:nvPr/>
          </p:nvSpPr>
          <p:spPr>
            <a:xfrm>
              <a:off x="0" y="-57150"/>
              <a:ext cx="4142123"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rot="-7668865">
            <a:off x="14191519" y="-318717"/>
            <a:ext cx="4868099" cy="1199632"/>
            <a:chOff x="0" y="0"/>
            <a:chExt cx="1282133" cy="315952"/>
          </a:xfrm>
        </p:grpSpPr>
        <p:sp>
          <p:nvSpPr>
            <p:cNvPr id="28" name="Freeform 28"/>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29" name="TextBox 29"/>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30" name="Group 30"/>
          <p:cNvGrpSpPr/>
          <p:nvPr/>
        </p:nvGrpSpPr>
        <p:grpSpPr>
          <a:xfrm>
            <a:off x="1028700" y="1028700"/>
            <a:ext cx="697472" cy="1543050"/>
            <a:chOff x="0" y="0"/>
            <a:chExt cx="183696" cy="406400"/>
          </a:xfrm>
        </p:grpSpPr>
        <p:sp>
          <p:nvSpPr>
            <p:cNvPr id="31" name="Freeform 31"/>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32" name="TextBox 32"/>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sp>
        <p:nvSpPr>
          <p:cNvPr id="33" name="Freeform 33"/>
          <p:cNvSpPr/>
          <p:nvPr/>
        </p:nvSpPr>
        <p:spPr>
          <a:xfrm>
            <a:off x="10365719" y="5878259"/>
            <a:ext cx="7449039" cy="3932807"/>
          </a:xfrm>
          <a:custGeom>
            <a:avLst/>
            <a:gdLst/>
            <a:ahLst/>
            <a:cxnLst/>
            <a:rect l="l" t="t" r="r" b="b"/>
            <a:pathLst>
              <a:path w="7449039" h="3932807">
                <a:moveTo>
                  <a:pt x="0" y="0"/>
                </a:moveTo>
                <a:lnTo>
                  <a:pt x="7449039" y="0"/>
                </a:lnTo>
                <a:lnTo>
                  <a:pt x="7449039" y="3932806"/>
                </a:lnTo>
                <a:lnTo>
                  <a:pt x="0" y="3932806"/>
                </a:lnTo>
                <a:lnTo>
                  <a:pt x="0" y="0"/>
                </a:lnTo>
                <a:close/>
              </a:path>
            </a:pathLst>
          </a:custGeom>
          <a:blipFill>
            <a:blip r:embed="rId4"/>
            <a:stretch>
              <a:fillRect t="-1603" b="-1603"/>
            </a:stretch>
          </a:blipFill>
        </p:spPr>
        <p:txBody>
          <a:bodyPr/>
          <a:lstStyle/>
          <a:p>
            <a:endParaRPr lang="en-US"/>
          </a:p>
        </p:txBody>
      </p:sp>
      <p:sp>
        <p:nvSpPr>
          <p:cNvPr id="34" name="TextBox 34"/>
          <p:cNvSpPr txBox="1"/>
          <p:nvPr/>
        </p:nvSpPr>
        <p:spPr>
          <a:xfrm>
            <a:off x="11349078" y="3150957"/>
            <a:ext cx="6335181" cy="2193925"/>
          </a:xfrm>
          <a:prstGeom prst="rect">
            <a:avLst/>
          </a:prstGeom>
        </p:spPr>
        <p:txBody>
          <a:bodyPr lIns="0" tIns="0" rIns="0" bIns="0" rtlCol="0" anchor="t">
            <a:spAutoFit/>
          </a:bodyPr>
          <a:lstStyle/>
          <a:p>
            <a:pPr algn="l">
              <a:lnSpc>
                <a:spcPts val="3499"/>
              </a:lnSpc>
              <a:spcBef>
                <a:spcPct val="0"/>
              </a:spcBef>
            </a:pPr>
            <a:r>
              <a:rPr lang="en-US" sz="2499">
                <a:solidFill>
                  <a:srgbClr val="000000"/>
                </a:solidFill>
                <a:latin typeface="Poppins"/>
                <a:ea typeface="Poppins"/>
                <a:cs typeface="Poppins"/>
                <a:sym typeface="Poppins"/>
              </a:rPr>
              <a:t>I observe an overall accuracy improvement on the order of 3% compared to the original PEN baseline, confirming that each component contributes additional predictive power</a:t>
            </a:r>
          </a:p>
        </p:txBody>
      </p:sp>
      <p:sp>
        <p:nvSpPr>
          <p:cNvPr id="35" name="TextBox 35"/>
          <p:cNvSpPr txBox="1"/>
          <p:nvPr/>
        </p:nvSpPr>
        <p:spPr>
          <a:xfrm>
            <a:off x="2554559" y="1102358"/>
            <a:ext cx="14926732" cy="901700"/>
          </a:xfrm>
          <a:prstGeom prst="rect">
            <a:avLst/>
          </a:prstGeom>
        </p:spPr>
        <p:txBody>
          <a:bodyPr lIns="0" tIns="0" rIns="0" bIns="0" rtlCol="0" anchor="t">
            <a:spAutoFit/>
          </a:bodyPr>
          <a:lstStyle/>
          <a:p>
            <a:pPr algn="l">
              <a:lnSpc>
                <a:spcPts val="7000"/>
              </a:lnSpc>
              <a:spcBef>
                <a:spcPct val="0"/>
              </a:spcBef>
            </a:pPr>
            <a:r>
              <a:rPr lang="en-US" sz="5000" b="1">
                <a:solidFill>
                  <a:srgbClr val="FFFFFF"/>
                </a:solidFill>
                <a:latin typeface="Poppins Ultra-Bold"/>
                <a:ea typeface="Poppins Ultra-Bold"/>
                <a:cs typeface="Poppins Ultra-Bold"/>
                <a:sym typeface="Poppins Ultra-Bold"/>
              </a:rPr>
              <a:t>Dual-Path Shared Representation Learning</a:t>
            </a:r>
          </a:p>
        </p:txBody>
      </p:sp>
      <p:sp>
        <p:nvSpPr>
          <p:cNvPr id="36" name="TextBox 36"/>
          <p:cNvSpPr txBox="1"/>
          <p:nvPr/>
        </p:nvSpPr>
        <p:spPr>
          <a:xfrm>
            <a:off x="910828" y="6342976"/>
            <a:ext cx="9667985" cy="3365004"/>
          </a:xfrm>
          <a:prstGeom prst="rect">
            <a:avLst/>
          </a:prstGeom>
        </p:spPr>
        <p:txBody>
          <a:bodyPr lIns="0" tIns="0" rIns="0" bIns="0" rtlCol="0" anchor="t">
            <a:spAutoFit/>
          </a:bodyPr>
          <a:lstStyle/>
          <a:p>
            <a:pPr algn="l">
              <a:lnSpc>
                <a:spcPts val="3360"/>
              </a:lnSpc>
            </a:pPr>
            <a:r>
              <a:rPr lang="en-US" sz="2400">
                <a:solidFill>
                  <a:srgbClr val="000000"/>
                </a:solidFill>
                <a:latin typeface="Poppins"/>
                <a:ea typeface="Poppins"/>
                <a:cs typeface="Poppins"/>
                <a:sym typeface="Poppins"/>
              </a:rPr>
              <a:t>Low correlation between pathways indicates that the two pathways are specializing and focusing on different aspects of the input, rather than redundantly attending to the same information</a:t>
            </a:r>
          </a:p>
          <a:p>
            <a:pPr algn="l">
              <a:lnSpc>
                <a:spcPts val="3360"/>
              </a:lnSpc>
            </a:pPr>
            <a:r>
              <a:rPr lang="en-US" sz="2400">
                <a:solidFill>
                  <a:srgbClr val="000000"/>
                </a:solidFill>
                <a:latin typeface="Poppins"/>
                <a:ea typeface="Poppins"/>
                <a:cs typeface="Poppins"/>
                <a:sym typeface="Poppins"/>
              </a:rPr>
              <a:t>The fusion gate is balancing the contributions of text and price information, rather than favoring one modality, suggests that both news and price signals are informative for the prediction task, and the model is able to adaptively integrate both</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57135" y="1028700"/>
            <a:ext cx="13784366" cy="1543050"/>
            <a:chOff x="0" y="0"/>
            <a:chExt cx="3630450" cy="406400"/>
          </a:xfrm>
        </p:grpSpPr>
        <p:sp>
          <p:nvSpPr>
            <p:cNvPr id="3" name="Freeform 3"/>
            <p:cNvSpPr/>
            <p:nvPr/>
          </p:nvSpPr>
          <p:spPr>
            <a:xfrm>
              <a:off x="0" y="0"/>
              <a:ext cx="3630450" cy="406400"/>
            </a:xfrm>
            <a:custGeom>
              <a:avLst/>
              <a:gdLst/>
              <a:ahLst/>
              <a:cxnLst/>
              <a:rect l="l" t="t" r="r" b="b"/>
              <a:pathLst>
                <a:path w="3630450" h="406400">
                  <a:moveTo>
                    <a:pt x="0" y="0"/>
                  </a:moveTo>
                  <a:lnTo>
                    <a:pt x="3630450" y="0"/>
                  </a:lnTo>
                  <a:lnTo>
                    <a:pt x="3630450" y="406400"/>
                  </a:lnTo>
                  <a:lnTo>
                    <a:pt x="0" y="406400"/>
                  </a:lnTo>
                  <a:close/>
                </a:path>
              </a:pathLst>
            </a:custGeom>
            <a:solidFill>
              <a:srgbClr val="122029"/>
            </a:solidFill>
          </p:spPr>
          <p:txBody>
            <a:bodyPr/>
            <a:lstStyle/>
            <a:p>
              <a:endParaRPr lang="en-US"/>
            </a:p>
          </p:txBody>
        </p:sp>
        <p:sp>
          <p:nvSpPr>
            <p:cNvPr id="4" name="TextBox 4"/>
            <p:cNvSpPr txBox="1"/>
            <p:nvPr/>
          </p:nvSpPr>
          <p:spPr>
            <a:xfrm>
              <a:off x="0" y="-57150"/>
              <a:ext cx="3630450"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7668865">
            <a:off x="12280610" y="-318717"/>
            <a:ext cx="4868099" cy="1199632"/>
            <a:chOff x="0" y="0"/>
            <a:chExt cx="1282133" cy="315952"/>
          </a:xfrm>
        </p:grpSpPr>
        <p:sp>
          <p:nvSpPr>
            <p:cNvPr id="6" name="Freeform 6"/>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7" name="TextBox 7"/>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28700" y="1028700"/>
            <a:ext cx="697472" cy="1543050"/>
            <a:chOff x="0" y="0"/>
            <a:chExt cx="183696" cy="406400"/>
          </a:xfrm>
        </p:grpSpPr>
        <p:sp>
          <p:nvSpPr>
            <p:cNvPr id="9" name="Freeform 9"/>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10" name="TextBox 10"/>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1726172" y="2746719"/>
            <a:ext cx="4803967" cy="7404959"/>
          </a:xfrm>
          <a:custGeom>
            <a:avLst/>
            <a:gdLst/>
            <a:ahLst/>
            <a:cxnLst/>
            <a:rect l="l" t="t" r="r" b="b"/>
            <a:pathLst>
              <a:path w="4803967" h="7404959">
                <a:moveTo>
                  <a:pt x="0" y="0"/>
                </a:moveTo>
                <a:lnTo>
                  <a:pt x="4803967" y="0"/>
                </a:lnTo>
                <a:lnTo>
                  <a:pt x="4803967" y="7404960"/>
                </a:lnTo>
                <a:lnTo>
                  <a:pt x="0" y="7404960"/>
                </a:lnTo>
                <a:lnTo>
                  <a:pt x="0" y="0"/>
                </a:lnTo>
                <a:close/>
              </a:path>
            </a:pathLst>
          </a:custGeom>
          <a:blipFill>
            <a:blip r:embed="rId3"/>
            <a:stretch>
              <a:fillRect/>
            </a:stretch>
          </a:blipFill>
        </p:spPr>
        <p:txBody>
          <a:bodyPr/>
          <a:lstStyle/>
          <a:p>
            <a:endParaRPr lang="en-US"/>
          </a:p>
        </p:txBody>
      </p:sp>
      <p:sp>
        <p:nvSpPr>
          <p:cNvPr id="12" name="Freeform 12"/>
          <p:cNvSpPr/>
          <p:nvPr/>
        </p:nvSpPr>
        <p:spPr>
          <a:xfrm>
            <a:off x="8728061" y="4462315"/>
            <a:ext cx="6622217" cy="1837579"/>
          </a:xfrm>
          <a:custGeom>
            <a:avLst/>
            <a:gdLst/>
            <a:ahLst/>
            <a:cxnLst/>
            <a:rect l="l" t="t" r="r" b="b"/>
            <a:pathLst>
              <a:path w="6622217" h="1837579">
                <a:moveTo>
                  <a:pt x="0" y="0"/>
                </a:moveTo>
                <a:lnTo>
                  <a:pt x="6622217" y="0"/>
                </a:lnTo>
                <a:lnTo>
                  <a:pt x="6622217" y="1837578"/>
                </a:lnTo>
                <a:lnTo>
                  <a:pt x="0" y="1837578"/>
                </a:lnTo>
                <a:lnTo>
                  <a:pt x="0" y="0"/>
                </a:lnTo>
                <a:close/>
              </a:path>
            </a:pathLst>
          </a:custGeom>
          <a:blipFill>
            <a:blip r:embed="rId4"/>
            <a:stretch>
              <a:fillRect/>
            </a:stretch>
          </a:blipFill>
        </p:spPr>
        <p:txBody>
          <a:bodyPr/>
          <a:lstStyle/>
          <a:p>
            <a:endParaRPr lang="en-US"/>
          </a:p>
        </p:txBody>
      </p:sp>
      <p:pic>
        <p:nvPicPr>
          <p:cNvPr id="13" name="Picture 13"/>
          <p:cNvPicPr>
            <a:picLocks noChangeAspect="1"/>
          </p:cNvPicPr>
          <p:nvPr/>
        </p:nvPicPr>
        <p:blipFill>
          <a:blip r:embed="rId5"/>
          <a:srcRect/>
          <a:stretch>
            <a:fillRect/>
          </a:stretch>
        </p:blipFill>
        <p:spPr>
          <a:xfrm rot="1607086">
            <a:off x="5571934" y="5462968"/>
            <a:ext cx="4067616" cy="3477812"/>
          </a:xfrm>
          <a:prstGeom prst="rect">
            <a:avLst/>
          </a:prstGeom>
        </p:spPr>
      </p:pic>
      <p:pic>
        <p:nvPicPr>
          <p:cNvPr id="14" name="Picture 14"/>
          <p:cNvPicPr>
            <a:picLocks noChangeAspect="1"/>
          </p:cNvPicPr>
          <p:nvPr/>
        </p:nvPicPr>
        <p:blipFill>
          <a:blip r:embed="rId6"/>
          <a:srcRect/>
          <a:stretch>
            <a:fillRect/>
          </a:stretch>
        </p:blipFill>
        <p:spPr>
          <a:xfrm rot="-8400494">
            <a:off x="1454256" y="6874755"/>
            <a:ext cx="2081902" cy="2081902"/>
          </a:xfrm>
          <a:prstGeom prst="rect">
            <a:avLst/>
          </a:prstGeom>
        </p:spPr>
      </p:pic>
      <p:sp>
        <p:nvSpPr>
          <p:cNvPr id="15" name="TextBox 15"/>
          <p:cNvSpPr txBox="1"/>
          <p:nvPr/>
        </p:nvSpPr>
        <p:spPr>
          <a:xfrm>
            <a:off x="2554559" y="1102358"/>
            <a:ext cx="14926732" cy="901700"/>
          </a:xfrm>
          <a:prstGeom prst="rect">
            <a:avLst/>
          </a:prstGeom>
        </p:spPr>
        <p:txBody>
          <a:bodyPr lIns="0" tIns="0" rIns="0" bIns="0" rtlCol="0" anchor="t">
            <a:spAutoFit/>
          </a:bodyPr>
          <a:lstStyle/>
          <a:p>
            <a:pPr algn="l">
              <a:lnSpc>
                <a:spcPts val="7000"/>
              </a:lnSpc>
              <a:spcBef>
                <a:spcPct val="0"/>
              </a:spcBef>
            </a:pPr>
            <a:r>
              <a:rPr lang="en-US" sz="5000" b="1">
                <a:solidFill>
                  <a:srgbClr val="FFFFFF"/>
                </a:solidFill>
                <a:latin typeface="Poppins Ultra-Bold"/>
                <a:ea typeface="Poppins Ultra-Bold"/>
                <a:cs typeface="Poppins Ultra-Bold"/>
                <a:sym typeface="Poppins Ultra-Bold"/>
              </a:rPr>
              <a:t>Volatility-Aware Fusion Mechanism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57135" y="1028700"/>
            <a:ext cx="13784366" cy="1543050"/>
            <a:chOff x="0" y="0"/>
            <a:chExt cx="3630450" cy="406400"/>
          </a:xfrm>
        </p:grpSpPr>
        <p:sp>
          <p:nvSpPr>
            <p:cNvPr id="3" name="Freeform 3"/>
            <p:cNvSpPr/>
            <p:nvPr/>
          </p:nvSpPr>
          <p:spPr>
            <a:xfrm>
              <a:off x="0" y="0"/>
              <a:ext cx="3630450" cy="406400"/>
            </a:xfrm>
            <a:custGeom>
              <a:avLst/>
              <a:gdLst/>
              <a:ahLst/>
              <a:cxnLst/>
              <a:rect l="l" t="t" r="r" b="b"/>
              <a:pathLst>
                <a:path w="3630450" h="406400">
                  <a:moveTo>
                    <a:pt x="0" y="0"/>
                  </a:moveTo>
                  <a:lnTo>
                    <a:pt x="3630450" y="0"/>
                  </a:lnTo>
                  <a:lnTo>
                    <a:pt x="3630450" y="406400"/>
                  </a:lnTo>
                  <a:lnTo>
                    <a:pt x="0" y="406400"/>
                  </a:lnTo>
                  <a:close/>
                </a:path>
              </a:pathLst>
            </a:custGeom>
            <a:solidFill>
              <a:srgbClr val="122029"/>
            </a:solidFill>
          </p:spPr>
          <p:txBody>
            <a:bodyPr/>
            <a:lstStyle/>
            <a:p>
              <a:endParaRPr lang="en-US"/>
            </a:p>
          </p:txBody>
        </p:sp>
        <p:sp>
          <p:nvSpPr>
            <p:cNvPr id="4" name="TextBox 4"/>
            <p:cNvSpPr txBox="1"/>
            <p:nvPr/>
          </p:nvSpPr>
          <p:spPr>
            <a:xfrm>
              <a:off x="0" y="-57150"/>
              <a:ext cx="3630450"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7668865">
            <a:off x="12280610" y="-318717"/>
            <a:ext cx="4868099" cy="1199632"/>
            <a:chOff x="0" y="0"/>
            <a:chExt cx="1282133" cy="315952"/>
          </a:xfrm>
        </p:grpSpPr>
        <p:sp>
          <p:nvSpPr>
            <p:cNvPr id="6" name="Freeform 6"/>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7" name="TextBox 7"/>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28700" y="1028700"/>
            <a:ext cx="697472" cy="1543050"/>
            <a:chOff x="0" y="0"/>
            <a:chExt cx="183696" cy="406400"/>
          </a:xfrm>
        </p:grpSpPr>
        <p:sp>
          <p:nvSpPr>
            <p:cNvPr id="9" name="Freeform 9"/>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10" name="TextBox 10"/>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2701826" y="4820352"/>
            <a:ext cx="3811056" cy="2837119"/>
          </a:xfrm>
          <a:custGeom>
            <a:avLst/>
            <a:gdLst/>
            <a:ahLst/>
            <a:cxnLst/>
            <a:rect l="l" t="t" r="r" b="b"/>
            <a:pathLst>
              <a:path w="3811056" h="2837119">
                <a:moveTo>
                  <a:pt x="0" y="0"/>
                </a:moveTo>
                <a:lnTo>
                  <a:pt x="3811056" y="0"/>
                </a:lnTo>
                <a:lnTo>
                  <a:pt x="3811056" y="2837119"/>
                </a:lnTo>
                <a:lnTo>
                  <a:pt x="0" y="2837119"/>
                </a:lnTo>
                <a:lnTo>
                  <a:pt x="0" y="0"/>
                </a:lnTo>
                <a:close/>
              </a:path>
            </a:pathLst>
          </a:custGeom>
          <a:blipFill>
            <a:blip r:embed="rId3"/>
            <a:stretch>
              <a:fillRect/>
            </a:stretch>
          </a:blipFill>
        </p:spPr>
        <p:txBody>
          <a:bodyPr/>
          <a:lstStyle/>
          <a:p>
            <a:endParaRPr lang="en-US"/>
          </a:p>
        </p:txBody>
      </p:sp>
      <p:sp>
        <p:nvSpPr>
          <p:cNvPr id="12" name="Freeform 12"/>
          <p:cNvSpPr/>
          <p:nvPr/>
        </p:nvSpPr>
        <p:spPr>
          <a:xfrm>
            <a:off x="9144000" y="4820352"/>
            <a:ext cx="6443791" cy="2623136"/>
          </a:xfrm>
          <a:custGeom>
            <a:avLst/>
            <a:gdLst/>
            <a:ahLst/>
            <a:cxnLst/>
            <a:rect l="l" t="t" r="r" b="b"/>
            <a:pathLst>
              <a:path w="6443791" h="2623136">
                <a:moveTo>
                  <a:pt x="0" y="0"/>
                </a:moveTo>
                <a:lnTo>
                  <a:pt x="6443791" y="0"/>
                </a:lnTo>
                <a:lnTo>
                  <a:pt x="6443791" y="2623136"/>
                </a:lnTo>
                <a:lnTo>
                  <a:pt x="0" y="2623136"/>
                </a:lnTo>
                <a:lnTo>
                  <a:pt x="0" y="0"/>
                </a:lnTo>
                <a:close/>
              </a:path>
            </a:pathLst>
          </a:custGeom>
          <a:blipFill>
            <a:blip r:embed="rId4"/>
            <a:stretch>
              <a:fillRect/>
            </a:stretch>
          </a:blipFill>
        </p:spPr>
        <p:txBody>
          <a:bodyPr/>
          <a:lstStyle/>
          <a:p>
            <a:endParaRPr lang="en-US"/>
          </a:p>
        </p:txBody>
      </p:sp>
      <p:sp>
        <p:nvSpPr>
          <p:cNvPr id="13" name="TextBox 13"/>
          <p:cNvSpPr txBox="1"/>
          <p:nvPr/>
        </p:nvSpPr>
        <p:spPr>
          <a:xfrm>
            <a:off x="1028699" y="4250343"/>
            <a:ext cx="2057381" cy="879475"/>
          </a:xfrm>
          <a:prstGeom prst="rect">
            <a:avLst/>
          </a:prstGeom>
        </p:spPr>
        <p:txBody>
          <a:bodyPr wrap="square" lIns="0" tIns="0" rIns="0" bIns="0" rtlCol="0" anchor="t">
            <a:spAutoFit/>
          </a:bodyPr>
          <a:lstStyle/>
          <a:p>
            <a:pPr marL="539746" lvl="1" indent="-269873" algn="l">
              <a:lnSpc>
                <a:spcPts val="3499"/>
              </a:lnSpc>
              <a:buFont typeface="Arial"/>
              <a:buChar char="•"/>
            </a:pPr>
            <a:r>
              <a:rPr lang="en-US" sz="2499" b="1" dirty="0">
                <a:solidFill>
                  <a:srgbClr val="000000"/>
                </a:solidFill>
                <a:latin typeface="Poppins Bold"/>
                <a:ea typeface="Poppins Bold"/>
                <a:cs typeface="Poppins Bold"/>
                <a:sym typeface="Poppins Bold"/>
              </a:rPr>
              <a:t>Inputs:</a:t>
            </a:r>
          </a:p>
          <a:p>
            <a:pPr algn="l">
              <a:lnSpc>
                <a:spcPts val="3499"/>
              </a:lnSpc>
            </a:pPr>
            <a:endParaRPr lang="en-US" sz="2499" b="1" dirty="0">
              <a:solidFill>
                <a:srgbClr val="000000"/>
              </a:solidFill>
              <a:latin typeface="Poppins Bold"/>
              <a:ea typeface="Poppins Bold"/>
              <a:cs typeface="Poppins Bold"/>
              <a:sym typeface="Poppins Bold"/>
            </a:endParaRPr>
          </a:p>
        </p:txBody>
      </p:sp>
      <p:sp>
        <p:nvSpPr>
          <p:cNvPr id="14" name="TextBox 14"/>
          <p:cNvSpPr txBox="1"/>
          <p:nvPr/>
        </p:nvSpPr>
        <p:spPr>
          <a:xfrm>
            <a:off x="2554559" y="1102358"/>
            <a:ext cx="14926732" cy="901700"/>
          </a:xfrm>
          <a:prstGeom prst="rect">
            <a:avLst/>
          </a:prstGeom>
        </p:spPr>
        <p:txBody>
          <a:bodyPr lIns="0" tIns="0" rIns="0" bIns="0" rtlCol="0" anchor="t">
            <a:spAutoFit/>
          </a:bodyPr>
          <a:lstStyle/>
          <a:p>
            <a:pPr algn="l">
              <a:lnSpc>
                <a:spcPts val="7000"/>
              </a:lnSpc>
              <a:spcBef>
                <a:spcPct val="0"/>
              </a:spcBef>
            </a:pPr>
            <a:r>
              <a:rPr lang="en-US" sz="5000" b="1">
                <a:solidFill>
                  <a:srgbClr val="FFFFFF"/>
                </a:solidFill>
                <a:latin typeface="Poppins Ultra-Bold"/>
                <a:ea typeface="Poppins Ultra-Bold"/>
                <a:cs typeface="Poppins Ultra-Bold"/>
                <a:sym typeface="Poppins Ultra-Bold"/>
              </a:rPr>
              <a:t>Volatility-Aware Fusion Mechanism</a:t>
            </a:r>
          </a:p>
        </p:txBody>
      </p:sp>
      <p:sp>
        <p:nvSpPr>
          <p:cNvPr id="15" name="TextBox 15"/>
          <p:cNvSpPr txBox="1"/>
          <p:nvPr/>
        </p:nvSpPr>
        <p:spPr>
          <a:xfrm>
            <a:off x="1028700" y="2850011"/>
            <a:ext cx="16230600" cy="441325"/>
          </a:xfrm>
          <a:prstGeom prst="rect">
            <a:avLst/>
          </a:prstGeom>
        </p:spPr>
        <p:txBody>
          <a:bodyPr lIns="0" tIns="0" rIns="0" bIns="0" rtlCol="0" anchor="t">
            <a:spAutoFit/>
          </a:bodyPr>
          <a:lstStyle/>
          <a:p>
            <a:pPr marL="539749" lvl="1" indent="-269875" algn="l">
              <a:lnSpc>
                <a:spcPts val="3499"/>
              </a:lnSpc>
              <a:buFont typeface="Arial"/>
              <a:buChar char="•"/>
            </a:pPr>
            <a:r>
              <a:rPr lang="en-US" sz="2499" b="1">
                <a:solidFill>
                  <a:srgbClr val="000000"/>
                </a:solidFill>
                <a:latin typeface="Poppins Bold"/>
                <a:ea typeface="Poppins Bold"/>
                <a:cs typeface="Poppins Bold"/>
                <a:sym typeface="Poppins Bold"/>
              </a:rPr>
              <a:t>Goal: </a:t>
            </a:r>
            <a:r>
              <a:rPr lang="en-US" sz="2499">
                <a:solidFill>
                  <a:srgbClr val="000000"/>
                </a:solidFill>
                <a:latin typeface="Poppins"/>
                <a:ea typeface="Poppins"/>
                <a:cs typeface="Poppins"/>
                <a:sym typeface="Poppins"/>
              </a:rPr>
              <a:t>Adapt model behavior to market volatility</a:t>
            </a:r>
          </a:p>
        </p:txBody>
      </p:sp>
      <p:sp>
        <p:nvSpPr>
          <p:cNvPr id="16" name="TextBox 16"/>
          <p:cNvSpPr txBox="1"/>
          <p:nvPr/>
        </p:nvSpPr>
        <p:spPr>
          <a:xfrm>
            <a:off x="7239019" y="4250343"/>
            <a:ext cx="2057381" cy="441325"/>
          </a:xfrm>
          <a:prstGeom prst="rect">
            <a:avLst/>
          </a:prstGeom>
        </p:spPr>
        <p:txBody>
          <a:bodyPr wrap="square" lIns="0" tIns="0" rIns="0" bIns="0" rtlCol="0" anchor="t">
            <a:spAutoFit/>
          </a:bodyPr>
          <a:lstStyle/>
          <a:p>
            <a:pPr marL="539746" lvl="1" indent="-269873" algn="l">
              <a:lnSpc>
                <a:spcPts val="3499"/>
              </a:lnSpc>
              <a:buFont typeface="Arial"/>
              <a:buChar char="•"/>
            </a:pPr>
            <a:r>
              <a:rPr lang="en-US" sz="2499" b="1" dirty="0">
                <a:solidFill>
                  <a:srgbClr val="000000"/>
                </a:solidFill>
                <a:latin typeface="Poppins Bold"/>
                <a:ea typeface="Poppins Bold"/>
                <a:cs typeface="Poppins Bold"/>
                <a:sym typeface="Poppins Bold"/>
              </a:rPr>
              <a:t>Fusion</a:t>
            </a:r>
          </a:p>
        </p:txBody>
      </p:sp>
      <p:sp>
        <p:nvSpPr>
          <p:cNvPr id="17" name="TextBox 17"/>
          <p:cNvSpPr txBox="1"/>
          <p:nvPr/>
        </p:nvSpPr>
        <p:spPr>
          <a:xfrm>
            <a:off x="1028700" y="8619496"/>
            <a:ext cx="16230600" cy="879475"/>
          </a:xfrm>
          <a:prstGeom prst="rect">
            <a:avLst/>
          </a:prstGeom>
        </p:spPr>
        <p:txBody>
          <a:bodyPr lIns="0" tIns="0" rIns="0" bIns="0" rtlCol="0" anchor="t">
            <a:spAutoFit/>
          </a:bodyPr>
          <a:lstStyle/>
          <a:p>
            <a:pPr algn="l">
              <a:lnSpc>
                <a:spcPts val="3499"/>
              </a:lnSpc>
              <a:spcBef>
                <a:spcPct val="0"/>
              </a:spcBef>
            </a:pPr>
            <a:r>
              <a:rPr lang="en-US" sz="2499">
                <a:solidFill>
                  <a:srgbClr val="000000"/>
                </a:solidFill>
                <a:latin typeface="Poppins"/>
                <a:ea typeface="Poppins"/>
                <a:cs typeface="Poppins"/>
                <a:sym typeface="Poppins"/>
              </a:rPr>
              <a:t>This mechanism blends signals based on current market conditions. In high volatility, it shifts focus toward causal insights from news; in stable markets, it leans more on price history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57135" y="1028700"/>
            <a:ext cx="14007306" cy="1543050"/>
            <a:chOff x="0" y="0"/>
            <a:chExt cx="3689167" cy="406400"/>
          </a:xfrm>
        </p:grpSpPr>
        <p:sp>
          <p:nvSpPr>
            <p:cNvPr id="3" name="Freeform 3"/>
            <p:cNvSpPr/>
            <p:nvPr/>
          </p:nvSpPr>
          <p:spPr>
            <a:xfrm>
              <a:off x="0" y="0"/>
              <a:ext cx="3689167" cy="406400"/>
            </a:xfrm>
            <a:custGeom>
              <a:avLst/>
              <a:gdLst/>
              <a:ahLst/>
              <a:cxnLst/>
              <a:rect l="l" t="t" r="r" b="b"/>
              <a:pathLst>
                <a:path w="3689167" h="406400">
                  <a:moveTo>
                    <a:pt x="0" y="0"/>
                  </a:moveTo>
                  <a:lnTo>
                    <a:pt x="3689167" y="0"/>
                  </a:lnTo>
                  <a:lnTo>
                    <a:pt x="3689167" y="406400"/>
                  </a:lnTo>
                  <a:lnTo>
                    <a:pt x="0" y="406400"/>
                  </a:lnTo>
                  <a:close/>
                </a:path>
              </a:pathLst>
            </a:custGeom>
            <a:solidFill>
              <a:srgbClr val="122029"/>
            </a:solidFill>
          </p:spPr>
          <p:txBody>
            <a:bodyPr/>
            <a:lstStyle/>
            <a:p>
              <a:endParaRPr lang="en-US"/>
            </a:p>
          </p:txBody>
        </p:sp>
        <p:sp>
          <p:nvSpPr>
            <p:cNvPr id="4" name="TextBox 4"/>
            <p:cNvSpPr txBox="1"/>
            <p:nvPr/>
          </p:nvSpPr>
          <p:spPr>
            <a:xfrm>
              <a:off x="0" y="-57150"/>
              <a:ext cx="3689167"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7668865">
            <a:off x="12506866" y="-318717"/>
            <a:ext cx="4868099" cy="1199632"/>
            <a:chOff x="0" y="0"/>
            <a:chExt cx="1282133" cy="315952"/>
          </a:xfrm>
        </p:grpSpPr>
        <p:sp>
          <p:nvSpPr>
            <p:cNvPr id="6" name="Freeform 6"/>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7" name="TextBox 7"/>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28700" y="1028700"/>
            <a:ext cx="697472" cy="1543050"/>
            <a:chOff x="0" y="0"/>
            <a:chExt cx="183696" cy="406400"/>
          </a:xfrm>
        </p:grpSpPr>
        <p:sp>
          <p:nvSpPr>
            <p:cNvPr id="9" name="Freeform 9"/>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10" name="TextBox 10"/>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2554559" y="1035683"/>
            <a:ext cx="12777907" cy="1319534"/>
          </a:xfrm>
          <a:prstGeom prst="rect">
            <a:avLst/>
          </a:prstGeom>
        </p:spPr>
        <p:txBody>
          <a:bodyPr lIns="0" tIns="0" rIns="0" bIns="0" rtlCol="0" anchor="t">
            <a:spAutoFit/>
          </a:bodyPr>
          <a:lstStyle/>
          <a:p>
            <a:pPr algn="l">
              <a:lnSpc>
                <a:spcPts val="10219"/>
              </a:lnSpc>
              <a:spcBef>
                <a:spcPct val="0"/>
              </a:spcBef>
            </a:pPr>
            <a:r>
              <a:rPr lang="en-US" sz="7299" b="1">
                <a:solidFill>
                  <a:srgbClr val="FFFFFF"/>
                </a:solidFill>
                <a:latin typeface="Poppins Ultra-Bold"/>
                <a:ea typeface="Poppins Ultra-Bold"/>
                <a:cs typeface="Poppins Ultra-Bold"/>
                <a:sym typeface="Poppins Ultra-Bold"/>
              </a:rPr>
              <a:t>Causal Text Selection Unit </a:t>
            </a:r>
          </a:p>
        </p:txBody>
      </p:sp>
      <p:grpSp>
        <p:nvGrpSpPr>
          <p:cNvPr id="12" name="Group 12"/>
          <p:cNvGrpSpPr/>
          <p:nvPr/>
        </p:nvGrpSpPr>
        <p:grpSpPr>
          <a:xfrm>
            <a:off x="1957135" y="1028700"/>
            <a:ext cx="13784366" cy="1543050"/>
            <a:chOff x="0" y="0"/>
            <a:chExt cx="3630450" cy="406400"/>
          </a:xfrm>
        </p:grpSpPr>
        <p:sp>
          <p:nvSpPr>
            <p:cNvPr id="13" name="Freeform 13"/>
            <p:cNvSpPr/>
            <p:nvPr/>
          </p:nvSpPr>
          <p:spPr>
            <a:xfrm>
              <a:off x="0" y="0"/>
              <a:ext cx="3630450" cy="406400"/>
            </a:xfrm>
            <a:custGeom>
              <a:avLst/>
              <a:gdLst/>
              <a:ahLst/>
              <a:cxnLst/>
              <a:rect l="l" t="t" r="r" b="b"/>
              <a:pathLst>
                <a:path w="3630450" h="406400">
                  <a:moveTo>
                    <a:pt x="0" y="0"/>
                  </a:moveTo>
                  <a:lnTo>
                    <a:pt x="3630450" y="0"/>
                  </a:lnTo>
                  <a:lnTo>
                    <a:pt x="3630450" y="406400"/>
                  </a:lnTo>
                  <a:lnTo>
                    <a:pt x="0" y="406400"/>
                  </a:lnTo>
                  <a:close/>
                </a:path>
              </a:pathLst>
            </a:custGeom>
            <a:solidFill>
              <a:srgbClr val="122029"/>
            </a:solidFill>
          </p:spPr>
          <p:txBody>
            <a:bodyPr/>
            <a:lstStyle/>
            <a:p>
              <a:endParaRPr lang="en-US"/>
            </a:p>
          </p:txBody>
        </p:sp>
        <p:sp>
          <p:nvSpPr>
            <p:cNvPr id="14" name="TextBox 14"/>
            <p:cNvSpPr txBox="1"/>
            <p:nvPr/>
          </p:nvSpPr>
          <p:spPr>
            <a:xfrm>
              <a:off x="0" y="-57150"/>
              <a:ext cx="3630450"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rot="-7668865">
            <a:off x="12280610" y="-318717"/>
            <a:ext cx="4868099" cy="1199632"/>
            <a:chOff x="0" y="0"/>
            <a:chExt cx="1282133" cy="315952"/>
          </a:xfrm>
        </p:grpSpPr>
        <p:sp>
          <p:nvSpPr>
            <p:cNvPr id="16" name="Freeform 16"/>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17" name="TextBox 17"/>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1028700" y="1028700"/>
            <a:ext cx="697472" cy="1543050"/>
            <a:chOff x="0" y="0"/>
            <a:chExt cx="183696" cy="406400"/>
          </a:xfrm>
        </p:grpSpPr>
        <p:sp>
          <p:nvSpPr>
            <p:cNvPr id="19" name="Freeform 19"/>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20" name="TextBox 20"/>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sp>
        <p:nvSpPr>
          <p:cNvPr id="21" name="Freeform 21"/>
          <p:cNvSpPr/>
          <p:nvPr/>
        </p:nvSpPr>
        <p:spPr>
          <a:xfrm>
            <a:off x="1028700" y="4936284"/>
            <a:ext cx="8115300" cy="2322471"/>
          </a:xfrm>
          <a:custGeom>
            <a:avLst/>
            <a:gdLst/>
            <a:ahLst/>
            <a:cxnLst/>
            <a:rect l="l" t="t" r="r" b="b"/>
            <a:pathLst>
              <a:path w="8115300" h="2322471">
                <a:moveTo>
                  <a:pt x="0" y="0"/>
                </a:moveTo>
                <a:lnTo>
                  <a:pt x="8115300" y="0"/>
                </a:lnTo>
                <a:lnTo>
                  <a:pt x="8115300" y="2322470"/>
                </a:lnTo>
                <a:lnTo>
                  <a:pt x="0" y="2322470"/>
                </a:lnTo>
                <a:lnTo>
                  <a:pt x="0" y="0"/>
                </a:lnTo>
                <a:close/>
              </a:path>
            </a:pathLst>
          </a:custGeom>
          <a:blipFill>
            <a:blip r:embed="rId3"/>
            <a:stretch>
              <a:fillRect l="-127" r="-127"/>
            </a:stretch>
          </a:blipFill>
        </p:spPr>
        <p:txBody>
          <a:bodyPr/>
          <a:lstStyle/>
          <a:p>
            <a:endParaRPr lang="en-US"/>
          </a:p>
        </p:txBody>
      </p:sp>
      <p:sp>
        <p:nvSpPr>
          <p:cNvPr id="22" name="Freeform 22"/>
          <p:cNvSpPr/>
          <p:nvPr/>
        </p:nvSpPr>
        <p:spPr>
          <a:xfrm>
            <a:off x="6096404" y="7131034"/>
            <a:ext cx="2752915" cy="550852"/>
          </a:xfrm>
          <a:custGeom>
            <a:avLst/>
            <a:gdLst/>
            <a:ahLst/>
            <a:cxnLst/>
            <a:rect l="l" t="t" r="r" b="b"/>
            <a:pathLst>
              <a:path w="2752915" h="550852">
                <a:moveTo>
                  <a:pt x="0" y="0"/>
                </a:moveTo>
                <a:lnTo>
                  <a:pt x="2752914" y="0"/>
                </a:lnTo>
                <a:lnTo>
                  <a:pt x="2752914" y="550852"/>
                </a:lnTo>
                <a:lnTo>
                  <a:pt x="0" y="550852"/>
                </a:lnTo>
                <a:lnTo>
                  <a:pt x="0" y="0"/>
                </a:lnTo>
                <a:close/>
              </a:path>
            </a:pathLst>
          </a:custGeom>
          <a:blipFill>
            <a:blip r:embed="rId4"/>
            <a:stretch>
              <a:fillRect t="-1445" b="-1445"/>
            </a:stretch>
          </a:blipFill>
        </p:spPr>
        <p:txBody>
          <a:bodyPr/>
          <a:lstStyle/>
          <a:p>
            <a:endParaRPr lang="en-US"/>
          </a:p>
        </p:txBody>
      </p:sp>
      <p:sp>
        <p:nvSpPr>
          <p:cNvPr id="23" name="TextBox 23"/>
          <p:cNvSpPr txBox="1"/>
          <p:nvPr/>
        </p:nvSpPr>
        <p:spPr>
          <a:xfrm>
            <a:off x="1028700" y="2773918"/>
            <a:ext cx="10135407" cy="720915"/>
          </a:xfrm>
          <a:prstGeom prst="rect">
            <a:avLst/>
          </a:prstGeom>
        </p:spPr>
        <p:txBody>
          <a:bodyPr lIns="0" tIns="0" rIns="0" bIns="0" rtlCol="0" anchor="t">
            <a:spAutoFit/>
          </a:bodyPr>
          <a:lstStyle/>
          <a:p>
            <a:pPr algn="l">
              <a:lnSpc>
                <a:spcPts val="5595"/>
              </a:lnSpc>
              <a:spcBef>
                <a:spcPct val="0"/>
              </a:spcBef>
            </a:pPr>
            <a:r>
              <a:rPr lang="en-US" sz="3997" b="1">
                <a:solidFill>
                  <a:srgbClr val="86B4C4"/>
                </a:solidFill>
                <a:latin typeface="Poppins Ultra-Bold"/>
                <a:ea typeface="Poppins Ultra-Bold"/>
                <a:cs typeface="Poppins Ultra-Bold"/>
                <a:sym typeface="Poppins Ultra-Bold"/>
              </a:rPr>
              <a:t>Learning Objective &amp; Results</a:t>
            </a:r>
          </a:p>
        </p:txBody>
      </p:sp>
      <p:sp>
        <p:nvSpPr>
          <p:cNvPr id="24" name="TextBox 24"/>
          <p:cNvSpPr txBox="1"/>
          <p:nvPr/>
        </p:nvSpPr>
        <p:spPr>
          <a:xfrm>
            <a:off x="2554559" y="1102358"/>
            <a:ext cx="14926732" cy="901700"/>
          </a:xfrm>
          <a:prstGeom prst="rect">
            <a:avLst/>
          </a:prstGeom>
        </p:spPr>
        <p:txBody>
          <a:bodyPr lIns="0" tIns="0" rIns="0" bIns="0" rtlCol="0" anchor="t">
            <a:spAutoFit/>
          </a:bodyPr>
          <a:lstStyle/>
          <a:p>
            <a:pPr algn="l">
              <a:lnSpc>
                <a:spcPts val="7000"/>
              </a:lnSpc>
              <a:spcBef>
                <a:spcPct val="0"/>
              </a:spcBef>
            </a:pPr>
            <a:r>
              <a:rPr lang="en-US" sz="5000" b="1">
                <a:solidFill>
                  <a:srgbClr val="FFFFFF"/>
                </a:solidFill>
                <a:latin typeface="Poppins Ultra-Bold"/>
                <a:ea typeface="Poppins Ultra-Bold"/>
                <a:cs typeface="Poppins Ultra-Bold"/>
                <a:sym typeface="Poppins Ultra-Bold"/>
              </a:rPr>
              <a:t>Volatility-Aware Fusion Mechanism</a:t>
            </a:r>
          </a:p>
        </p:txBody>
      </p:sp>
      <p:sp>
        <p:nvSpPr>
          <p:cNvPr id="25" name="TextBox 25"/>
          <p:cNvSpPr txBox="1"/>
          <p:nvPr/>
        </p:nvSpPr>
        <p:spPr>
          <a:xfrm>
            <a:off x="1028700" y="3961558"/>
            <a:ext cx="3223468" cy="441325"/>
          </a:xfrm>
          <a:prstGeom prst="rect">
            <a:avLst/>
          </a:prstGeom>
        </p:spPr>
        <p:txBody>
          <a:bodyPr lIns="0" tIns="0" rIns="0" bIns="0" rtlCol="0" anchor="t">
            <a:spAutoFit/>
          </a:bodyPr>
          <a:lstStyle/>
          <a:p>
            <a:pPr algn="l">
              <a:lnSpc>
                <a:spcPts val="3499"/>
              </a:lnSpc>
              <a:spcBef>
                <a:spcPct val="0"/>
              </a:spcBef>
            </a:pPr>
            <a:r>
              <a:rPr lang="en-US" sz="2499" b="1">
                <a:solidFill>
                  <a:srgbClr val="000000"/>
                </a:solidFill>
                <a:latin typeface="Poppins Bold"/>
                <a:ea typeface="Poppins Bold"/>
                <a:cs typeface="Poppins Bold"/>
                <a:sym typeface="Poppins Bold"/>
              </a:rPr>
              <a:t>Learning Objective: </a:t>
            </a:r>
          </a:p>
        </p:txBody>
      </p:sp>
      <p:sp>
        <p:nvSpPr>
          <p:cNvPr id="26" name="TextBox 26"/>
          <p:cNvSpPr txBox="1"/>
          <p:nvPr/>
        </p:nvSpPr>
        <p:spPr>
          <a:xfrm>
            <a:off x="9144000" y="3961558"/>
            <a:ext cx="1283643" cy="441325"/>
          </a:xfrm>
          <a:prstGeom prst="rect">
            <a:avLst/>
          </a:prstGeom>
        </p:spPr>
        <p:txBody>
          <a:bodyPr lIns="0" tIns="0" rIns="0" bIns="0" rtlCol="0" anchor="t">
            <a:spAutoFit/>
          </a:bodyPr>
          <a:lstStyle/>
          <a:p>
            <a:pPr algn="l">
              <a:lnSpc>
                <a:spcPts val="3499"/>
              </a:lnSpc>
              <a:spcBef>
                <a:spcPct val="0"/>
              </a:spcBef>
            </a:pPr>
            <a:r>
              <a:rPr lang="en-US" sz="2499" b="1" dirty="0">
                <a:solidFill>
                  <a:srgbClr val="000000"/>
                </a:solidFill>
                <a:latin typeface="Poppins Bold"/>
                <a:ea typeface="Poppins Bold"/>
                <a:cs typeface="Poppins Bold"/>
                <a:sym typeface="Poppins Bold"/>
              </a:rPr>
              <a:t>Result:</a:t>
            </a:r>
          </a:p>
        </p:txBody>
      </p:sp>
      <p:sp>
        <p:nvSpPr>
          <p:cNvPr id="27" name="TextBox 27"/>
          <p:cNvSpPr txBox="1"/>
          <p:nvPr/>
        </p:nvSpPr>
        <p:spPr>
          <a:xfrm>
            <a:off x="9144000" y="5076825"/>
            <a:ext cx="8057782" cy="1755775"/>
          </a:xfrm>
          <a:prstGeom prst="rect">
            <a:avLst/>
          </a:prstGeom>
        </p:spPr>
        <p:txBody>
          <a:bodyPr lIns="0" tIns="0" rIns="0" bIns="0" rtlCol="0" anchor="t">
            <a:spAutoFit/>
          </a:bodyPr>
          <a:lstStyle/>
          <a:p>
            <a:pPr marL="539746" lvl="1" indent="-269873" algn="l">
              <a:lnSpc>
                <a:spcPts val="3499"/>
              </a:lnSpc>
              <a:buFont typeface="Arial"/>
              <a:buChar char="•"/>
            </a:pPr>
            <a:r>
              <a:rPr lang="en-US" sz="2499">
                <a:solidFill>
                  <a:srgbClr val="000000"/>
                </a:solidFill>
                <a:latin typeface="Poppins"/>
                <a:ea typeface="Poppins"/>
                <a:cs typeface="Poppins"/>
                <a:sym typeface="Poppins"/>
              </a:rPr>
              <a:t>+1.5% absolute increase in forecasting accuracy over DP-SRL on the test set</a:t>
            </a:r>
          </a:p>
          <a:p>
            <a:pPr marL="539746" lvl="1" indent="-269873" algn="l">
              <a:lnSpc>
                <a:spcPts val="3499"/>
              </a:lnSpc>
              <a:buFont typeface="Arial"/>
              <a:buChar char="•"/>
            </a:pPr>
            <a:r>
              <a:rPr lang="en-US" sz="2499">
                <a:solidFill>
                  <a:srgbClr val="000000"/>
                </a:solidFill>
                <a:latin typeface="Poppins"/>
                <a:ea typeface="Poppins"/>
                <a:cs typeface="Poppins"/>
                <a:sym typeface="Poppins"/>
              </a:rPr>
              <a:t>+2.3% accuracy on volatile days vs. DP-SRL</a:t>
            </a:r>
          </a:p>
          <a:p>
            <a:pPr marL="539746" lvl="1" indent="-269873" algn="l">
              <a:lnSpc>
                <a:spcPts val="3499"/>
              </a:lnSpc>
              <a:buFont typeface="Arial"/>
              <a:buChar char="•"/>
            </a:pPr>
            <a:r>
              <a:rPr lang="en-US" sz="2499">
                <a:solidFill>
                  <a:srgbClr val="000000"/>
                </a:solidFill>
                <a:latin typeface="Poppins"/>
                <a:ea typeface="Poppins"/>
                <a:cs typeface="Poppins"/>
                <a:sym typeface="Poppins"/>
              </a:rPr>
              <a:t>Confirmed robustness through ablations</a:t>
            </a:r>
          </a:p>
        </p:txBody>
      </p:sp>
      <p:sp>
        <p:nvSpPr>
          <p:cNvPr id="28" name="TextBox 28"/>
          <p:cNvSpPr txBox="1"/>
          <p:nvPr/>
        </p:nvSpPr>
        <p:spPr>
          <a:xfrm>
            <a:off x="1028700" y="8270914"/>
            <a:ext cx="16230600" cy="879475"/>
          </a:xfrm>
          <a:prstGeom prst="rect">
            <a:avLst/>
          </a:prstGeom>
        </p:spPr>
        <p:txBody>
          <a:bodyPr lIns="0" tIns="0" rIns="0" bIns="0" rtlCol="0" anchor="t">
            <a:spAutoFit/>
          </a:bodyPr>
          <a:lstStyle/>
          <a:p>
            <a:pPr algn="ctr">
              <a:lnSpc>
                <a:spcPts val="3499"/>
              </a:lnSpc>
              <a:spcBef>
                <a:spcPct val="0"/>
              </a:spcBef>
            </a:pPr>
            <a:r>
              <a:rPr lang="en-US" sz="2499">
                <a:solidFill>
                  <a:srgbClr val="000000"/>
                </a:solidFill>
                <a:latin typeface="Poppins"/>
                <a:ea typeface="Poppins"/>
                <a:cs typeface="Poppins"/>
                <a:sym typeface="Poppins"/>
              </a:rPr>
              <a:t>This volatility-aware design leads to stronger forecasts during unstable market phases. It learns to focus on the most stable and informative signals using adaptive weighting.</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57135" y="1028700"/>
            <a:ext cx="11204639" cy="1543050"/>
            <a:chOff x="0" y="0"/>
            <a:chExt cx="2951016" cy="406400"/>
          </a:xfrm>
        </p:grpSpPr>
        <p:sp>
          <p:nvSpPr>
            <p:cNvPr id="3" name="Freeform 3"/>
            <p:cNvSpPr/>
            <p:nvPr/>
          </p:nvSpPr>
          <p:spPr>
            <a:xfrm>
              <a:off x="0" y="0"/>
              <a:ext cx="2951016" cy="406400"/>
            </a:xfrm>
            <a:custGeom>
              <a:avLst/>
              <a:gdLst/>
              <a:ahLst/>
              <a:cxnLst/>
              <a:rect l="l" t="t" r="r" b="b"/>
              <a:pathLst>
                <a:path w="2951016" h="406400">
                  <a:moveTo>
                    <a:pt x="0" y="0"/>
                  </a:moveTo>
                  <a:lnTo>
                    <a:pt x="2951016" y="0"/>
                  </a:lnTo>
                  <a:lnTo>
                    <a:pt x="2951016" y="406400"/>
                  </a:lnTo>
                  <a:lnTo>
                    <a:pt x="0" y="406400"/>
                  </a:lnTo>
                  <a:close/>
                </a:path>
              </a:pathLst>
            </a:custGeom>
            <a:solidFill>
              <a:srgbClr val="122029"/>
            </a:solidFill>
          </p:spPr>
          <p:txBody>
            <a:bodyPr/>
            <a:lstStyle/>
            <a:p>
              <a:endParaRPr lang="en-US"/>
            </a:p>
          </p:txBody>
        </p:sp>
        <p:sp>
          <p:nvSpPr>
            <p:cNvPr id="4" name="TextBox 4"/>
            <p:cNvSpPr txBox="1"/>
            <p:nvPr/>
          </p:nvSpPr>
          <p:spPr>
            <a:xfrm>
              <a:off x="0" y="-57150"/>
              <a:ext cx="2951016"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7668865">
            <a:off x="9718812" y="-318717"/>
            <a:ext cx="4868099" cy="1199632"/>
            <a:chOff x="0" y="0"/>
            <a:chExt cx="1282133" cy="315952"/>
          </a:xfrm>
        </p:grpSpPr>
        <p:sp>
          <p:nvSpPr>
            <p:cNvPr id="6" name="Freeform 6"/>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7" name="TextBox 7"/>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28700" y="1028700"/>
            <a:ext cx="697472" cy="1543050"/>
            <a:chOff x="0" y="0"/>
            <a:chExt cx="183696" cy="406400"/>
          </a:xfrm>
        </p:grpSpPr>
        <p:sp>
          <p:nvSpPr>
            <p:cNvPr id="9" name="Freeform 9"/>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10" name="TextBox 10"/>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8377394" y="9032512"/>
            <a:ext cx="11204639" cy="1543050"/>
            <a:chOff x="0" y="0"/>
            <a:chExt cx="2951016" cy="406400"/>
          </a:xfrm>
        </p:grpSpPr>
        <p:sp>
          <p:nvSpPr>
            <p:cNvPr id="12" name="Freeform 12"/>
            <p:cNvSpPr/>
            <p:nvPr/>
          </p:nvSpPr>
          <p:spPr>
            <a:xfrm>
              <a:off x="0" y="0"/>
              <a:ext cx="2951016" cy="406400"/>
            </a:xfrm>
            <a:custGeom>
              <a:avLst/>
              <a:gdLst/>
              <a:ahLst/>
              <a:cxnLst/>
              <a:rect l="l" t="t" r="r" b="b"/>
              <a:pathLst>
                <a:path w="2951016" h="406400">
                  <a:moveTo>
                    <a:pt x="0" y="0"/>
                  </a:moveTo>
                  <a:lnTo>
                    <a:pt x="2951016" y="0"/>
                  </a:lnTo>
                  <a:lnTo>
                    <a:pt x="2951016" y="406400"/>
                  </a:lnTo>
                  <a:lnTo>
                    <a:pt x="0" y="406400"/>
                  </a:lnTo>
                  <a:close/>
                </a:path>
              </a:pathLst>
            </a:custGeom>
            <a:solidFill>
              <a:srgbClr val="122029"/>
            </a:solidFill>
          </p:spPr>
          <p:txBody>
            <a:bodyPr/>
            <a:lstStyle/>
            <a:p>
              <a:endParaRPr lang="en-US"/>
            </a:p>
          </p:txBody>
        </p:sp>
        <p:sp>
          <p:nvSpPr>
            <p:cNvPr id="13" name="TextBox 13"/>
            <p:cNvSpPr txBox="1"/>
            <p:nvPr/>
          </p:nvSpPr>
          <p:spPr>
            <a:xfrm>
              <a:off x="0" y="-57150"/>
              <a:ext cx="2951016"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rot="-7668865">
            <a:off x="6959868" y="10723348"/>
            <a:ext cx="4868099" cy="1199632"/>
            <a:chOff x="0" y="0"/>
            <a:chExt cx="1282133" cy="315952"/>
          </a:xfrm>
        </p:grpSpPr>
        <p:sp>
          <p:nvSpPr>
            <p:cNvPr id="15" name="Freeform 15"/>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16" name="TextBox 16"/>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pic>
        <p:nvPicPr>
          <p:cNvPr id="17" name="Picture 17"/>
          <p:cNvPicPr>
            <a:picLocks noChangeAspect="1"/>
          </p:cNvPicPr>
          <p:nvPr/>
        </p:nvPicPr>
        <p:blipFill>
          <a:blip r:embed="rId2"/>
          <a:srcRect/>
          <a:stretch>
            <a:fillRect/>
          </a:stretch>
        </p:blipFill>
        <p:spPr>
          <a:xfrm>
            <a:off x="1803992" y="7270750"/>
            <a:ext cx="3210027" cy="1059309"/>
          </a:xfrm>
          <a:prstGeom prst="rect">
            <a:avLst/>
          </a:prstGeom>
        </p:spPr>
      </p:pic>
      <p:sp>
        <p:nvSpPr>
          <p:cNvPr id="18" name="Freeform 18"/>
          <p:cNvSpPr/>
          <p:nvPr/>
        </p:nvSpPr>
        <p:spPr>
          <a:xfrm>
            <a:off x="1095589" y="3105556"/>
            <a:ext cx="563693" cy="563693"/>
          </a:xfrm>
          <a:custGeom>
            <a:avLst/>
            <a:gdLst/>
            <a:ahLst/>
            <a:cxnLst/>
            <a:rect l="l" t="t" r="r" b="b"/>
            <a:pathLst>
              <a:path w="563693" h="563693">
                <a:moveTo>
                  <a:pt x="0" y="0"/>
                </a:moveTo>
                <a:lnTo>
                  <a:pt x="563694" y="0"/>
                </a:lnTo>
                <a:lnTo>
                  <a:pt x="563694" y="563693"/>
                </a:lnTo>
                <a:lnTo>
                  <a:pt x="0" y="56369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9" name="TextBox 19"/>
          <p:cNvSpPr txBox="1"/>
          <p:nvPr/>
        </p:nvSpPr>
        <p:spPr>
          <a:xfrm>
            <a:off x="1726172" y="3038881"/>
            <a:ext cx="9962714" cy="2193925"/>
          </a:xfrm>
          <a:prstGeom prst="rect">
            <a:avLst/>
          </a:prstGeom>
        </p:spPr>
        <p:txBody>
          <a:bodyPr lIns="0" tIns="0" rIns="0" bIns="0" rtlCol="0" anchor="t">
            <a:spAutoFit/>
          </a:bodyPr>
          <a:lstStyle/>
          <a:p>
            <a:pPr algn="just">
              <a:lnSpc>
                <a:spcPts val="3499"/>
              </a:lnSpc>
              <a:spcBef>
                <a:spcPct val="0"/>
              </a:spcBef>
            </a:pPr>
            <a:r>
              <a:rPr lang="en-US" sz="2499" b="1">
                <a:solidFill>
                  <a:srgbClr val="000000"/>
                </a:solidFill>
                <a:latin typeface="Poppins Bold"/>
                <a:ea typeface="Poppins Bold"/>
                <a:cs typeface="Poppins Bold"/>
                <a:sym typeface="Poppins Bold"/>
              </a:rPr>
              <a:t>Key Contributions</a:t>
            </a:r>
            <a:r>
              <a:rPr lang="en-US" sz="2499">
                <a:solidFill>
                  <a:srgbClr val="000000"/>
                </a:solidFill>
                <a:latin typeface="Poppins"/>
                <a:ea typeface="Poppins"/>
                <a:cs typeface="Poppins"/>
                <a:sym typeface="Poppins"/>
              </a:rPr>
              <a:t>:</a:t>
            </a:r>
          </a:p>
          <a:p>
            <a:pPr marL="539749" lvl="1" indent="-269875" algn="just">
              <a:lnSpc>
                <a:spcPts val="3499"/>
              </a:lnSpc>
              <a:spcBef>
                <a:spcPct val="0"/>
              </a:spcBef>
              <a:buFont typeface="Arial"/>
              <a:buChar char="•"/>
            </a:pPr>
            <a:r>
              <a:rPr lang="en-US" sz="2499">
                <a:solidFill>
                  <a:srgbClr val="000000"/>
                </a:solidFill>
                <a:latin typeface="Poppins"/>
                <a:ea typeface="Poppins"/>
                <a:cs typeface="Poppins"/>
                <a:sym typeface="Poppins"/>
              </a:rPr>
              <a:t>Ca-TSU: Extracts causally relevant news signals</a:t>
            </a:r>
          </a:p>
          <a:p>
            <a:pPr marL="539749" lvl="1" indent="-269875" algn="just">
              <a:lnSpc>
                <a:spcPts val="3499"/>
              </a:lnSpc>
              <a:spcBef>
                <a:spcPct val="0"/>
              </a:spcBef>
              <a:buFont typeface="Arial"/>
              <a:buChar char="•"/>
            </a:pPr>
            <a:r>
              <a:rPr lang="en-US" sz="2499">
                <a:solidFill>
                  <a:srgbClr val="000000"/>
                </a:solidFill>
                <a:latin typeface="Poppins"/>
                <a:ea typeface="Poppins"/>
                <a:cs typeface="Poppins"/>
                <a:sym typeface="Poppins"/>
              </a:rPr>
              <a:t>DP-SRL: Processes text and price in parallel for rich insights</a:t>
            </a:r>
          </a:p>
          <a:p>
            <a:pPr marL="539749" lvl="1" indent="-269875" algn="just">
              <a:lnSpc>
                <a:spcPts val="3499"/>
              </a:lnSpc>
              <a:spcBef>
                <a:spcPct val="0"/>
              </a:spcBef>
              <a:buFont typeface="Arial"/>
              <a:buChar char="•"/>
            </a:pPr>
            <a:r>
              <a:rPr lang="en-US" sz="2499">
                <a:solidFill>
                  <a:srgbClr val="000000"/>
                </a:solidFill>
                <a:latin typeface="Poppins"/>
                <a:ea typeface="Poppins"/>
                <a:cs typeface="Poppins"/>
                <a:sym typeface="Poppins"/>
              </a:rPr>
              <a:t>VAF: Adjusts focus dynamically with market volatility</a:t>
            </a:r>
          </a:p>
          <a:p>
            <a:pPr algn="just">
              <a:lnSpc>
                <a:spcPts val="3499"/>
              </a:lnSpc>
              <a:spcBef>
                <a:spcPct val="0"/>
              </a:spcBef>
            </a:pPr>
            <a:endParaRPr lang="en-US" sz="2499">
              <a:solidFill>
                <a:srgbClr val="000000"/>
              </a:solidFill>
              <a:latin typeface="Poppins"/>
              <a:ea typeface="Poppins"/>
              <a:cs typeface="Poppins"/>
              <a:sym typeface="Poppins"/>
            </a:endParaRPr>
          </a:p>
        </p:txBody>
      </p:sp>
      <p:sp>
        <p:nvSpPr>
          <p:cNvPr id="20" name="Freeform 20"/>
          <p:cNvSpPr/>
          <p:nvPr/>
        </p:nvSpPr>
        <p:spPr>
          <a:xfrm>
            <a:off x="7427732" y="5143500"/>
            <a:ext cx="563693" cy="563693"/>
          </a:xfrm>
          <a:custGeom>
            <a:avLst/>
            <a:gdLst/>
            <a:ahLst/>
            <a:cxnLst/>
            <a:rect l="l" t="t" r="r" b="b"/>
            <a:pathLst>
              <a:path w="563693" h="563693">
                <a:moveTo>
                  <a:pt x="0" y="0"/>
                </a:moveTo>
                <a:lnTo>
                  <a:pt x="563694" y="0"/>
                </a:lnTo>
                <a:lnTo>
                  <a:pt x="563694" y="563693"/>
                </a:lnTo>
                <a:lnTo>
                  <a:pt x="0" y="56369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1" name="TextBox 21"/>
          <p:cNvSpPr txBox="1"/>
          <p:nvPr/>
        </p:nvSpPr>
        <p:spPr>
          <a:xfrm>
            <a:off x="8059385" y="5076825"/>
            <a:ext cx="10204777" cy="2193925"/>
          </a:xfrm>
          <a:prstGeom prst="rect">
            <a:avLst/>
          </a:prstGeom>
        </p:spPr>
        <p:txBody>
          <a:bodyPr lIns="0" tIns="0" rIns="0" bIns="0" rtlCol="0" anchor="t">
            <a:spAutoFit/>
          </a:bodyPr>
          <a:lstStyle/>
          <a:p>
            <a:pPr algn="just">
              <a:lnSpc>
                <a:spcPts val="3499"/>
              </a:lnSpc>
              <a:spcBef>
                <a:spcPct val="0"/>
              </a:spcBef>
            </a:pPr>
            <a:r>
              <a:rPr lang="en-US" sz="2499" b="1">
                <a:solidFill>
                  <a:srgbClr val="000000"/>
                </a:solidFill>
                <a:latin typeface="Poppins Bold"/>
                <a:ea typeface="Poppins Bold"/>
                <a:cs typeface="Poppins Bold"/>
                <a:sym typeface="Poppins Bold"/>
              </a:rPr>
              <a:t>Practical Implications:</a:t>
            </a:r>
          </a:p>
          <a:p>
            <a:pPr marL="539749" lvl="1" indent="-269875" algn="just">
              <a:lnSpc>
                <a:spcPts val="3499"/>
              </a:lnSpc>
              <a:spcBef>
                <a:spcPct val="0"/>
              </a:spcBef>
              <a:buFont typeface="Arial"/>
              <a:buChar char="•"/>
            </a:pPr>
            <a:r>
              <a:rPr lang="en-US" sz="2499">
                <a:solidFill>
                  <a:srgbClr val="000000"/>
                </a:solidFill>
                <a:latin typeface="Poppins"/>
                <a:ea typeface="Poppins"/>
                <a:cs typeface="Poppins"/>
                <a:sym typeface="Poppins"/>
              </a:rPr>
              <a:t>Transparent predictions for analysts</a:t>
            </a:r>
          </a:p>
          <a:p>
            <a:pPr marL="539749" lvl="1" indent="-269875" algn="just">
              <a:lnSpc>
                <a:spcPts val="3499"/>
              </a:lnSpc>
              <a:spcBef>
                <a:spcPct val="0"/>
              </a:spcBef>
              <a:buFont typeface="Arial"/>
              <a:buChar char="•"/>
            </a:pPr>
            <a:r>
              <a:rPr lang="en-US" sz="2499">
                <a:solidFill>
                  <a:srgbClr val="000000"/>
                </a:solidFill>
                <a:latin typeface="Poppins"/>
                <a:ea typeface="Poppins"/>
                <a:cs typeface="Poppins"/>
                <a:sym typeface="Poppins"/>
              </a:rPr>
              <a:t>Adaptability to turbulent markets</a:t>
            </a:r>
          </a:p>
          <a:p>
            <a:pPr marL="539749" lvl="1" indent="-269875" algn="just">
              <a:lnSpc>
                <a:spcPts val="3499"/>
              </a:lnSpc>
              <a:spcBef>
                <a:spcPct val="0"/>
              </a:spcBef>
              <a:buFont typeface="Arial"/>
              <a:buChar char="•"/>
            </a:pPr>
            <a:r>
              <a:rPr lang="en-US" sz="2499">
                <a:solidFill>
                  <a:srgbClr val="000000"/>
                </a:solidFill>
                <a:latin typeface="Poppins"/>
                <a:ea typeface="Poppins"/>
                <a:cs typeface="Poppins"/>
                <a:sym typeface="Poppins"/>
              </a:rPr>
              <a:t>Balanced signal interpretation improves decision support</a:t>
            </a:r>
          </a:p>
          <a:p>
            <a:pPr algn="just">
              <a:lnSpc>
                <a:spcPts val="3499"/>
              </a:lnSpc>
              <a:spcBef>
                <a:spcPct val="0"/>
              </a:spcBef>
            </a:pPr>
            <a:endParaRPr lang="en-US" sz="2499">
              <a:solidFill>
                <a:srgbClr val="000000"/>
              </a:solidFill>
              <a:latin typeface="Poppins"/>
              <a:ea typeface="Poppins"/>
              <a:cs typeface="Poppins"/>
              <a:sym typeface="Poppins"/>
            </a:endParaRPr>
          </a:p>
        </p:txBody>
      </p:sp>
      <p:sp>
        <p:nvSpPr>
          <p:cNvPr id="22" name="TextBox 22"/>
          <p:cNvSpPr txBox="1"/>
          <p:nvPr/>
        </p:nvSpPr>
        <p:spPr>
          <a:xfrm>
            <a:off x="2554559" y="980123"/>
            <a:ext cx="9598302" cy="1411605"/>
          </a:xfrm>
          <a:prstGeom prst="rect">
            <a:avLst/>
          </a:prstGeom>
        </p:spPr>
        <p:txBody>
          <a:bodyPr lIns="0" tIns="0" rIns="0" bIns="0" rtlCol="0" anchor="t">
            <a:spAutoFit/>
          </a:bodyPr>
          <a:lstStyle/>
          <a:p>
            <a:pPr algn="l">
              <a:lnSpc>
                <a:spcPts val="10919"/>
              </a:lnSpc>
              <a:spcBef>
                <a:spcPct val="0"/>
              </a:spcBef>
            </a:pPr>
            <a:r>
              <a:rPr lang="en-US" sz="7800" b="1">
                <a:solidFill>
                  <a:srgbClr val="FFFFFF"/>
                </a:solidFill>
                <a:latin typeface="Poppins Ultra-Bold"/>
                <a:ea typeface="Poppins Ultra-Bold"/>
                <a:cs typeface="Poppins Ultra-Bold"/>
                <a:sym typeface="Poppins Ultra-Bold"/>
              </a:rPr>
              <a:t>Conclusion</a:t>
            </a:r>
          </a:p>
        </p:txBody>
      </p:sp>
      <p:sp>
        <p:nvSpPr>
          <p:cNvPr id="23" name="TextBox 23"/>
          <p:cNvSpPr txBox="1"/>
          <p:nvPr/>
        </p:nvSpPr>
        <p:spPr>
          <a:xfrm>
            <a:off x="5014020" y="7498071"/>
            <a:ext cx="8259961" cy="441325"/>
          </a:xfrm>
          <a:prstGeom prst="rect">
            <a:avLst/>
          </a:prstGeom>
        </p:spPr>
        <p:txBody>
          <a:bodyPr lIns="0" tIns="0" rIns="0" bIns="0" rtlCol="0" anchor="t">
            <a:spAutoFit/>
          </a:bodyPr>
          <a:lstStyle/>
          <a:p>
            <a:pPr algn="ctr">
              <a:lnSpc>
                <a:spcPts val="3499"/>
              </a:lnSpc>
              <a:spcBef>
                <a:spcPct val="0"/>
              </a:spcBef>
            </a:pPr>
            <a:r>
              <a:rPr lang="en-US" sz="2499">
                <a:solidFill>
                  <a:srgbClr val="000000"/>
                </a:solidFill>
                <a:latin typeface="Poppins"/>
                <a:ea typeface="Poppins"/>
                <a:cs typeface="Poppins"/>
                <a:sym typeface="Poppins"/>
              </a:rPr>
              <a:t>Better forecasting performance with enhanced trust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57135" y="1028700"/>
            <a:ext cx="15440488" cy="1543050"/>
            <a:chOff x="0" y="0"/>
            <a:chExt cx="4066631" cy="406400"/>
          </a:xfrm>
        </p:grpSpPr>
        <p:sp>
          <p:nvSpPr>
            <p:cNvPr id="3" name="Freeform 3"/>
            <p:cNvSpPr/>
            <p:nvPr/>
          </p:nvSpPr>
          <p:spPr>
            <a:xfrm>
              <a:off x="0" y="0"/>
              <a:ext cx="4066630" cy="406400"/>
            </a:xfrm>
            <a:custGeom>
              <a:avLst/>
              <a:gdLst/>
              <a:ahLst/>
              <a:cxnLst/>
              <a:rect l="l" t="t" r="r" b="b"/>
              <a:pathLst>
                <a:path w="4066630" h="406400">
                  <a:moveTo>
                    <a:pt x="0" y="0"/>
                  </a:moveTo>
                  <a:lnTo>
                    <a:pt x="4066630" y="0"/>
                  </a:lnTo>
                  <a:lnTo>
                    <a:pt x="4066630" y="406400"/>
                  </a:lnTo>
                  <a:lnTo>
                    <a:pt x="0" y="406400"/>
                  </a:lnTo>
                  <a:close/>
                </a:path>
              </a:pathLst>
            </a:custGeom>
            <a:solidFill>
              <a:srgbClr val="122029"/>
            </a:solidFill>
          </p:spPr>
          <p:txBody>
            <a:bodyPr/>
            <a:lstStyle/>
            <a:p>
              <a:endParaRPr lang="en-US"/>
            </a:p>
          </p:txBody>
        </p:sp>
        <p:sp>
          <p:nvSpPr>
            <p:cNvPr id="4" name="TextBox 4"/>
            <p:cNvSpPr txBox="1"/>
            <p:nvPr/>
          </p:nvSpPr>
          <p:spPr>
            <a:xfrm>
              <a:off x="0" y="-57150"/>
              <a:ext cx="4066631"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7668865">
            <a:off x="13887766" y="-318717"/>
            <a:ext cx="4868099" cy="1199632"/>
            <a:chOff x="0" y="0"/>
            <a:chExt cx="1282133" cy="315952"/>
          </a:xfrm>
        </p:grpSpPr>
        <p:sp>
          <p:nvSpPr>
            <p:cNvPr id="6" name="Freeform 6"/>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7" name="TextBox 7"/>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28700" y="1028700"/>
            <a:ext cx="697472" cy="1543050"/>
            <a:chOff x="0" y="0"/>
            <a:chExt cx="183696" cy="406400"/>
          </a:xfrm>
        </p:grpSpPr>
        <p:sp>
          <p:nvSpPr>
            <p:cNvPr id="9" name="Freeform 9"/>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10" name="TextBox 10"/>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8377394" y="9032512"/>
            <a:ext cx="11204639" cy="1543050"/>
            <a:chOff x="0" y="0"/>
            <a:chExt cx="2951016" cy="406400"/>
          </a:xfrm>
        </p:grpSpPr>
        <p:sp>
          <p:nvSpPr>
            <p:cNvPr id="12" name="Freeform 12"/>
            <p:cNvSpPr/>
            <p:nvPr/>
          </p:nvSpPr>
          <p:spPr>
            <a:xfrm>
              <a:off x="0" y="0"/>
              <a:ext cx="2951016" cy="406400"/>
            </a:xfrm>
            <a:custGeom>
              <a:avLst/>
              <a:gdLst/>
              <a:ahLst/>
              <a:cxnLst/>
              <a:rect l="l" t="t" r="r" b="b"/>
              <a:pathLst>
                <a:path w="2951016" h="406400">
                  <a:moveTo>
                    <a:pt x="0" y="0"/>
                  </a:moveTo>
                  <a:lnTo>
                    <a:pt x="2951016" y="0"/>
                  </a:lnTo>
                  <a:lnTo>
                    <a:pt x="2951016" y="406400"/>
                  </a:lnTo>
                  <a:lnTo>
                    <a:pt x="0" y="406400"/>
                  </a:lnTo>
                  <a:close/>
                </a:path>
              </a:pathLst>
            </a:custGeom>
            <a:solidFill>
              <a:srgbClr val="122029"/>
            </a:solidFill>
          </p:spPr>
          <p:txBody>
            <a:bodyPr/>
            <a:lstStyle/>
            <a:p>
              <a:endParaRPr lang="en-US"/>
            </a:p>
          </p:txBody>
        </p:sp>
        <p:sp>
          <p:nvSpPr>
            <p:cNvPr id="13" name="TextBox 13"/>
            <p:cNvSpPr txBox="1"/>
            <p:nvPr/>
          </p:nvSpPr>
          <p:spPr>
            <a:xfrm>
              <a:off x="0" y="-57150"/>
              <a:ext cx="2951016"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rot="-7668865">
            <a:off x="6959868" y="10723348"/>
            <a:ext cx="4868099" cy="1199632"/>
            <a:chOff x="0" y="0"/>
            <a:chExt cx="1282133" cy="315952"/>
          </a:xfrm>
        </p:grpSpPr>
        <p:sp>
          <p:nvSpPr>
            <p:cNvPr id="15" name="Freeform 15"/>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16" name="TextBox 16"/>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sp>
        <p:nvSpPr>
          <p:cNvPr id="17" name="Freeform 17"/>
          <p:cNvSpPr/>
          <p:nvPr/>
        </p:nvSpPr>
        <p:spPr>
          <a:xfrm rot="5400000">
            <a:off x="6845720" y="5208756"/>
            <a:ext cx="4734827" cy="361569"/>
          </a:xfrm>
          <a:custGeom>
            <a:avLst/>
            <a:gdLst/>
            <a:ahLst/>
            <a:cxnLst/>
            <a:rect l="l" t="t" r="r" b="b"/>
            <a:pathLst>
              <a:path w="4734827" h="361569">
                <a:moveTo>
                  <a:pt x="0" y="0"/>
                </a:moveTo>
                <a:lnTo>
                  <a:pt x="4734827" y="0"/>
                </a:lnTo>
                <a:lnTo>
                  <a:pt x="4734827" y="361569"/>
                </a:lnTo>
                <a:lnTo>
                  <a:pt x="0" y="3615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8" name="TextBox 18"/>
          <p:cNvSpPr txBox="1"/>
          <p:nvPr/>
        </p:nvSpPr>
        <p:spPr>
          <a:xfrm>
            <a:off x="1726172" y="3372279"/>
            <a:ext cx="6077198" cy="3508375"/>
          </a:xfrm>
          <a:prstGeom prst="rect">
            <a:avLst/>
          </a:prstGeom>
        </p:spPr>
        <p:txBody>
          <a:bodyPr lIns="0" tIns="0" rIns="0" bIns="0" rtlCol="0" anchor="t">
            <a:spAutoFit/>
          </a:bodyPr>
          <a:lstStyle/>
          <a:p>
            <a:pPr algn="just">
              <a:lnSpc>
                <a:spcPts val="3499"/>
              </a:lnSpc>
              <a:spcBef>
                <a:spcPct val="0"/>
              </a:spcBef>
            </a:pPr>
            <a:r>
              <a:rPr lang="en-US" sz="2499" b="1">
                <a:solidFill>
                  <a:srgbClr val="000000"/>
                </a:solidFill>
                <a:latin typeface="Poppins Bold"/>
                <a:ea typeface="Poppins Bold"/>
                <a:cs typeface="Poppins Bold"/>
                <a:sym typeface="Poppins Bold"/>
              </a:rPr>
              <a:t>Limitations</a:t>
            </a:r>
            <a:r>
              <a:rPr lang="en-US" sz="2499">
                <a:solidFill>
                  <a:srgbClr val="000000"/>
                </a:solidFill>
                <a:latin typeface="Poppins"/>
                <a:ea typeface="Poppins"/>
                <a:cs typeface="Poppins"/>
                <a:sym typeface="Poppins"/>
              </a:rPr>
              <a:t>:</a:t>
            </a:r>
          </a:p>
          <a:p>
            <a:pPr marL="539749" lvl="1" indent="-269875" algn="just">
              <a:lnSpc>
                <a:spcPts val="3499"/>
              </a:lnSpc>
              <a:spcBef>
                <a:spcPct val="0"/>
              </a:spcBef>
              <a:buFont typeface="Arial"/>
              <a:buChar char="•"/>
            </a:pPr>
            <a:r>
              <a:rPr lang="en-US" sz="2499">
                <a:solidFill>
                  <a:srgbClr val="000000"/>
                </a:solidFill>
                <a:latin typeface="Poppins"/>
                <a:ea typeface="Poppins"/>
                <a:cs typeface="Poppins"/>
                <a:sym typeface="Poppins"/>
              </a:rPr>
              <a:t>Reliance on labeled text data</a:t>
            </a:r>
          </a:p>
          <a:p>
            <a:pPr marL="539749" lvl="1" indent="-269875" algn="just">
              <a:lnSpc>
                <a:spcPts val="3499"/>
              </a:lnSpc>
              <a:spcBef>
                <a:spcPct val="0"/>
              </a:spcBef>
              <a:buFont typeface="Arial"/>
              <a:buChar char="•"/>
            </a:pPr>
            <a:r>
              <a:rPr lang="en-US" sz="2499">
                <a:solidFill>
                  <a:srgbClr val="000000"/>
                </a:solidFill>
                <a:latin typeface="Poppins"/>
                <a:ea typeface="Poppins"/>
                <a:cs typeface="Poppins"/>
                <a:sym typeface="Poppins"/>
              </a:rPr>
              <a:t>Volatility proxy accuracy critical</a:t>
            </a:r>
          </a:p>
          <a:p>
            <a:pPr marL="539749" lvl="1" indent="-269875" algn="just">
              <a:lnSpc>
                <a:spcPts val="3499"/>
              </a:lnSpc>
              <a:spcBef>
                <a:spcPct val="0"/>
              </a:spcBef>
              <a:buFont typeface="Arial"/>
              <a:buChar char="•"/>
            </a:pPr>
            <a:r>
              <a:rPr lang="en-US" sz="2499">
                <a:solidFill>
                  <a:srgbClr val="000000"/>
                </a:solidFill>
                <a:latin typeface="Poppins"/>
                <a:ea typeface="Poppins"/>
                <a:cs typeface="Poppins"/>
                <a:sym typeface="Poppins"/>
              </a:rPr>
              <a:t>Generalization across markets not guaranteed</a:t>
            </a:r>
          </a:p>
          <a:p>
            <a:pPr marL="539749" lvl="1" indent="-269875" algn="just">
              <a:lnSpc>
                <a:spcPts val="3499"/>
              </a:lnSpc>
              <a:spcBef>
                <a:spcPct val="0"/>
              </a:spcBef>
              <a:buFont typeface="Arial"/>
              <a:buChar char="•"/>
            </a:pPr>
            <a:r>
              <a:rPr lang="en-US" sz="2499">
                <a:solidFill>
                  <a:srgbClr val="000000"/>
                </a:solidFill>
                <a:latin typeface="Poppins"/>
                <a:ea typeface="Poppins"/>
                <a:cs typeface="Poppins"/>
                <a:sym typeface="Poppins"/>
              </a:rPr>
              <a:t>Long experiment run time due to complex model</a:t>
            </a:r>
          </a:p>
          <a:p>
            <a:pPr algn="just">
              <a:lnSpc>
                <a:spcPts val="3499"/>
              </a:lnSpc>
              <a:spcBef>
                <a:spcPct val="0"/>
              </a:spcBef>
            </a:pPr>
            <a:endParaRPr lang="en-US" sz="2499">
              <a:solidFill>
                <a:srgbClr val="000000"/>
              </a:solidFill>
              <a:latin typeface="Poppins"/>
              <a:ea typeface="Poppins"/>
              <a:cs typeface="Poppins"/>
              <a:sym typeface="Poppins"/>
            </a:endParaRPr>
          </a:p>
        </p:txBody>
      </p:sp>
      <p:sp>
        <p:nvSpPr>
          <p:cNvPr id="19" name="TextBox 19"/>
          <p:cNvSpPr txBox="1"/>
          <p:nvPr/>
        </p:nvSpPr>
        <p:spPr>
          <a:xfrm>
            <a:off x="2554559" y="1037272"/>
            <a:ext cx="12899843" cy="1078301"/>
          </a:xfrm>
          <a:prstGeom prst="rect">
            <a:avLst/>
          </a:prstGeom>
        </p:spPr>
        <p:txBody>
          <a:bodyPr lIns="0" tIns="0" rIns="0" bIns="0" rtlCol="0" anchor="t">
            <a:spAutoFit/>
          </a:bodyPr>
          <a:lstStyle/>
          <a:p>
            <a:pPr algn="l">
              <a:lnSpc>
                <a:spcPts val="8370"/>
              </a:lnSpc>
              <a:spcBef>
                <a:spcPct val="0"/>
              </a:spcBef>
            </a:pPr>
            <a:r>
              <a:rPr lang="en-US" sz="5979" b="1">
                <a:solidFill>
                  <a:srgbClr val="FFFFFF"/>
                </a:solidFill>
                <a:latin typeface="Poppins Ultra-Bold"/>
                <a:ea typeface="Poppins Ultra-Bold"/>
                <a:cs typeface="Poppins Ultra-Bold"/>
                <a:sym typeface="Poppins Ultra-Bold"/>
              </a:rPr>
              <a:t>Limitations &amp; Future Directions</a:t>
            </a:r>
          </a:p>
        </p:txBody>
      </p:sp>
      <p:sp>
        <p:nvSpPr>
          <p:cNvPr id="20" name="TextBox 20"/>
          <p:cNvSpPr txBox="1"/>
          <p:nvPr/>
        </p:nvSpPr>
        <p:spPr>
          <a:xfrm>
            <a:off x="11182102" y="3372279"/>
            <a:ext cx="6077198" cy="4384675"/>
          </a:xfrm>
          <a:prstGeom prst="rect">
            <a:avLst/>
          </a:prstGeom>
        </p:spPr>
        <p:txBody>
          <a:bodyPr lIns="0" tIns="0" rIns="0" bIns="0" rtlCol="0" anchor="t">
            <a:spAutoFit/>
          </a:bodyPr>
          <a:lstStyle/>
          <a:p>
            <a:pPr algn="just">
              <a:lnSpc>
                <a:spcPts val="3499"/>
              </a:lnSpc>
            </a:pPr>
            <a:r>
              <a:rPr lang="en-US" sz="2499" b="1">
                <a:solidFill>
                  <a:srgbClr val="000000"/>
                </a:solidFill>
                <a:latin typeface="Poppins Bold"/>
                <a:ea typeface="Poppins Bold"/>
                <a:cs typeface="Poppins Bold"/>
                <a:sym typeface="Poppins Bold"/>
              </a:rPr>
              <a:t>Future Work:</a:t>
            </a:r>
          </a:p>
          <a:p>
            <a:pPr marL="539749" lvl="1" indent="-269875" algn="just">
              <a:lnSpc>
                <a:spcPts val="3499"/>
              </a:lnSpc>
              <a:spcBef>
                <a:spcPct val="0"/>
              </a:spcBef>
              <a:buFont typeface="Arial"/>
              <a:buChar char="•"/>
            </a:pPr>
            <a:r>
              <a:rPr lang="en-US" sz="2499">
                <a:solidFill>
                  <a:srgbClr val="000000"/>
                </a:solidFill>
                <a:latin typeface="Poppins"/>
                <a:ea typeface="Poppins"/>
                <a:cs typeface="Poppins"/>
                <a:sym typeface="Poppins"/>
              </a:rPr>
              <a:t>Use neural volatility estimators or GARCH models</a:t>
            </a:r>
          </a:p>
          <a:p>
            <a:pPr marL="539749" lvl="1" indent="-269875" algn="just">
              <a:lnSpc>
                <a:spcPts val="3499"/>
              </a:lnSpc>
              <a:spcBef>
                <a:spcPct val="0"/>
              </a:spcBef>
              <a:buFont typeface="Arial"/>
              <a:buChar char="•"/>
            </a:pPr>
            <a:r>
              <a:rPr lang="en-US" sz="2499">
                <a:solidFill>
                  <a:srgbClr val="000000"/>
                </a:solidFill>
                <a:latin typeface="Poppins"/>
                <a:ea typeface="Poppins"/>
                <a:cs typeface="Poppins"/>
                <a:sym typeface="Poppins"/>
              </a:rPr>
              <a:t>Reinforcement/meta-learning for gate tuning</a:t>
            </a:r>
          </a:p>
          <a:p>
            <a:pPr marL="539749" lvl="1" indent="-269875" algn="just">
              <a:lnSpc>
                <a:spcPts val="3499"/>
              </a:lnSpc>
              <a:spcBef>
                <a:spcPct val="0"/>
              </a:spcBef>
              <a:buFont typeface="Arial"/>
              <a:buChar char="•"/>
            </a:pPr>
            <a:r>
              <a:rPr lang="en-US" sz="2499">
                <a:solidFill>
                  <a:srgbClr val="000000"/>
                </a:solidFill>
                <a:latin typeface="Poppins"/>
                <a:ea typeface="Poppins"/>
                <a:cs typeface="Poppins"/>
                <a:sym typeface="Poppins"/>
              </a:rPr>
              <a:t>Extend to multi-asset &amp; semi-supervised learning</a:t>
            </a:r>
          </a:p>
          <a:p>
            <a:pPr marL="539749" lvl="1" indent="-269875" algn="just">
              <a:lnSpc>
                <a:spcPts val="3499"/>
              </a:lnSpc>
              <a:spcBef>
                <a:spcPct val="0"/>
              </a:spcBef>
              <a:buFont typeface="Arial"/>
              <a:buChar char="•"/>
            </a:pPr>
            <a:r>
              <a:rPr lang="en-US" sz="2499">
                <a:solidFill>
                  <a:srgbClr val="000000"/>
                </a:solidFill>
                <a:latin typeface="Poppins"/>
                <a:ea typeface="Poppins"/>
                <a:cs typeface="Poppins"/>
                <a:sym typeface="Poppins"/>
              </a:rPr>
              <a:t>Link with trading strategies for economic impact</a:t>
            </a:r>
          </a:p>
          <a:p>
            <a:pPr algn="just">
              <a:lnSpc>
                <a:spcPts val="3499"/>
              </a:lnSpc>
              <a:spcBef>
                <a:spcPct val="0"/>
              </a:spcBef>
            </a:pPr>
            <a:endParaRPr lang="en-US" sz="2499">
              <a:solidFill>
                <a:srgbClr val="000000"/>
              </a:solidFill>
              <a:latin typeface="Poppins"/>
              <a:ea typeface="Poppins"/>
              <a:cs typeface="Poppins"/>
              <a:sym typeface="Poppin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957135" y="4840424"/>
            <a:ext cx="14292896" cy="1818640"/>
          </a:xfrm>
          <a:prstGeom prst="rect">
            <a:avLst/>
          </a:prstGeom>
        </p:spPr>
        <p:txBody>
          <a:bodyPr lIns="0" tIns="0" rIns="0" bIns="0" rtlCol="0" anchor="t">
            <a:spAutoFit/>
          </a:bodyPr>
          <a:lstStyle/>
          <a:p>
            <a:pPr algn="just">
              <a:lnSpc>
                <a:spcPts val="4759"/>
              </a:lnSpc>
              <a:spcBef>
                <a:spcPct val="0"/>
              </a:spcBef>
            </a:pPr>
            <a:r>
              <a:rPr lang="en-US" sz="3399">
                <a:solidFill>
                  <a:srgbClr val="000000"/>
                </a:solidFill>
                <a:latin typeface="Poppins"/>
                <a:ea typeface="Poppins"/>
                <a:cs typeface="Poppins"/>
                <a:sym typeface="Poppins"/>
              </a:rPr>
              <a:t>Thank you so much to my advisers, family, friends, and participants who have helped and supported me in finishing this thesis.</a:t>
            </a:r>
          </a:p>
        </p:txBody>
      </p:sp>
      <p:grpSp>
        <p:nvGrpSpPr>
          <p:cNvPr id="3" name="Group 3"/>
          <p:cNvGrpSpPr/>
          <p:nvPr/>
        </p:nvGrpSpPr>
        <p:grpSpPr>
          <a:xfrm>
            <a:off x="1957135" y="1028700"/>
            <a:ext cx="11204639" cy="1543050"/>
            <a:chOff x="0" y="0"/>
            <a:chExt cx="2951016" cy="406400"/>
          </a:xfrm>
        </p:grpSpPr>
        <p:sp>
          <p:nvSpPr>
            <p:cNvPr id="4" name="Freeform 4"/>
            <p:cNvSpPr/>
            <p:nvPr/>
          </p:nvSpPr>
          <p:spPr>
            <a:xfrm>
              <a:off x="0" y="0"/>
              <a:ext cx="2951016" cy="406400"/>
            </a:xfrm>
            <a:custGeom>
              <a:avLst/>
              <a:gdLst/>
              <a:ahLst/>
              <a:cxnLst/>
              <a:rect l="l" t="t" r="r" b="b"/>
              <a:pathLst>
                <a:path w="2951016" h="406400">
                  <a:moveTo>
                    <a:pt x="0" y="0"/>
                  </a:moveTo>
                  <a:lnTo>
                    <a:pt x="2951016" y="0"/>
                  </a:lnTo>
                  <a:lnTo>
                    <a:pt x="2951016" y="406400"/>
                  </a:lnTo>
                  <a:lnTo>
                    <a:pt x="0" y="406400"/>
                  </a:lnTo>
                  <a:close/>
                </a:path>
              </a:pathLst>
            </a:custGeom>
            <a:solidFill>
              <a:srgbClr val="122029"/>
            </a:solidFill>
          </p:spPr>
          <p:txBody>
            <a:bodyPr/>
            <a:lstStyle/>
            <a:p>
              <a:endParaRPr lang="en-US"/>
            </a:p>
          </p:txBody>
        </p:sp>
        <p:sp>
          <p:nvSpPr>
            <p:cNvPr id="5" name="TextBox 5"/>
            <p:cNvSpPr txBox="1"/>
            <p:nvPr/>
          </p:nvSpPr>
          <p:spPr>
            <a:xfrm>
              <a:off x="0" y="-57150"/>
              <a:ext cx="2951016"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rot="-7668865">
            <a:off x="9718812" y="-318717"/>
            <a:ext cx="4868099" cy="1199632"/>
            <a:chOff x="0" y="0"/>
            <a:chExt cx="1282133" cy="315952"/>
          </a:xfrm>
        </p:grpSpPr>
        <p:sp>
          <p:nvSpPr>
            <p:cNvPr id="7" name="Freeform 7"/>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8" name="TextBox 8"/>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028700" y="1028700"/>
            <a:ext cx="697472" cy="1543050"/>
            <a:chOff x="0" y="0"/>
            <a:chExt cx="183696" cy="406400"/>
          </a:xfrm>
        </p:grpSpPr>
        <p:sp>
          <p:nvSpPr>
            <p:cNvPr id="10" name="Freeform 10"/>
            <p:cNvSpPr/>
            <p:nvPr/>
          </p:nvSpPr>
          <p:spPr>
            <a:xfrm>
              <a:off x="0" y="0"/>
              <a:ext cx="183696" cy="406400"/>
            </a:xfrm>
            <a:custGeom>
              <a:avLst/>
              <a:gdLst/>
              <a:ahLst/>
              <a:cxnLst/>
              <a:rect l="l" t="t" r="r" b="b"/>
              <a:pathLst>
                <a:path w="183696" h="406400">
                  <a:moveTo>
                    <a:pt x="0" y="0"/>
                  </a:moveTo>
                  <a:lnTo>
                    <a:pt x="183696" y="0"/>
                  </a:lnTo>
                  <a:lnTo>
                    <a:pt x="183696" y="406400"/>
                  </a:lnTo>
                  <a:lnTo>
                    <a:pt x="0" y="406400"/>
                  </a:lnTo>
                  <a:close/>
                </a:path>
              </a:pathLst>
            </a:custGeom>
            <a:solidFill>
              <a:srgbClr val="122029"/>
            </a:solidFill>
          </p:spPr>
          <p:txBody>
            <a:bodyPr/>
            <a:lstStyle/>
            <a:p>
              <a:endParaRPr lang="en-US"/>
            </a:p>
          </p:txBody>
        </p:sp>
        <p:sp>
          <p:nvSpPr>
            <p:cNvPr id="11" name="TextBox 11"/>
            <p:cNvSpPr txBox="1"/>
            <p:nvPr/>
          </p:nvSpPr>
          <p:spPr>
            <a:xfrm>
              <a:off x="0" y="-57150"/>
              <a:ext cx="183696" cy="46355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2554559" y="1086486"/>
            <a:ext cx="9598302" cy="1227453"/>
          </a:xfrm>
          <a:prstGeom prst="rect">
            <a:avLst/>
          </a:prstGeom>
        </p:spPr>
        <p:txBody>
          <a:bodyPr lIns="0" tIns="0" rIns="0" bIns="0" rtlCol="0" anchor="t">
            <a:spAutoFit/>
          </a:bodyPr>
          <a:lstStyle/>
          <a:p>
            <a:pPr algn="l">
              <a:lnSpc>
                <a:spcPts val="9520"/>
              </a:lnSpc>
              <a:spcBef>
                <a:spcPct val="0"/>
              </a:spcBef>
            </a:pPr>
            <a:r>
              <a:rPr lang="en-US" sz="6800" b="1">
                <a:solidFill>
                  <a:srgbClr val="FFFFFF"/>
                </a:solidFill>
                <a:latin typeface="Poppins Ultra-Bold"/>
                <a:ea typeface="Poppins Ultra-Bold"/>
                <a:cs typeface="Poppins Ultra-Bold"/>
                <a:sym typeface="Poppins Ultra-Bold"/>
              </a:rPr>
              <a:t>Acknowledgements</a:t>
            </a:r>
          </a:p>
        </p:txBody>
      </p:sp>
      <p:grpSp>
        <p:nvGrpSpPr>
          <p:cNvPr id="13" name="Group 13"/>
          <p:cNvGrpSpPr/>
          <p:nvPr/>
        </p:nvGrpSpPr>
        <p:grpSpPr>
          <a:xfrm>
            <a:off x="8377394" y="9032512"/>
            <a:ext cx="11204639" cy="1543050"/>
            <a:chOff x="0" y="0"/>
            <a:chExt cx="2951016" cy="406400"/>
          </a:xfrm>
        </p:grpSpPr>
        <p:sp>
          <p:nvSpPr>
            <p:cNvPr id="14" name="Freeform 14"/>
            <p:cNvSpPr/>
            <p:nvPr/>
          </p:nvSpPr>
          <p:spPr>
            <a:xfrm>
              <a:off x="0" y="0"/>
              <a:ext cx="2951016" cy="406400"/>
            </a:xfrm>
            <a:custGeom>
              <a:avLst/>
              <a:gdLst/>
              <a:ahLst/>
              <a:cxnLst/>
              <a:rect l="l" t="t" r="r" b="b"/>
              <a:pathLst>
                <a:path w="2951016" h="406400">
                  <a:moveTo>
                    <a:pt x="0" y="0"/>
                  </a:moveTo>
                  <a:lnTo>
                    <a:pt x="2951016" y="0"/>
                  </a:lnTo>
                  <a:lnTo>
                    <a:pt x="2951016" y="406400"/>
                  </a:lnTo>
                  <a:lnTo>
                    <a:pt x="0" y="406400"/>
                  </a:lnTo>
                  <a:close/>
                </a:path>
              </a:pathLst>
            </a:custGeom>
            <a:solidFill>
              <a:srgbClr val="122029"/>
            </a:solidFill>
          </p:spPr>
          <p:txBody>
            <a:bodyPr/>
            <a:lstStyle/>
            <a:p>
              <a:endParaRPr lang="en-US"/>
            </a:p>
          </p:txBody>
        </p:sp>
        <p:sp>
          <p:nvSpPr>
            <p:cNvPr id="15" name="TextBox 15"/>
            <p:cNvSpPr txBox="1"/>
            <p:nvPr/>
          </p:nvSpPr>
          <p:spPr>
            <a:xfrm>
              <a:off x="0" y="-57150"/>
              <a:ext cx="2951016" cy="463550"/>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rot="-7668865">
            <a:off x="6959868" y="10723348"/>
            <a:ext cx="4868099" cy="1199632"/>
            <a:chOff x="0" y="0"/>
            <a:chExt cx="1282133" cy="315952"/>
          </a:xfrm>
        </p:grpSpPr>
        <p:sp>
          <p:nvSpPr>
            <p:cNvPr id="17" name="Freeform 17"/>
            <p:cNvSpPr/>
            <p:nvPr/>
          </p:nvSpPr>
          <p:spPr>
            <a:xfrm>
              <a:off x="0" y="0"/>
              <a:ext cx="1282133" cy="315952"/>
            </a:xfrm>
            <a:custGeom>
              <a:avLst/>
              <a:gdLst/>
              <a:ahLst/>
              <a:cxnLst/>
              <a:rect l="l" t="t" r="r" b="b"/>
              <a:pathLst>
                <a:path w="1282133" h="315952">
                  <a:moveTo>
                    <a:pt x="0" y="0"/>
                  </a:moveTo>
                  <a:lnTo>
                    <a:pt x="1282133" y="0"/>
                  </a:lnTo>
                  <a:lnTo>
                    <a:pt x="1282133" y="315952"/>
                  </a:lnTo>
                  <a:lnTo>
                    <a:pt x="0" y="315952"/>
                  </a:lnTo>
                  <a:close/>
                </a:path>
              </a:pathLst>
            </a:custGeom>
            <a:solidFill>
              <a:srgbClr val="2B485F"/>
            </a:solidFill>
          </p:spPr>
          <p:txBody>
            <a:bodyPr/>
            <a:lstStyle/>
            <a:p>
              <a:endParaRPr lang="en-US"/>
            </a:p>
          </p:txBody>
        </p:sp>
        <p:sp>
          <p:nvSpPr>
            <p:cNvPr id="18" name="TextBox 18"/>
            <p:cNvSpPr txBox="1"/>
            <p:nvPr/>
          </p:nvSpPr>
          <p:spPr>
            <a:xfrm>
              <a:off x="0" y="-57150"/>
              <a:ext cx="1282133" cy="373102"/>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777" b="-1777"/>
            </a:stretch>
          </a:blipFill>
        </p:spPr>
        <p:txBody>
          <a:bodyPr/>
          <a:lstStyle/>
          <a:p>
            <a:endParaRPr lang="en-US"/>
          </a:p>
        </p:txBody>
      </p:sp>
      <p:grpSp>
        <p:nvGrpSpPr>
          <p:cNvPr id="3" name="Group 3"/>
          <p:cNvGrpSpPr/>
          <p:nvPr/>
        </p:nvGrpSpPr>
        <p:grpSpPr>
          <a:xfrm>
            <a:off x="3749689" y="0"/>
            <a:ext cx="10788622" cy="10287000"/>
            <a:chOff x="0" y="0"/>
            <a:chExt cx="2841448" cy="2709333"/>
          </a:xfrm>
        </p:grpSpPr>
        <p:sp>
          <p:nvSpPr>
            <p:cNvPr id="4" name="Freeform 4"/>
            <p:cNvSpPr/>
            <p:nvPr/>
          </p:nvSpPr>
          <p:spPr>
            <a:xfrm>
              <a:off x="0" y="0"/>
              <a:ext cx="2841448" cy="2709333"/>
            </a:xfrm>
            <a:custGeom>
              <a:avLst/>
              <a:gdLst/>
              <a:ahLst/>
              <a:cxnLst/>
              <a:rect l="l" t="t" r="r" b="b"/>
              <a:pathLst>
                <a:path w="2841448" h="2709333">
                  <a:moveTo>
                    <a:pt x="0" y="0"/>
                  </a:moveTo>
                  <a:lnTo>
                    <a:pt x="2841448" y="0"/>
                  </a:lnTo>
                  <a:lnTo>
                    <a:pt x="2841448" y="2709333"/>
                  </a:lnTo>
                  <a:lnTo>
                    <a:pt x="0" y="2709333"/>
                  </a:lnTo>
                  <a:close/>
                </a:path>
              </a:pathLst>
            </a:custGeom>
            <a:solidFill>
              <a:srgbClr val="598196">
                <a:alpha val="74902"/>
              </a:srgbClr>
            </a:solidFill>
          </p:spPr>
          <p:txBody>
            <a:bodyPr/>
            <a:lstStyle/>
            <a:p>
              <a:endParaRPr lang="en-US"/>
            </a:p>
          </p:txBody>
        </p:sp>
        <p:sp>
          <p:nvSpPr>
            <p:cNvPr id="5" name="TextBox 5"/>
            <p:cNvSpPr txBox="1"/>
            <p:nvPr/>
          </p:nvSpPr>
          <p:spPr>
            <a:xfrm>
              <a:off x="0" y="-38100"/>
              <a:ext cx="2841448" cy="2747433"/>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4060155" y="3344870"/>
            <a:ext cx="10167690" cy="3886185"/>
          </a:xfrm>
          <a:prstGeom prst="rect">
            <a:avLst/>
          </a:prstGeom>
        </p:spPr>
        <p:txBody>
          <a:bodyPr lIns="0" tIns="0" rIns="0" bIns="0" rtlCol="0" anchor="t">
            <a:spAutoFit/>
          </a:bodyPr>
          <a:lstStyle/>
          <a:p>
            <a:pPr algn="ctr">
              <a:lnSpc>
                <a:spcPts val="14999"/>
              </a:lnSpc>
            </a:pPr>
            <a:r>
              <a:rPr lang="en-US" sz="14999" spc="749">
                <a:solidFill>
                  <a:srgbClr val="FFFBF7"/>
                </a:solidFill>
                <a:latin typeface="Anton"/>
                <a:ea typeface="Anton"/>
                <a:cs typeface="Anton"/>
                <a:sym typeface="Anton"/>
              </a:rPr>
              <a:t>THANK</a:t>
            </a:r>
          </a:p>
          <a:p>
            <a:pPr algn="ctr">
              <a:lnSpc>
                <a:spcPts val="14999"/>
              </a:lnSpc>
            </a:pPr>
            <a:r>
              <a:rPr lang="en-US" sz="14999" spc="749">
                <a:solidFill>
                  <a:srgbClr val="FFFBF7"/>
                </a:solidFill>
                <a:latin typeface="Anton"/>
                <a:ea typeface="Anton"/>
                <a:cs typeface="Anton"/>
                <a:sym typeface="Anton"/>
              </a:rPr>
              <a:t>YOU</a:t>
            </a:r>
          </a:p>
        </p:txBody>
      </p:sp>
      <p:sp>
        <p:nvSpPr>
          <p:cNvPr id="7" name="TextBox 7"/>
          <p:cNvSpPr txBox="1"/>
          <p:nvPr/>
        </p:nvSpPr>
        <p:spPr>
          <a:xfrm>
            <a:off x="3283182" y="7013298"/>
            <a:ext cx="11721636" cy="781050"/>
          </a:xfrm>
          <a:prstGeom prst="rect">
            <a:avLst/>
          </a:prstGeom>
        </p:spPr>
        <p:txBody>
          <a:bodyPr lIns="0" tIns="0" rIns="0" bIns="0" rtlCol="0" anchor="t">
            <a:spAutoFit/>
          </a:bodyPr>
          <a:lstStyle/>
          <a:p>
            <a:pPr algn="ctr">
              <a:lnSpc>
                <a:spcPts val="3000"/>
              </a:lnSpc>
            </a:pPr>
            <a:r>
              <a:rPr lang="en-US" sz="3000">
                <a:solidFill>
                  <a:srgbClr val="FFFBF7"/>
                </a:solidFill>
                <a:latin typeface="Muli Light"/>
                <a:ea typeface="Muli Light"/>
                <a:cs typeface="Muli Light"/>
                <a:sym typeface="Muli Light"/>
              </a:rPr>
              <a:t>Presented by Ho Sy Kien</a:t>
            </a:r>
          </a:p>
          <a:p>
            <a:pPr algn="ctr">
              <a:lnSpc>
                <a:spcPts val="3000"/>
              </a:lnSpc>
            </a:pPr>
            <a:r>
              <a:rPr lang="en-US" sz="3000">
                <a:solidFill>
                  <a:srgbClr val="FFFBF7"/>
                </a:solidFill>
                <a:latin typeface="Muli Light"/>
                <a:ea typeface="Muli Light"/>
                <a:cs typeface="Muli Light"/>
                <a:sym typeface="Muli Light"/>
              </a:rPr>
              <a:t>Ho Chi Minh University of Science - VNUHCMUS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6969</Words>
  <Application>Microsoft Office PowerPoint</Application>
  <PresentationFormat>Custom</PresentationFormat>
  <Paragraphs>464</Paragraphs>
  <Slides>34</Slides>
  <Notes>29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34</vt:i4>
      </vt:variant>
    </vt:vector>
  </HeadingPairs>
  <TitlesOfParts>
    <vt:vector size="45" baseType="lpstr">
      <vt:lpstr>Poppins Bold</vt:lpstr>
      <vt:lpstr>Poppins Light</vt:lpstr>
      <vt:lpstr>Arial</vt:lpstr>
      <vt:lpstr>Poppins Ultra-Bold</vt:lpstr>
      <vt:lpstr>Poppins</vt:lpstr>
      <vt:lpstr>Muli Light</vt:lpstr>
      <vt:lpstr>Calibri</vt:lpstr>
      <vt:lpstr>Poppins Bold Italics</vt:lpstr>
      <vt:lpstr>Anton</vt:lpstr>
      <vt:lpstr>Poppins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28th July, 2025</dc:title>
  <cp:lastModifiedBy>HỒ SỸ KIÊN</cp:lastModifiedBy>
  <cp:revision>2</cp:revision>
  <dcterms:created xsi:type="dcterms:W3CDTF">2006-08-16T00:00:00Z</dcterms:created>
  <dcterms:modified xsi:type="dcterms:W3CDTF">2025-07-28T05:47:16Z</dcterms:modified>
  <dc:identifier>DAGtsIVRN9Q</dc:identifier>
</cp:coreProperties>
</file>